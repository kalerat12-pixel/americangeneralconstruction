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53a614d-2a1a-9789-7843-0cf885a4e52f}">
          <p14:sldIdLst>
            <p14:sldId id="256"/>
            <p14:sldId id="257"/>
            <p14:sldId id="258"/>
          </p14:sldIdLst>
        </p14:section>
        <p14:section name="Background" id="{1a0368af-446c-2337-ccac-3eb07eba1035}">
          <p14:sldIdLst>
            <p14:sldId id="259"/>
            <p14:sldId id="260"/>
            <p14:sldId id="261"/>
            <p14:sldId id="262"/>
          </p14:sldIdLst>
        </p14:section>
        <p14:section name="The spacecraft" id="{e34166f9-bcff-f0ab-c4e5-767cc5f35315}">
          <p14:sldIdLst>
            <p14:sldId id="263"/>
            <p14:sldId id="264"/>
          </p14:sldIdLst>
        </p14:section>
        <p14:section name="The journey" id="{dbd0a25f-cc1f-05dd-3781-47f79c97c6a3}">
          <p14:sldIdLst>
            <p14:sldId id="265"/>
            <p14:sldId id="266"/>
          </p14:sldIdLst>
        </p14:section>
        <p14:section name="Impact" id="{5883c89b-83d7-911a-b9f0-1697b44a6e81}">
          <p14:sldIdLst>
            <p14:sldId id="267"/>
            <p14:sldId id="268"/>
          </p14:sldIdLst>
        </p14:section>
        <p14:section name="Conclusion" id="{75371246-c855-f1f4-b4a6-6e879d2fbfd2}">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5F7FA"/>
                </a:solidFill>
                <a:latin typeface="+mn-lt"/>
              </a:defRPr>
            </a:pPr>
            <a:r>
              <a:rPr sz="1400" b="0" i="0" u="none" strike="noStrike">
                <a:solidFill>
                  <a:srgbClr val="F5F7FA"/>
                </a:solidFill>
                <a:latin typeface="+mn-lt"/>
              </a:rPr>
              <a:t>Distance from the Sun (AU)</a:t>
            </a:r>
          </a:p>
        </c:rich>
      </c:tx>
      <c:layout/>
      <c:overlay val="0"/>
    </c:title>
    <c:autoTitleDeleted val="0"/>
    <c:plotArea>
      <c:layout/>
      <c:barChart>
        <c:barDir val="col"/>
        <c:grouping val="clustered"/>
        <c:varyColors val="0"/>
        <c:ser>
          <c:idx val="0"/>
          <c:order val="0"/>
          <c:tx>
            <c:strRef>
              <c:f>Sheet1!$B$1</c:f>
              <c:strCache>
                <c:ptCount val="1"/>
                <c:pt idx="0">
                  <c:v>Distance from the Sun (AU)</c:v>
                </c:pt>
              </c:strCache>
            </c:strRef>
          </c:tx>
          <c:spPr>
            <a:solidFill>
              <a:srgbClr val="F2A65A"/>
            </a:solidFill>
            <a:effectLst/>
          </c:spPr>
          <c:invertIfNegative val="0"/>
          <c:dLbls>
            <c:numFmt formatCode="0.#" sourceLinked="0"/>
            <c:txPr>
              <a:bodyPr/>
              <a:lstStyle/>
              <a:p>
                <a:pPr>
                  <a:defRPr b="0" i="0" strike="noStrike" sz="1300" u="none">
                    <a:solidFill>
                      <a:srgbClr val="F5F7FA"/>
                    </a:solidFill>
                    <a:latin typeface="+mn-lt"/>
                  </a:defRPr>
                </a:pPr>
              </a:p>
            </c:txPr>
            <c:showLegendKey val="0"/>
            <c:showVal val="1"/>
            <c:showCatName val="0"/>
            <c:showSerName val="0"/>
            <c:showPercent val="0"/>
            <c:showBubbleSize val="0"/>
            <c:showLeaderLines val="0"/>
          </c:dLbls>
          <c:cat>
            <c:multiLvlStrRef>
              <c:f>Sheet1!$A$2:$A$5</c:f>
              <c:multiLvlStrCache>
                <c:ptCount val="4"/>
                <c:lvl>
                  <c:pt idx="0">
                    <c:v>Launch
Jan 2006</c:v>
                  </c:pt>
                  <c:pt idx="1">
                    <c:v>Jupiter
Feb 2007</c:v>
                  </c:pt>
                  <c:pt idx="2">
                    <c:v>Pluto
Jul 2015</c:v>
                  </c:pt>
                  <c:pt idx="3">
                    <c:v>Arrokoth
Jan 2019</c:v>
                  </c:pt>
                </c:lvl>
              </c:multiLvlStrCache>
            </c:multiLvlStrRef>
          </c:cat>
          <c:val>
            <c:numRef>
              <c:f>Sheet1!$B$2:$B$5</c:f>
              <c:numCache>
                <c:formatCode>General</c:formatCode>
                <c:ptCount val="4"/>
                <c:pt idx="0">
                  <c:v>1</c:v>
                </c:pt>
                <c:pt idx="1">
                  <c:v>5.4</c:v>
                </c:pt>
                <c:pt idx="2">
                  <c:v>33</c:v>
                </c:pt>
                <c:pt idx="3">
                  <c:v>43</c:v>
                </c:pt>
              </c:numCache>
            </c:numRef>
          </c:val>
        </c:ser>
        <c:dLbls>
          <c:numFmt formatCode="0.#" sourceLinked="0"/>
          <c:txPr>
            <a:bodyPr/>
            <a:lstStyle/>
            <a:p>
              <a:pPr>
                <a:defRPr b="0" i="0" strike="noStrike" sz="1300" u="none">
                  <a:solidFill>
                    <a:srgbClr val="F5F7F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A9B8D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and welcome. My unmanned system is NASA's New Horizons spacecraft. It is the first mission to visit Pluto, and it kept going into the Kuiper Belt. In the next five minutes I will cover why it was built, how it works, what it found, and how it changed space exploration.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I start with an introduction, then the background: what was happening in the world and why NASA wanted this mission. Next, the spacecraft itself. Then the journey and the Pluto flyby, the impact it had, and finally my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Horizons is an unmanned spacecraft that flew nearly five billion kilometers, about three billion miles, over nine and a half years to reach Pluto. Before it arrived, Pluto was only a fuzzy dot in telescope images. It was the first spacecraft ever to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facts. The Johns Hopkins Applied Physics Laboratory built and runs the spacecraft, and the Southwest Research Institute leads the science, with Alan Stern as principal investigator. It launched on an Atlas V rocket on January 19, 2006, from Florida. Its job is to fly past Pluto in deep space and study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was happening around the mission. NASA picked New Horizons in 2001. In 2005 the Hubble telescope found two more small moons around Pluto. The spacecraft launched in January 2006. Then, in August 2006, astronomers voted to call Pluto a dwarf planet. The spacecraft was already on its way, and the mission went ahead exactly as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build it? First, Pluto was a total mystery. Second, scientists worried that as Pluto moved away from the Sun, its atmosphere would freeze and fall to the surface, so there was a window to study it. Third, the Kuiper Belt had never been visited. And a 2003 science survey made this a top priority for NASA.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advances made this possible. A plutonium power source, because sunlight at Pluto is about a thousand times weaker than on Earth. A very powerful rocket, which gave the fastest launch of any spacecraft up to that time. Computers that resist radiation. Instruments small enough to run on under thirty watts. And NASA's Deep Space Network, which can hear very faint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Horizons is about the size of a grand piano and weighed 478 kilograms at launch. It has a big 2.1 meter dish to talk to Earth, a plutonium power source, and seven instruments. Cameras take pictures, spectrometers read the atmosphere, and one instrument, the Student Dust Counter, was built by university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systems keep it alive. Energy: a plutonium generator, because solar panels would be useless that far out. Communication: a 2.1 meter dish sends radio signals that take four and a half hours to reach Earth, at only about one kilobit per second. Processing: two redundant computers, and on July 4, 2015 the spacecraft switched itself to the backup just ten days before the flyby.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how far from the Sun the spacecraft was at four milestones. One AU is the distance from Earth to the Sun. It left Earth at about 58,000 kilometers per hour. Jupiter's gravity gave it an extra boost in 2007 and saved about three years. It reached Pluto, 33 AU out, in July 2015, and flew past Arrokoth at 43 AU in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July 14, 2015, New Horizons passed 12,500 kilometers above Pluto. Pluto is only about a fifth of Earth's width, yet it surprised everyone. It has mountains of water ice up to 3,500 meters tall, glaciers of nitrogen ice in a heart-shaped region, a blue haze in its atmosphere, and five moons. A surface that young means Pluto is still geologically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flyby was a global event. NASA streamed it live and people gathered at the lab to wait. The spacecraft was busy collecting data during the flyby, so it only called home about thirteen hours after closest approach, at 8:53 that night. Because of the slow data rate, the last pieces of data did not arrive until October 2016. The heart-shaped region, named after Clyde Tombaugh, became the mission's most famous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Horizons did not stop at Pluto. On January 1, 2019 it flew past Arrokoth, a small icy object made of two lobes stuck together, the farthest world explored up close at that time. Today it is still working, measuring dust and particles more than 60 AU from the Sun. It belongs to NASA's New Frontiers program, along with Juno, OSIRIS-REx, and Dragonfly.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common thread through unmanned systems is curiosity about places humans cannot go, which pushes engineers to invent better machines. The major influences were better rockets, nuclear power, tougher electronics, and long-range radio. And the cause and effect is a loop: questions lead to missions, missions bring data and technology, and that data raises the next questions.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used for this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SLIDE">
    <p:bg>
      <p:bgPr>
        <a:solidFill>
          <a:srgbClr val="0B10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280160"/>
          </a:xfrm>
          <a:prstGeom prst="rect">
            <a:avLst/>
          </a:prstGeom>
          <a:noFill/>
          <a:ln/>
        </p:spPr>
        <p:txBody>
          <a:bodyPr wrap="square" rtlCol="0"/>
          <a:lstStyle>
            <a:lvl1pPr algn="l" indent="0" marL="0">
              <a:buNone/>
              <a:defRPr lang="en-US" sz="4800" b="1" dirty="0">
                <a:solidFill>
                  <a:schemeClr val="tx1"/>
                </a:solidFill>
              </a:defRPr>
            </a:lvl1pPr>
          </a:lstStyle>
          <a:p>
            <a:pPr algn="l" indent="0" marL="0">
              <a:buNone/>
            </a:pPr>
            <a:endParaRPr lang="en-US" sz="4800" dirty="0"/>
          </a:p>
        </p:txBody>
      </p:sp>
      <p:sp>
        <p:nvSpPr>
          <p:cNvPr id="3" name="Text 0"/>
          <p:cNvSpPr/>
          <p:nvPr>
            <p:ph idx="101" type="body" hasCustomPrompt="1"/>
          </p:nvPr>
        </p:nvSpPr>
        <p:spPr>
          <a:xfrm>
            <a:off x="548640" y="2697480"/>
            <a:ext cx="4572000" cy="914400"/>
          </a:xfrm>
          <a:prstGeom prst="rect">
            <a:avLst/>
          </a:prstGeom>
          <a:noFill/>
          <a:ln/>
        </p:spPr>
        <p:txBody>
          <a:bodyPr wrap="square" rtlCol="0"/>
          <a:lstStyle>
            <a:lvl1pPr algn="l" indent="0" marL="0">
              <a:buNone/>
              <a:defRPr lang="en-US" sz="2000" dirty="0">
                <a:solidFill>
                  <a:schemeClr val="accent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B10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502920"/>
            <a:ext cx="8229600" cy="10058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9B8D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9B8D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luto"/>
          <p:cNvSpPr/>
          <p:nvPr/>
        </p:nvSpPr>
        <p:spPr>
          <a:xfrm>
            <a:off x="5760720" y="640080"/>
            <a:ext cx="3840480" cy="3840480"/>
          </a:xfrm>
          <a:prstGeom prst="ellipse">
            <a:avLst/>
          </a:prstGeom>
          <a:solidFill>
            <a:schemeClr val="accent1"/>
          </a:solidFill>
          <a:ln w="12700">
            <a:solidFill>
              <a:schemeClr val="accent1"/>
            </a:solidFill>
            <a:prstDash val="solid"/>
          </a:ln>
        </p:spPr>
      </p:sp>
      <p:sp>
        <p:nvSpPr>
          <p:cNvPr id="3" name="Charon"/>
          <p:cNvSpPr/>
          <p:nvPr/>
        </p:nvSpPr>
        <p:spPr>
          <a:xfrm>
            <a:off x="4754880" y="3566160"/>
            <a:ext cx="1188720" cy="1188720"/>
          </a:xfrm>
          <a:prstGeom prst="ellipse">
            <a:avLst/>
          </a:prstGeom>
          <a:solidFill>
            <a:schemeClr val="accent2"/>
          </a:solidFill>
          <a:ln w="12700">
            <a:solidFill>
              <a:schemeClr val="accent2"/>
            </a:solidFill>
            <a:prstDash val="solid"/>
          </a:ln>
        </p:spPr>
      </p:sp>
      <p:sp>
        <p:nvSpPr>
          <p:cNvPr id="4" name="Trajectory"/>
          <p:cNvSpPr/>
          <p:nvPr/>
        </p:nvSpPr>
        <p:spPr>
          <a:xfrm>
            <a:off x="548640" y="4526280"/>
            <a:ext cx="4023360" cy="-914400"/>
          </a:xfrm>
          <a:prstGeom prst="line">
            <a:avLst/>
          </a:prstGeom>
          <a:noFill/>
          <a:ln w="19050">
            <a:solidFill>
              <a:srgbClr val="A9B8D6"/>
            </a:solidFill>
            <a:prstDash val="dash"/>
            <a:tailEnd type="triangle"/>
          </a:ln>
        </p:spPr>
      </p:sp>
      <p:sp>
        <p:nvSpPr>
          <p:cNvPr id="5" name="Text 0"/>
          <p:cNvSpPr/>
          <p:nvPr>
            <p:ph idx="100" type="title" hasCustomPrompt="1"/>
          </p:nvPr>
        </p:nvSpPr>
        <p:spPr>
          <a:xfrm>
            <a:off x="548640" y="1234440"/>
            <a:ext cx="5120640" cy="1280160"/>
          </a:xfrm>
          <a:prstGeom prst="rect">
            <a:avLst/>
          </a:prstGeom>
          <a:noFill/>
          <a:ln/>
        </p:spPr>
        <p:txBody>
          <a:bodyPr wrap="square" lIns="0" tIns="0" rIns="0" bIns="0" rtlCol="0" anchor="b"/>
          <a:lstStyle/>
          <a:p>
            <a:pPr algn="l" indent="0" marL="0">
              <a:buNone/>
            </a:pPr>
            <a:r>
              <a:rPr lang="en-US" sz="4800" b="1" dirty="0">
                <a:solidFill>
                  <a:schemeClr val="tx1"/>
                </a:solidFill>
              </a:rPr>
              <a:t>New Horizons</a:t>
            </a:r>
            <a:endParaRPr lang="en-US" sz="4800" dirty="0"/>
          </a:p>
        </p:txBody>
      </p:sp>
      <p:sp>
        <p:nvSpPr>
          <p:cNvPr id="6" name="Text 0"/>
          <p:cNvSpPr/>
          <p:nvPr>
            <p:ph idx="101" type="body" hasCustomPrompt="1"/>
          </p:nvPr>
        </p:nvSpPr>
        <p:spPr>
          <a:xfrm>
            <a:off x="548640" y="2697480"/>
            <a:ext cx="4572000" cy="914400"/>
          </a:xfrm>
          <a:prstGeom prst="rect">
            <a:avLst/>
          </a:prstGeom>
          <a:noFill/>
          <a:ln/>
        </p:spPr>
        <p:txBody>
          <a:bodyPr wrap="square" lIns="0" tIns="0" rIns="0" bIns="0" rtlCol="0" anchor="t"/>
          <a:lstStyle/>
          <a:p>
            <a:pPr algn="l" indent="0" marL="0">
              <a:buNone/>
            </a:pPr>
            <a:r>
              <a:rPr lang="en-US" sz="2000" dirty="0">
                <a:solidFill>
                  <a:schemeClr val="accent2"/>
                </a:solidFill>
              </a:rPr>
              <a:t>The first mission to Pluto and the Kuiper Belt</a:t>
            </a:r>
            <a:endParaRPr lang="en-US" sz="2000" dirty="0"/>
          </a:p>
        </p:txBody>
      </p:sp>
      <p:sp>
        <p:nvSpPr>
          <p:cNvPr id="7" name="Text 5"/>
          <p:cNvSpPr txBox="1"/>
          <p:nvPr/>
        </p:nvSpPr>
        <p:spPr>
          <a:xfrm>
            <a:off x="548640" y="4526280"/>
            <a:ext cx="4206240" cy="274320"/>
          </a:xfrm>
          <a:prstGeom prst="rect">
            <a:avLst/>
          </a:prstGeom>
          <a:noFill/>
          <a:ln/>
        </p:spPr>
        <p:txBody>
          <a:bodyPr wrap="square" lIns="0" tIns="0" rIns="0" bIns="0" rtlCol="0" anchor="t"/>
          <a:lstStyle/>
          <a:p>
            <a:pPr indent="0" marL="0">
              <a:buNone/>
            </a:pPr>
            <a:r>
              <a:rPr lang="en-US" sz="1200" dirty="0">
                <a:solidFill>
                  <a:schemeClr val="tx2"/>
                </a:solidFill>
              </a:rPr>
              <a:t>Project 4.2.1 Unmanned Systems Investigation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457200" y="256032"/>
            <a:ext cx="5486400" cy="246888"/>
          </a:xfrm>
          <a:prstGeom prst="rect">
            <a:avLst/>
          </a:prstGeom>
          <a:noFill/>
          <a:ln/>
        </p:spPr>
        <p:txBody>
          <a:bodyPr wrap="square" lIns="0" tIns="0" rIns="0" bIns="0" rtlCol="0" anchor="ctr"/>
          <a:lstStyle/>
          <a:p>
            <a:pPr indent="0" marL="0">
              <a:buNone/>
            </a:pPr>
            <a:r>
              <a:rPr lang="en-US" sz="1200" b="1" spc="300" kern="0" dirty="0">
                <a:solidFill>
                  <a:schemeClr val="accent1"/>
                </a:solidFill>
              </a:rPr>
              <a:t>INTRODUCTION</a:t>
            </a:r>
            <a:endParaRPr lang="en-US" sz="1200" dirty="0"/>
          </a:p>
        </p:txBody>
      </p:sp>
      <p:sp>
        <p:nvSpPr>
          <p:cNvPr id="3" name="Text 0"/>
          <p:cNvSpPr/>
          <p:nvPr>
            <p:ph idx="100" type="title" hasCustomPrompt="1"/>
          </p:nvPr>
        </p:nvSpPr>
        <p:spPr>
          <a:xfrm>
            <a:off x="457200" y="502920"/>
            <a:ext cx="8229600" cy="1005840"/>
          </a:xfrm>
          <a:prstGeom prst="rect">
            <a:avLst/>
          </a:prstGeom>
          <a:noFill/>
          <a:ln/>
        </p:spPr>
        <p:txBody>
          <a:bodyPr wrap="square" lIns="0" tIns="0" rIns="0" bIns="0" rtlCol="0" anchor="t"/>
          <a:lstStyle/>
          <a:p>
            <a:pPr algn="l" indent="0" marL="0">
              <a:buNone/>
            </a:pPr>
            <a:r>
              <a:rPr lang="en-US" sz="3200" b="1" dirty="0">
                <a:solidFill>
                  <a:schemeClr val="tx1"/>
                </a:solidFill>
              </a:rPr>
              <a:t>Outline</a:t>
            </a:r>
            <a:endParaRPr lang="en-US" sz="3200" dirty="0"/>
          </a:p>
        </p:txBody>
      </p:sp>
      <p:sp>
        <p:nvSpPr>
          <p:cNvPr id="4" name="Outline card"/>
          <p:cNvSpPr/>
          <p:nvPr/>
        </p:nvSpPr>
        <p:spPr>
          <a:xfrm>
            <a:off x="457200" y="1600200"/>
            <a:ext cx="4023360" cy="868680"/>
          </a:xfrm>
          <a:prstGeom prst="roundRect">
            <a:avLst>
              <a:gd name="adj" fmla="val 8421"/>
            </a:avLst>
          </a:prstGeom>
          <a:solidFill>
            <a:schemeClr val="bg2"/>
          </a:solidFill>
          <a:ln w="12700">
            <a:solidFill>
              <a:schemeClr val="bg2"/>
            </a:solidFill>
            <a:prstDash val="solid"/>
          </a:ln>
        </p:spPr>
      </p:sp>
      <p:sp>
        <p:nvSpPr>
          <p:cNvPr id="5" name="Number badge"/>
          <p:cNvSpPr/>
          <p:nvPr/>
        </p:nvSpPr>
        <p:spPr>
          <a:xfrm>
            <a:off x="640080" y="1783080"/>
            <a:ext cx="502920" cy="502920"/>
          </a:xfrm>
          <a:prstGeom prst="ellipse">
            <a:avLst/>
          </a:prstGeom>
          <a:solidFill>
            <a:schemeClr val="accent1"/>
          </a:solidFill>
          <a:ln w="12700">
            <a:solidFill>
              <a:schemeClr val="accent1"/>
            </a:solidFill>
            <a:prstDash val="solid"/>
          </a:ln>
        </p:spPr>
      </p:sp>
      <p:sp>
        <p:nvSpPr>
          <p:cNvPr id="6" name="Text 4"/>
          <p:cNvSpPr txBox="1"/>
          <p:nvPr/>
        </p:nvSpPr>
        <p:spPr>
          <a:xfrm>
            <a:off x="640080" y="1783080"/>
            <a:ext cx="502920" cy="502920"/>
          </a:xfrm>
          <a:prstGeom prst="rect">
            <a:avLst/>
          </a:prstGeom>
          <a:noFill/>
          <a:ln/>
        </p:spPr>
        <p:txBody>
          <a:bodyPr wrap="square" lIns="0" tIns="0" rIns="0" bIns="0" rtlCol="0" anchor="ctr"/>
          <a:lstStyle/>
          <a:p>
            <a:pPr algn="ctr" indent="0" marL="0">
              <a:buNone/>
            </a:pPr>
            <a:r>
              <a:rPr lang="en-US" sz="1800" b="1" dirty="0">
                <a:solidFill>
                  <a:srgbClr val="0B1026"/>
                </a:solidFill>
              </a:rPr>
              <a:t>1</a:t>
            </a:r>
            <a:endParaRPr lang="en-US" sz="1800" dirty="0"/>
          </a:p>
        </p:txBody>
      </p:sp>
      <p:sp>
        <p:nvSpPr>
          <p:cNvPr id="7" name="Text 5"/>
          <p:cNvSpPr txBox="1"/>
          <p:nvPr/>
        </p:nvSpPr>
        <p:spPr>
          <a:xfrm>
            <a:off x="1325880" y="1719072"/>
            <a:ext cx="3017520" cy="320040"/>
          </a:xfrm>
          <a:prstGeom prst="rect">
            <a:avLst/>
          </a:prstGeom>
          <a:noFill/>
          <a:ln/>
        </p:spPr>
        <p:txBody>
          <a:bodyPr wrap="square" lIns="0" tIns="0" rIns="0" bIns="0" rtlCol="0" anchor="t"/>
          <a:lstStyle/>
          <a:p>
            <a:pPr indent="0" marL="0">
              <a:buNone/>
            </a:pPr>
            <a:r>
              <a:rPr lang="en-US" sz="1800" b="1" dirty="0">
                <a:solidFill>
                  <a:schemeClr val="tx1"/>
                </a:solidFill>
              </a:rPr>
              <a:t>Introduction</a:t>
            </a:r>
            <a:endParaRPr lang="en-US" sz="1800" dirty="0"/>
          </a:p>
        </p:txBody>
      </p:sp>
      <p:sp>
        <p:nvSpPr>
          <p:cNvPr id="8" name="Text 6"/>
          <p:cNvSpPr txBox="1"/>
          <p:nvPr/>
        </p:nvSpPr>
        <p:spPr>
          <a:xfrm>
            <a:off x="1325880" y="2057400"/>
            <a:ext cx="3017520" cy="320040"/>
          </a:xfrm>
          <a:prstGeom prst="rect">
            <a:avLst/>
          </a:prstGeom>
          <a:noFill/>
          <a:ln/>
        </p:spPr>
        <p:txBody>
          <a:bodyPr wrap="square" lIns="0" tIns="0" rIns="0" bIns="0" rtlCol="0" anchor="t"/>
          <a:lstStyle/>
          <a:p>
            <a:pPr indent="0" marL="0">
              <a:buNone/>
            </a:pPr>
            <a:r>
              <a:rPr lang="en-US" sz="1400" dirty="0">
                <a:solidFill>
                  <a:schemeClr val="tx2"/>
                </a:solidFill>
              </a:rPr>
              <a:t>What it is and who built it</a:t>
            </a:r>
            <a:endParaRPr lang="en-US" sz="1400" dirty="0"/>
          </a:p>
        </p:txBody>
      </p:sp>
      <p:sp>
        <p:nvSpPr>
          <p:cNvPr id="9" name="Outline card"/>
          <p:cNvSpPr/>
          <p:nvPr/>
        </p:nvSpPr>
        <p:spPr>
          <a:xfrm>
            <a:off x="4663440" y="1600200"/>
            <a:ext cx="4023360" cy="868680"/>
          </a:xfrm>
          <a:prstGeom prst="roundRect">
            <a:avLst>
              <a:gd name="adj" fmla="val 8421"/>
            </a:avLst>
          </a:prstGeom>
          <a:solidFill>
            <a:schemeClr val="bg2"/>
          </a:solidFill>
          <a:ln w="12700">
            <a:solidFill>
              <a:schemeClr val="bg2"/>
            </a:solidFill>
            <a:prstDash val="solid"/>
          </a:ln>
        </p:spPr>
      </p:sp>
      <p:sp>
        <p:nvSpPr>
          <p:cNvPr id="10" name="Number badge"/>
          <p:cNvSpPr/>
          <p:nvPr/>
        </p:nvSpPr>
        <p:spPr>
          <a:xfrm>
            <a:off x="4846320" y="1783080"/>
            <a:ext cx="502920" cy="502920"/>
          </a:xfrm>
          <a:prstGeom prst="ellipse">
            <a:avLst/>
          </a:prstGeom>
          <a:solidFill>
            <a:schemeClr val="accent1"/>
          </a:solidFill>
          <a:ln w="12700">
            <a:solidFill>
              <a:schemeClr val="accent1"/>
            </a:solidFill>
            <a:prstDash val="solid"/>
          </a:ln>
        </p:spPr>
      </p:sp>
      <p:sp>
        <p:nvSpPr>
          <p:cNvPr id="11" name="Text 9"/>
          <p:cNvSpPr txBox="1"/>
          <p:nvPr/>
        </p:nvSpPr>
        <p:spPr>
          <a:xfrm>
            <a:off x="4846320" y="1783080"/>
            <a:ext cx="502920" cy="502920"/>
          </a:xfrm>
          <a:prstGeom prst="rect">
            <a:avLst/>
          </a:prstGeom>
          <a:noFill/>
          <a:ln/>
        </p:spPr>
        <p:txBody>
          <a:bodyPr wrap="square" lIns="0" tIns="0" rIns="0" bIns="0" rtlCol="0" anchor="ctr"/>
          <a:lstStyle/>
          <a:p>
            <a:pPr algn="ctr" indent="0" marL="0">
              <a:buNone/>
            </a:pPr>
            <a:r>
              <a:rPr lang="en-US" sz="1800" b="1" dirty="0">
                <a:solidFill>
                  <a:srgbClr val="0B1026"/>
                </a:solidFill>
              </a:rPr>
              <a:t>2</a:t>
            </a:r>
            <a:endParaRPr lang="en-US" sz="1800" dirty="0"/>
          </a:p>
        </p:txBody>
      </p:sp>
      <p:sp>
        <p:nvSpPr>
          <p:cNvPr id="12" name="Text 10"/>
          <p:cNvSpPr txBox="1"/>
          <p:nvPr/>
        </p:nvSpPr>
        <p:spPr>
          <a:xfrm>
            <a:off x="5532120" y="1719072"/>
            <a:ext cx="3017520" cy="320040"/>
          </a:xfrm>
          <a:prstGeom prst="rect">
            <a:avLst/>
          </a:prstGeom>
          <a:noFill/>
          <a:ln/>
        </p:spPr>
        <p:txBody>
          <a:bodyPr wrap="square" lIns="0" tIns="0" rIns="0" bIns="0" rtlCol="0" anchor="t"/>
          <a:lstStyle/>
          <a:p>
            <a:pPr indent="0" marL="0">
              <a:buNone/>
            </a:pPr>
            <a:r>
              <a:rPr lang="en-US" sz="1800" b="1" dirty="0">
                <a:solidFill>
                  <a:schemeClr val="tx1"/>
                </a:solidFill>
              </a:rPr>
              <a:t>Background</a:t>
            </a:r>
            <a:endParaRPr lang="en-US" sz="1800" dirty="0"/>
          </a:p>
        </p:txBody>
      </p:sp>
      <p:sp>
        <p:nvSpPr>
          <p:cNvPr id="13" name="Text 11"/>
          <p:cNvSpPr txBox="1"/>
          <p:nvPr/>
        </p:nvSpPr>
        <p:spPr>
          <a:xfrm>
            <a:off x="5532120" y="2057400"/>
            <a:ext cx="3017520" cy="320040"/>
          </a:xfrm>
          <a:prstGeom prst="rect">
            <a:avLst/>
          </a:prstGeom>
          <a:noFill/>
          <a:ln/>
        </p:spPr>
        <p:txBody>
          <a:bodyPr wrap="square" lIns="0" tIns="0" rIns="0" bIns="0" rtlCol="0" anchor="t"/>
          <a:lstStyle/>
          <a:p>
            <a:pPr indent="0" marL="0">
              <a:buNone/>
            </a:pPr>
            <a:r>
              <a:rPr lang="en-US" sz="1400" dirty="0">
                <a:solidFill>
                  <a:schemeClr val="tx2"/>
                </a:solidFill>
              </a:rPr>
              <a:t>World events, motivation, technology</a:t>
            </a:r>
            <a:endParaRPr lang="en-US" sz="1400" dirty="0"/>
          </a:p>
        </p:txBody>
      </p:sp>
      <p:sp>
        <p:nvSpPr>
          <p:cNvPr id="14" name="Outline card"/>
          <p:cNvSpPr/>
          <p:nvPr/>
        </p:nvSpPr>
        <p:spPr>
          <a:xfrm>
            <a:off x="457200" y="2651760"/>
            <a:ext cx="4023360" cy="868680"/>
          </a:xfrm>
          <a:prstGeom prst="roundRect">
            <a:avLst>
              <a:gd name="adj" fmla="val 8421"/>
            </a:avLst>
          </a:prstGeom>
          <a:solidFill>
            <a:schemeClr val="bg2"/>
          </a:solidFill>
          <a:ln w="12700">
            <a:solidFill>
              <a:schemeClr val="bg2"/>
            </a:solidFill>
            <a:prstDash val="solid"/>
          </a:ln>
        </p:spPr>
      </p:sp>
      <p:sp>
        <p:nvSpPr>
          <p:cNvPr id="15" name="Number badge"/>
          <p:cNvSpPr/>
          <p:nvPr/>
        </p:nvSpPr>
        <p:spPr>
          <a:xfrm>
            <a:off x="640080" y="2834640"/>
            <a:ext cx="502920" cy="502920"/>
          </a:xfrm>
          <a:prstGeom prst="ellipse">
            <a:avLst/>
          </a:prstGeom>
          <a:solidFill>
            <a:schemeClr val="accent1"/>
          </a:solidFill>
          <a:ln w="12700">
            <a:solidFill>
              <a:schemeClr val="accent1"/>
            </a:solidFill>
            <a:prstDash val="solid"/>
          </a:ln>
        </p:spPr>
      </p:sp>
      <p:sp>
        <p:nvSpPr>
          <p:cNvPr id="16" name="Text 14"/>
          <p:cNvSpPr txBox="1"/>
          <p:nvPr/>
        </p:nvSpPr>
        <p:spPr>
          <a:xfrm>
            <a:off x="640080" y="2834640"/>
            <a:ext cx="502920" cy="502920"/>
          </a:xfrm>
          <a:prstGeom prst="rect">
            <a:avLst/>
          </a:prstGeom>
          <a:noFill/>
          <a:ln/>
        </p:spPr>
        <p:txBody>
          <a:bodyPr wrap="square" lIns="0" tIns="0" rIns="0" bIns="0" rtlCol="0" anchor="ctr"/>
          <a:lstStyle/>
          <a:p>
            <a:pPr algn="ctr" indent="0" marL="0">
              <a:buNone/>
            </a:pPr>
            <a:r>
              <a:rPr lang="en-US" sz="1800" b="1" dirty="0">
                <a:solidFill>
                  <a:srgbClr val="0B1026"/>
                </a:solidFill>
              </a:rPr>
              <a:t>3</a:t>
            </a:r>
            <a:endParaRPr lang="en-US" sz="1800" dirty="0"/>
          </a:p>
        </p:txBody>
      </p:sp>
      <p:sp>
        <p:nvSpPr>
          <p:cNvPr id="17" name="Text 15"/>
          <p:cNvSpPr txBox="1"/>
          <p:nvPr/>
        </p:nvSpPr>
        <p:spPr>
          <a:xfrm>
            <a:off x="1325880" y="2770632"/>
            <a:ext cx="3017520" cy="320040"/>
          </a:xfrm>
          <a:prstGeom prst="rect">
            <a:avLst/>
          </a:prstGeom>
          <a:noFill/>
          <a:ln/>
        </p:spPr>
        <p:txBody>
          <a:bodyPr wrap="square" lIns="0" tIns="0" rIns="0" bIns="0" rtlCol="0" anchor="t"/>
          <a:lstStyle/>
          <a:p>
            <a:pPr indent="0" marL="0">
              <a:buNone/>
            </a:pPr>
            <a:r>
              <a:rPr lang="en-US" sz="1800" b="1" dirty="0">
                <a:solidFill>
                  <a:schemeClr val="tx1"/>
                </a:solidFill>
              </a:rPr>
              <a:t>The spacecraft</a:t>
            </a:r>
            <a:endParaRPr lang="en-US" sz="1800" dirty="0"/>
          </a:p>
        </p:txBody>
      </p:sp>
      <p:sp>
        <p:nvSpPr>
          <p:cNvPr id="18" name="Text 16"/>
          <p:cNvSpPr txBox="1"/>
          <p:nvPr/>
        </p:nvSpPr>
        <p:spPr>
          <a:xfrm>
            <a:off x="1325880" y="3108960"/>
            <a:ext cx="3017520" cy="320040"/>
          </a:xfrm>
          <a:prstGeom prst="rect">
            <a:avLst/>
          </a:prstGeom>
          <a:noFill/>
          <a:ln/>
        </p:spPr>
        <p:txBody>
          <a:bodyPr wrap="square" lIns="0" tIns="0" rIns="0" bIns="0" rtlCol="0" anchor="t"/>
          <a:lstStyle/>
          <a:p>
            <a:pPr indent="0" marL="0">
              <a:buNone/>
            </a:pPr>
            <a:r>
              <a:rPr lang="en-US" sz="1400" dirty="0">
                <a:solidFill>
                  <a:schemeClr val="tx2"/>
                </a:solidFill>
              </a:rPr>
              <a:t>Instruments, power, radio, computers</a:t>
            </a:r>
            <a:endParaRPr lang="en-US" sz="1400" dirty="0"/>
          </a:p>
        </p:txBody>
      </p:sp>
      <p:sp>
        <p:nvSpPr>
          <p:cNvPr id="19" name="Outline card"/>
          <p:cNvSpPr/>
          <p:nvPr/>
        </p:nvSpPr>
        <p:spPr>
          <a:xfrm>
            <a:off x="4663440" y="2651760"/>
            <a:ext cx="4023360" cy="868680"/>
          </a:xfrm>
          <a:prstGeom prst="roundRect">
            <a:avLst>
              <a:gd name="adj" fmla="val 8421"/>
            </a:avLst>
          </a:prstGeom>
          <a:solidFill>
            <a:schemeClr val="bg2"/>
          </a:solidFill>
          <a:ln w="12700">
            <a:solidFill>
              <a:schemeClr val="bg2"/>
            </a:solidFill>
            <a:prstDash val="solid"/>
          </a:ln>
        </p:spPr>
      </p:sp>
      <p:sp>
        <p:nvSpPr>
          <p:cNvPr id="20" name="Number badge"/>
          <p:cNvSpPr/>
          <p:nvPr/>
        </p:nvSpPr>
        <p:spPr>
          <a:xfrm>
            <a:off x="4846320" y="2834640"/>
            <a:ext cx="502920" cy="502920"/>
          </a:xfrm>
          <a:prstGeom prst="ellipse">
            <a:avLst/>
          </a:prstGeom>
          <a:solidFill>
            <a:schemeClr val="accent1"/>
          </a:solidFill>
          <a:ln w="12700">
            <a:solidFill>
              <a:schemeClr val="accent1"/>
            </a:solidFill>
            <a:prstDash val="solid"/>
          </a:ln>
        </p:spPr>
      </p:sp>
      <p:sp>
        <p:nvSpPr>
          <p:cNvPr id="21" name="Text 19"/>
          <p:cNvSpPr txBox="1"/>
          <p:nvPr/>
        </p:nvSpPr>
        <p:spPr>
          <a:xfrm>
            <a:off x="4846320" y="2834640"/>
            <a:ext cx="502920" cy="502920"/>
          </a:xfrm>
          <a:prstGeom prst="rect">
            <a:avLst/>
          </a:prstGeom>
          <a:noFill/>
          <a:ln/>
        </p:spPr>
        <p:txBody>
          <a:bodyPr wrap="square" lIns="0" tIns="0" rIns="0" bIns="0" rtlCol="0" anchor="ctr"/>
          <a:lstStyle/>
          <a:p>
            <a:pPr algn="ctr" indent="0" marL="0">
              <a:buNone/>
            </a:pPr>
            <a:r>
              <a:rPr lang="en-US" sz="1800" b="1" dirty="0">
                <a:solidFill>
                  <a:srgbClr val="0B1026"/>
                </a:solidFill>
              </a:rPr>
              <a:t>4</a:t>
            </a:r>
            <a:endParaRPr lang="en-US" sz="1800" dirty="0"/>
          </a:p>
        </p:txBody>
      </p:sp>
      <p:sp>
        <p:nvSpPr>
          <p:cNvPr id="22" name="Text 20"/>
          <p:cNvSpPr txBox="1"/>
          <p:nvPr/>
        </p:nvSpPr>
        <p:spPr>
          <a:xfrm>
            <a:off x="5532120" y="2770632"/>
            <a:ext cx="3017520" cy="320040"/>
          </a:xfrm>
          <a:prstGeom prst="rect">
            <a:avLst/>
          </a:prstGeom>
          <a:noFill/>
          <a:ln/>
        </p:spPr>
        <p:txBody>
          <a:bodyPr wrap="square" lIns="0" tIns="0" rIns="0" bIns="0" rtlCol="0" anchor="t"/>
          <a:lstStyle/>
          <a:p>
            <a:pPr indent="0" marL="0">
              <a:buNone/>
            </a:pPr>
            <a:r>
              <a:rPr lang="en-US" sz="1800" b="1" dirty="0">
                <a:solidFill>
                  <a:schemeClr val="tx1"/>
                </a:solidFill>
              </a:rPr>
              <a:t>The journey</a:t>
            </a:r>
            <a:endParaRPr lang="en-US" sz="1800" dirty="0"/>
          </a:p>
        </p:txBody>
      </p:sp>
      <p:sp>
        <p:nvSpPr>
          <p:cNvPr id="23" name="Text 21"/>
          <p:cNvSpPr txBox="1"/>
          <p:nvPr/>
        </p:nvSpPr>
        <p:spPr>
          <a:xfrm>
            <a:off x="5532120" y="3108960"/>
            <a:ext cx="3017520" cy="320040"/>
          </a:xfrm>
          <a:prstGeom prst="rect">
            <a:avLst/>
          </a:prstGeom>
          <a:noFill/>
          <a:ln/>
        </p:spPr>
        <p:txBody>
          <a:bodyPr wrap="square" lIns="0" tIns="0" rIns="0" bIns="0" rtlCol="0" anchor="t"/>
          <a:lstStyle/>
          <a:p>
            <a:pPr indent="0" marL="0">
              <a:buNone/>
            </a:pPr>
            <a:r>
              <a:rPr lang="en-US" sz="1400" dirty="0">
                <a:solidFill>
                  <a:schemeClr val="tx2"/>
                </a:solidFill>
              </a:rPr>
              <a:t>Trajectory and the Pluto flyby</a:t>
            </a:r>
            <a:endParaRPr lang="en-US" sz="1400" dirty="0"/>
          </a:p>
        </p:txBody>
      </p:sp>
      <p:sp>
        <p:nvSpPr>
          <p:cNvPr id="24" name="Outline card"/>
          <p:cNvSpPr/>
          <p:nvPr/>
        </p:nvSpPr>
        <p:spPr>
          <a:xfrm>
            <a:off x="457200" y="3703320"/>
            <a:ext cx="4023360" cy="868680"/>
          </a:xfrm>
          <a:prstGeom prst="roundRect">
            <a:avLst>
              <a:gd name="adj" fmla="val 8421"/>
            </a:avLst>
          </a:prstGeom>
          <a:solidFill>
            <a:schemeClr val="bg2"/>
          </a:solidFill>
          <a:ln w="12700">
            <a:solidFill>
              <a:schemeClr val="bg2"/>
            </a:solidFill>
            <a:prstDash val="solid"/>
          </a:ln>
        </p:spPr>
      </p:sp>
      <p:sp>
        <p:nvSpPr>
          <p:cNvPr id="25" name="Number badge"/>
          <p:cNvSpPr/>
          <p:nvPr/>
        </p:nvSpPr>
        <p:spPr>
          <a:xfrm>
            <a:off x="640080" y="3886200"/>
            <a:ext cx="502920" cy="502920"/>
          </a:xfrm>
          <a:prstGeom prst="ellipse">
            <a:avLst/>
          </a:prstGeom>
          <a:solidFill>
            <a:schemeClr val="accent1"/>
          </a:solidFill>
          <a:ln w="12700">
            <a:solidFill>
              <a:schemeClr val="accent1"/>
            </a:solidFill>
            <a:prstDash val="solid"/>
          </a:ln>
        </p:spPr>
      </p:sp>
      <p:sp>
        <p:nvSpPr>
          <p:cNvPr id="26" name="Text 24"/>
          <p:cNvSpPr txBox="1"/>
          <p:nvPr/>
        </p:nvSpPr>
        <p:spPr>
          <a:xfrm>
            <a:off x="640080" y="3886200"/>
            <a:ext cx="502920" cy="502920"/>
          </a:xfrm>
          <a:prstGeom prst="rect">
            <a:avLst/>
          </a:prstGeom>
          <a:noFill/>
          <a:ln/>
        </p:spPr>
        <p:txBody>
          <a:bodyPr wrap="square" lIns="0" tIns="0" rIns="0" bIns="0" rtlCol="0" anchor="ctr"/>
          <a:lstStyle/>
          <a:p>
            <a:pPr algn="ctr" indent="0" marL="0">
              <a:buNone/>
            </a:pPr>
            <a:r>
              <a:rPr lang="en-US" sz="1800" b="1" dirty="0">
                <a:solidFill>
                  <a:srgbClr val="0B1026"/>
                </a:solidFill>
              </a:rPr>
              <a:t>5</a:t>
            </a:r>
            <a:endParaRPr lang="en-US" sz="1800" dirty="0"/>
          </a:p>
        </p:txBody>
      </p:sp>
      <p:sp>
        <p:nvSpPr>
          <p:cNvPr id="27" name="Text 25"/>
          <p:cNvSpPr txBox="1"/>
          <p:nvPr/>
        </p:nvSpPr>
        <p:spPr>
          <a:xfrm>
            <a:off x="1325880" y="3822192"/>
            <a:ext cx="3017520" cy="320040"/>
          </a:xfrm>
          <a:prstGeom prst="rect">
            <a:avLst/>
          </a:prstGeom>
          <a:noFill/>
          <a:ln/>
        </p:spPr>
        <p:txBody>
          <a:bodyPr wrap="square" lIns="0" tIns="0" rIns="0" bIns="0" rtlCol="0" anchor="t"/>
          <a:lstStyle/>
          <a:p>
            <a:pPr indent="0" marL="0">
              <a:buNone/>
            </a:pPr>
            <a:r>
              <a:rPr lang="en-US" sz="1800" b="1" dirty="0">
                <a:solidFill>
                  <a:schemeClr val="tx1"/>
                </a:solidFill>
              </a:rPr>
              <a:t>Impact</a:t>
            </a:r>
            <a:endParaRPr lang="en-US" sz="1800" dirty="0"/>
          </a:p>
        </p:txBody>
      </p:sp>
      <p:sp>
        <p:nvSpPr>
          <p:cNvPr id="28" name="Text 26"/>
          <p:cNvSpPr txBox="1"/>
          <p:nvPr/>
        </p:nvSpPr>
        <p:spPr>
          <a:xfrm>
            <a:off x="1325880" y="4160520"/>
            <a:ext cx="3017520" cy="320040"/>
          </a:xfrm>
          <a:prstGeom prst="rect">
            <a:avLst/>
          </a:prstGeom>
          <a:noFill/>
          <a:ln/>
        </p:spPr>
        <p:txBody>
          <a:bodyPr wrap="square" lIns="0" tIns="0" rIns="0" bIns="0" rtlCol="0" anchor="t"/>
          <a:lstStyle/>
          <a:p>
            <a:pPr indent="0" marL="0">
              <a:buNone/>
            </a:pPr>
            <a:r>
              <a:rPr lang="en-US" sz="1400" dirty="0">
                <a:solidFill>
                  <a:schemeClr val="tx2"/>
                </a:solidFill>
              </a:rPr>
              <a:t>Media attention and legacy</a:t>
            </a:r>
            <a:endParaRPr lang="en-US" sz="1400" dirty="0"/>
          </a:p>
        </p:txBody>
      </p:sp>
      <p:sp>
        <p:nvSpPr>
          <p:cNvPr id="29" name="Outline card"/>
          <p:cNvSpPr/>
          <p:nvPr/>
        </p:nvSpPr>
        <p:spPr>
          <a:xfrm>
            <a:off x="4663440" y="3703320"/>
            <a:ext cx="4023360" cy="868680"/>
          </a:xfrm>
          <a:prstGeom prst="roundRect">
            <a:avLst>
              <a:gd name="adj" fmla="val 8421"/>
            </a:avLst>
          </a:prstGeom>
          <a:solidFill>
            <a:schemeClr val="bg2"/>
          </a:solidFill>
          <a:ln w="12700">
            <a:solidFill>
              <a:schemeClr val="bg2"/>
            </a:solidFill>
            <a:prstDash val="solid"/>
          </a:ln>
        </p:spPr>
      </p:sp>
      <p:sp>
        <p:nvSpPr>
          <p:cNvPr id="30" name="Number badge"/>
          <p:cNvSpPr/>
          <p:nvPr/>
        </p:nvSpPr>
        <p:spPr>
          <a:xfrm>
            <a:off x="4846320" y="3886200"/>
            <a:ext cx="502920" cy="502920"/>
          </a:xfrm>
          <a:prstGeom prst="ellipse">
            <a:avLst/>
          </a:prstGeom>
          <a:solidFill>
            <a:schemeClr val="accent1"/>
          </a:solidFill>
          <a:ln w="12700">
            <a:solidFill>
              <a:schemeClr val="accent1"/>
            </a:solidFill>
            <a:prstDash val="solid"/>
          </a:ln>
        </p:spPr>
      </p:sp>
      <p:sp>
        <p:nvSpPr>
          <p:cNvPr id="31" name="Text 29"/>
          <p:cNvSpPr txBox="1"/>
          <p:nvPr/>
        </p:nvSpPr>
        <p:spPr>
          <a:xfrm>
            <a:off x="4846320" y="3886200"/>
            <a:ext cx="502920" cy="502920"/>
          </a:xfrm>
          <a:prstGeom prst="rect">
            <a:avLst/>
          </a:prstGeom>
          <a:noFill/>
          <a:ln/>
        </p:spPr>
        <p:txBody>
          <a:bodyPr wrap="square" lIns="0" tIns="0" rIns="0" bIns="0" rtlCol="0" anchor="ctr"/>
          <a:lstStyle/>
          <a:p>
            <a:pPr algn="ctr" indent="0" marL="0">
              <a:buNone/>
            </a:pPr>
            <a:r>
              <a:rPr lang="en-US" sz="1800" b="1" dirty="0">
                <a:solidFill>
                  <a:srgbClr val="0B1026"/>
                </a:solidFill>
              </a:rPr>
              <a:t>6</a:t>
            </a:r>
            <a:endParaRPr lang="en-US" sz="1800" dirty="0"/>
          </a:p>
        </p:txBody>
      </p:sp>
      <p:sp>
        <p:nvSpPr>
          <p:cNvPr id="32" name="Text 30"/>
          <p:cNvSpPr txBox="1"/>
          <p:nvPr/>
        </p:nvSpPr>
        <p:spPr>
          <a:xfrm>
            <a:off x="5532120" y="3822192"/>
            <a:ext cx="3017520" cy="320040"/>
          </a:xfrm>
          <a:prstGeom prst="rect">
            <a:avLst/>
          </a:prstGeom>
          <a:noFill/>
          <a:ln/>
        </p:spPr>
        <p:txBody>
          <a:bodyPr wrap="square" lIns="0" tIns="0" rIns="0" bIns="0" rtlCol="0" anchor="t"/>
          <a:lstStyle/>
          <a:p>
            <a:pPr indent="0" marL="0">
              <a:buNone/>
            </a:pPr>
            <a:r>
              <a:rPr lang="en-US" sz="1800" b="1" dirty="0">
                <a:solidFill>
                  <a:schemeClr val="tx1"/>
                </a:solidFill>
              </a:rPr>
              <a:t>Conclusion</a:t>
            </a:r>
            <a:endParaRPr lang="en-US" sz="1800" dirty="0"/>
          </a:p>
        </p:txBody>
      </p:sp>
      <p:sp>
        <p:nvSpPr>
          <p:cNvPr id="33" name="Text 31"/>
          <p:cNvSpPr txBox="1"/>
          <p:nvPr/>
        </p:nvSpPr>
        <p:spPr>
          <a:xfrm>
            <a:off x="5532120" y="4160520"/>
            <a:ext cx="3017520" cy="320040"/>
          </a:xfrm>
          <a:prstGeom prst="rect">
            <a:avLst/>
          </a:prstGeom>
          <a:noFill/>
          <a:ln/>
        </p:spPr>
        <p:txBody>
          <a:bodyPr wrap="square" lIns="0" tIns="0" rIns="0" bIns="0" rtlCol="0" anchor="t"/>
          <a:lstStyle/>
          <a:p>
            <a:pPr indent="0" marL="0">
              <a:buNone/>
            </a:pPr>
            <a:r>
              <a:rPr lang="en-US" sz="1400" dirty="0">
                <a:solidFill>
                  <a:schemeClr val="tx2"/>
                </a:solidFill>
              </a:rPr>
              <a:t>Threads, influences, cause and effect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9B8D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457200" y="256032"/>
            <a:ext cx="5486400" cy="246888"/>
          </a:xfrm>
          <a:prstGeom prst="rect">
            <a:avLst/>
          </a:prstGeom>
          <a:noFill/>
          <a:ln/>
        </p:spPr>
        <p:txBody>
          <a:bodyPr wrap="square" lIns="0" tIns="0" rIns="0" bIns="0" rtlCol="0" anchor="ctr"/>
          <a:lstStyle/>
          <a:p>
            <a:pPr indent="0" marL="0">
              <a:buNone/>
            </a:pPr>
            <a:r>
              <a:rPr lang="en-US" sz="1200" b="1" spc="300" kern="0" dirty="0">
                <a:solidFill>
                  <a:schemeClr val="accent1"/>
                </a:solidFill>
              </a:rPr>
              <a:t>INTRODUCTION</a:t>
            </a:r>
            <a:endParaRPr lang="en-US" sz="1200" dirty="0"/>
          </a:p>
        </p:txBody>
      </p:sp>
      <p:sp>
        <p:nvSpPr>
          <p:cNvPr id="3" name="Text 0"/>
          <p:cNvSpPr/>
          <p:nvPr>
            <p:ph idx="100" type="title" hasCustomPrompt="1"/>
          </p:nvPr>
        </p:nvSpPr>
        <p:spPr>
          <a:xfrm>
            <a:off x="457200" y="502920"/>
            <a:ext cx="8229600" cy="1005840"/>
          </a:xfrm>
          <a:prstGeom prst="rect">
            <a:avLst/>
          </a:prstGeom>
          <a:noFill/>
          <a:ln/>
        </p:spPr>
        <p:txBody>
          <a:bodyPr wrap="square" lIns="0" tIns="0" rIns="0" bIns="0" rtlCol="0" anchor="t"/>
          <a:lstStyle/>
          <a:p>
            <a:pPr algn="l" indent="0" marL="0">
              <a:buNone/>
            </a:pPr>
            <a:r>
              <a:rPr lang="en-US" sz="3200" b="1" dirty="0">
                <a:solidFill>
                  <a:schemeClr val="tx1"/>
                </a:solidFill>
              </a:rPr>
              <a:t>New Horizons reached Pluto, a world no spacecraft had visited</a:t>
            </a:r>
            <a:endParaRPr lang="en-US" sz="3200" dirty="0"/>
          </a:p>
        </p:txBody>
      </p:sp>
      <p:sp>
        <p:nvSpPr>
          <p:cNvPr id="4" name="Text 2"/>
          <p:cNvSpPr txBox="1"/>
          <p:nvPr/>
        </p:nvSpPr>
        <p:spPr>
          <a:xfrm>
            <a:off x="457200" y="1600200"/>
            <a:ext cx="8229600" cy="640080"/>
          </a:xfrm>
          <a:prstGeom prst="rect">
            <a:avLst/>
          </a:prstGeom>
          <a:noFill/>
          <a:ln/>
        </p:spPr>
        <p:txBody>
          <a:bodyPr wrap="square" lIns="0" tIns="0" rIns="0" bIns="0" rtlCol="0" anchor="t"/>
          <a:lstStyle/>
          <a:p>
            <a:pPr indent="0" marL="0">
              <a:buNone/>
            </a:pPr>
            <a:r>
              <a:rPr lang="en-US" sz="1800" dirty="0">
                <a:solidFill>
                  <a:schemeClr val="tx2"/>
                </a:solidFill>
              </a:rPr>
              <a:t>Goal: map Pluto and its moons up close, then explore the Kuiper Belt, the ring of icy bodies beyond Neptune.</a:t>
            </a:r>
            <a:endParaRPr lang="en-US" sz="1800" dirty="0"/>
          </a:p>
        </p:txBody>
      </p:sp>
      <p:sp>
        <p:nvSpPr>
          <p:cNvPr id="5" name="Stat card"/>
          <p:cNvSpPr/>
          <p:nvPr/>
        </p:nvSpPr>
        <p:spPr>
          <a:xfrm>
            <a:off x="457200" y="2468880"/>
            <a:ext cx="2560320" cy="2011680"/>
          </a:xfrm>
          <a:prstGeom prst="roundRect">
            <a:avLst>
              <a:gd name="adj" fmla="val 3636"/>
            </a:avLst>
          </a:prstGeom>
          <a:solidFill>
            <a:schemeClr val="bg2"/>
          </a:solidFill>
          <a:ln w="12700">
            <a:solidFill>
              <a:schemeClr val="bg2"/>
            </a:solidFill>
            <a:prstDash val="solid"/>
          </a:ln>
        </p:spPr>
      </p:sp>
      <p:sp>
        <p:nvSpPr>
          <p:cNvPr id="6" name="Text 4"/>
          <p:cNvSpPr txBox="1"/>
          <p:nvPr/>
        </p:nvSpPr>
        <p:spPr>
          <a:xfrm>
            <a:off x="640080" y="2697480"/>
            <a:ext cx="2194560" cy="82296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9.5 years</a:t>
            </a:r>
            <a:endParaRPr lang="en-US" sz="3000" dirty="0"/>
          </a:p>
        </p:txBody>
      </p:sp>
      <p:sp>
        <p:nvSpPr>
          <p:cNvPr id="7" name="Text 5"/>
          <p:cNvSpPr txBox="1"/>
          <p:nvPr/>
        </p:nvSpPr>
        <p:spPr>
          <a:xfrm>
            <a:off x="640080" y="3611880"/>
            <a:ext cx="2194560" cy="731520"/>
          </a:xfrm>
          <a:prstGeom prst="rect">
            <a:avLst/>
          </a:prstGeom>
          <a:noFill/>
          <a:ln/>
        </p:spPr>
        <p:txBody>
          <a:bodyPr wrap="square" lIns="0" tIns="0" rIns="0" bIns="0" rtlCol="0" anchor="t"/>
          <a:lstStyle/>
          <a:p>
            <a:pPr indent="0" marL="0">
              <a:buNone/>
            </a:pPr>
            <a:r>
              <a:rPr lang="en-US" sz="1600" dirty="0">
                <a:solidFill>
                  <a:schemeClr val="tx1"/>
                </a:solidFill>
              </a:rPr>
              <a:t>from launch to Pluto</a:t>
            </a:r>
            <a:endParaRPr lang="en-US" sz="1600" dirty="0"/>
          </a:p>
        </p:txBody>
      </p:sp>
      <p:sp>
        <p:nvSpPr>
          <p:cNvPr id="8" name="Stat card"/>
          <p:cNvSpPr/>
          <p:nvPr/>
        </p:nvSpPr>
        <p:spPr>
          <a:xfrm>
            <a:off x="3291840" y="2468880"/>
            <a:ext cx="2560320" cy="2011680"/>
          </a:xfrm>
          <a:prstGeom prst="roundRect">
            <a:avLst>
              <a:gd name="adj" fmla="val 3636"/>
            </a:avLst>
          </a:prstGeom>
          <a:solidFill>
            <a:schemeClr val="bg2"/>
          </a:solidFill>
          <a:ln w="12700">
            <a:solidFill>
              <a:schemeClr val="bg2"/>
            </a:solidFill>
            <a:prstDash val="solid"/>
          </a:ln>
        </p:spPr>
      </p:sp>
      <p:sp>
        <p:nvSpPr>
          <p:cNvPr id="9" name="Text 7"/>
          <p:cNvSpPr txBox="1"/>
          <p:nvPr/>
        </p:nvSpPr>
        <p:spPr>
          <a:xfrm>
            <a:off x="3474720" y="2697480"/>
            <a:ext cx="2194560" cy="82296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4.9 billion</a:t>
            </a:r>
            <a:endParaRPr lang="en-US" sz="3000" dirty="0"/>
          </a:p>
        </p:txBody>
      </p:sp>
      <p:sp>
        <p:nvSpPr>
          <p:cNvPr id="10" name="Text 8"/>
          <p:cNvSpPr txBox="1"/>
          <p:nvPr/>
        </p:nvSpPr>
        <p:spPr>
          <a:xfrm>
            <a:off x="3474720" y="3611880"/>
            <a:ext cx="2194560" cy="731520"/>
          </a:xfrm>
          <a:prstGeom prst="rect">
            <a:avLst/>
          </a:prstGeom>
          <a:noFill/>
          <a:ln/>
        </p:spPr>
        <p:txBody>
          <a:bodyPr wrap="square" lIns="0" tIns="0" rIns="0" bIns="0" rtlCol="0" anchor="t"/>
          <a:lstStyle/>
          <a:p>
            <a:pPr indent="0" marL="0">
              <a:buNone/>
            </a:pPr>
            <a:r>
              <a:rPr lang="en-US" sz="1600" dirty="0">
                <a:solidFill>
                  <a:schemeClr val="tx1"/>
                </a:solidFill>
              </a:rPr>
              <a:t>km traveled to reach Pluto (3 billion miles)</a:t>
            </a:r>
            <a:endParaRPr lang="en-US" sz="1600" dirty="0"/>
          </a:p>
        </p:txBody>
      </p:sp>
      <p:sp>
        <p:nvSpPr>
          <p:cNvPr id="11" name="Stat card"/>
          <p:cNvSpPr/>
          <p:nvPr/>
        </p:nvSpPr>
        <p:spPr>
          <a:xfrm>
            <a:off x="6126480" y="2468880"/>
            <a:ext cx="2560320" cy="2011680"/>
          </a:xfrm>
          <a:prstGeom prst="roundRect">
            <a:avLst>
              <a:gd name="adj" fmla="val 3636"/>
            </a:avLst>
          </a:prstGeom>
          <a:solidFill>
            <a:schemeClr val="bg2"/>
          </a:solidFill>
          <a:ln w="12700">
            <a:solidFill>
              <a:schemeClr val="bg2"/>
            </a:solidFill>
            <a:prstDash val="solid"/>
          </a:ln>
        </p:spPr>
      </p:sp>
      <p:sp>
        <p:nvSpPr>
          <p:cNvPr id="12" name="Text 10"/>
          <p:cNvSpPr txBox="1"/>
          <p:nvPr/>
        </p:nvSpPr>
        <p:spPr>
          <a:xfrm>
            <a:off x="6309360" y="2697480"/>
            <a:ext cx="2194560" cy="82296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1st</a:t>
            </a:r>
            <a:endParaRPr lang="en-US" sz="3000" dirty="0"/>
          </a:p>
        </p:txBody>
      </p:sp>
      <p:sp>
        <p:nvSpPr>
          <p:cNvPr id="13" name="Text 11"/>
          <p:cNvSpPr txBox="1"/>
          <p:nvPr/>
        </p:nvSpPr>
        <p:spPr>
          <a:xfrm>
            <a:off x="6309360" y="3611880"/>
            <a:ext cx="2194560" cy="731520"/>
          </a:xfrm>
          <a:prstGeom prst="rect">
            <a:avLst/>
          </a:prstGeom>
          <a:noFill/>
          <a:ln/>
        </p:spPr>
        <p:txBody>
          <a:bodyPr wrap="square" lIns="0" tIns="0" rIns="0" bIns="0" rtlCol="0" anchor="t"/>
          <a:lstStyle/>
          <a:p>
            <a:pPr indent="0" marL="0">
              <a:buNone/>
            </a:pPr>
            <a:r>
              <a:rPr lang="en-US" sz="1600" dirty="0">
                <a:solidFill>
                  <a:schemeClr val="tx1"/>
                </a:solidFill>
              </a:rPr>
              <a:t>spacecraft to visit Pluto</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9B8D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457200" y="256032"/>
            <a:ext cx="5486400" cy="246888"/>
          </a:xfrm>
          <a:prstGeom prst="rect">
            <a:avLst/>
          </a:prstGeom>
          <a:noFill/>
          <a:ln/>
        </p:spPr>
        <p:txBody>
          <a:bodyPr wrap="square" lIns="0" tIns="0" rIns="0" bIns="0" rtlCol="0" anchor="ctr"/>
          <a:lstStyle/>
          <a:p>
            <a:pPr indent="0" marL="0">
              <a:buNone/>
            </a:pPr>
            <a:r>
              <a:rPr lang="en-US" sz="1200" b="1" spc="300" kern="0" dirty="0">
                <a:solidFill>
                  <a:schemeClr val="accent1"/>
                </a:solidFill>
              </a:rPr>
              <a:t>BACKGROUND</a:t>
            </a:r>
            <a:endParaRPr lang="en-US" sz="1200" dirty="0"/>
          </a:p>
        </p:txBody>
      </p:sp>
      <p:sp>
        <p:nvSpPr>
          <p:cNvPr id="3" name="Text 0"/>
          <p:cNvSpPr/>
          <p:nvPr>
            <p:ph idx="100" type="title" hasCustomPrompt="1"/>
          </p:nvPr>
        </p:nvSpPr>
        <p:spPr>
          <a:xfrm>
            <a:off x="457200" y="502920"/>
            <a:ext cx="8229600" cy="1005840"/>
          </a:xfrm>
          <a:prstGeom prst="rect">
            <a:avLst/>
          </a:prstGeom>
          <a:noFill/>
          <a:ln/>
        </p:spPr>
        <p:txBody>
          <a:bodyPr wrap="square" lIns="0" tIns="0" rIns="0" bIns="0" rtlCol="0" anchor="t"/>
          <a:lstStyle/>
          <a:p>
            <a:pPr algn="l" indent="0" marL="0">
              <a:buNone/>
            </a:pPr>
            <a:r>
              <a:rPr lang="en-US" sz="3200" b="1" dirty="0">
                <a:solidFill>
                  <a:schemeClr val="tx1"/>
                </a:solidFill>
              </a:rPr>
              <a:t>A NASA mission built by APL and SwRI to study Pluto up close</a:t>
            </a:r>
            <a:endParaRPr lang="en-US" sz="3200" dirty="0"/>
          </a:p>
        </p:txBody>
      </p:sp>
      <p:sp>
        <p:nvSpPr>
          <p:cNvPr id="4" name="Fact card"/>
          <p:cNvSpPr/>
          <p:nvPr/>
        </p:nvSpPr>
        <p:spPr>
          <a:xfrm>
            <a:off x="457200" y="1600200"/>
            <a:ext cx="2560320" cy="1417320"/>
          </a:xfrm>
          <a:prstGeom prst="roundRect">
            <a:avLst>
              <a:gd name="adj" fmla="val 5161"/>
            </a:avLst>
          </a:prstGeom>
          <a:solidFill>
            <a:schemeClr val="bg2"/>
          </a:solidFill>
          <a:ln w="12700">
            <a:solidFill>
              <a:schemeClr val="bg2"/>
            </a:solidFill>
            <a:prstDash val="solid"/>
          </a:ln>
        </p:spPr>
      </p:sp>
      <p:sp>
        <p:nvSpPr>
          <p:cNvPr id="5" name="Icon badge"/>
          <p:cNvSpPr/>
          <p:nvPr/>
        </p:nvSpPr>
        <p:spPr>
          <a:xfrm>
            <a:off x="594360" y="1709928"/>
            <a:ext cx="384048" cy="384048"/>
          </a:xfrm>
          <a:prstGeom prst="ellipse">
            <a:avLst/>
          </a:prstGeom>
          <a:solidFill>
            <a:schemeClr val="accent1"/>
          </a:solidFill>
          <a:ln w="12700">
            <a:solidFill>
              <a:schemeClr val="accent1"/>
            </a:solidFill>
            <a:prstDash val="solid"/>
          </a:ln>
        </p:spPr>
      </p:sp>
      <p:pic>
        <p:nvPicPr>
          <p:cNvPr id="6" name="Image 0" descr="icon">    </p:cNvPr>
          <p:cNvPicPr>
            <a:picLocks noChangeAspect="1"/>
          </p:cNvPicPr>
          <p:nvPr/>
        </p:nvPicPr>
        <p:blipFill>
          <a:blip r:embed="rId1"/>
          <a:stretch>
            <a:fillRect/>
          </a:stretch>
        </p:blipFill>
        <p:spPr>
          <a:xfrm>
            <a:off x="690372" y="1805940"/>
            <a:ext cx="192024" cy="192024"/>
          </a:xfrm>
          <a:prstGeom prst="rect">
            <a:avLst/>
          </a:prstGeom>
        </p:spPr>
      </p:pic>
      <p:sp>
        <p:nvSpPr>
          <p:cNvPr id="7" name="Text 4"/>
          <p:cNvSpPr txBox="1"/>
          <p:nvPr/>
        </p:nvSpPr>
        <p:spPr>
          <a:xfrm>
            <a:off x="1097280" y="1709928"/>
            <a:ext cx="1828800" cy="384048"/>
          </a:xfrm>
          <a:prstGeom prst="rect">
            <a:avLst/>
          </a:prstGeom>
          <a:noFill/>
          <a:ln/>
        </p:spPr>
        <p:txBody>
          <a:bodyPr wrap="square" lIns="0" tIns="0" rIns="0" bIns="0" rtlCol="0" anchor="ctr"/>
          <a:lstStyle/>
          <a:p>
            <a:pPr indent="0" marL="0">
              <a:buNone/>
            </a:pPr>
            <a:r>
              <a:rPr lang="en-US" sz="1600" b="1" dirty="0">
                <a:solidFill>
                  <a:schemeClr val="tx1"/>
                </a:solidFill>
              </a:rPr>
              <a:t>Developer</a:t>
            </a:r>
            <a:endParaRPr lang="en-US" sz="1600" dirty="0"/>
          </a:p>
        </p:txBody>
      </p:sp>
      <p:sp>
        <p:nvSpPr>
          <p:cNvPr id="8" name="Text 5"/>
          <p:cNvSpPr txBox="1"/>
          <p:nvPr/>
        </p:nvSpPr>
        <p:spPr>
          <a:xfrm>
            <a:off x="594360" y="2167128"/>
            <a:ext cx="2286000" cy="822960"/>
          </a:xfrm>
          <a:prstGeom prst="rect">
            <a:avLst/>
          </a:prstGeom>
          <a:noFill/>
          <a:ln/>
        </p:spPr>
        <p:txBody>
          <a:bodyPr wrap="square" lIns="0" tIns="0" rIns="0" bIns="0" rtlCol="0" anchor="t"/>
          <a:lstStyle/>
          <a:p>
            <a:pPr indent="0" marL="0">
              <a:buNone/>
            </a:pPr>
            <a:r>
              <a:rPr lang="en-US" sz="1300" dirty="0">
                <a:solidFill>
                  <a:schemeClr val="tx2"/>
                </a:solidFill>
              </a:rPr>
              <a:t>Built by Johns Hopkins APL; science led by SwRI; NASA New Frontiers program</a:t>
            </a:r>
            <a:endParaRPr lang="en-US" sz="1300" dirty="0"/>
          </a:p>
        </p:txBody>
      </p:sp>
      <p:sp>
        <p:nvSpPr>
          <p:cNvPr id="9" name="Fact card"/>
          <p:cNvSpPr/>
          <p:nvPr/>
        </p:nvSpPr>
        <p:spPr>
          <a:xfrm>
            <a:off x="3291840" y="1600200"/>
            <a:ext cx="2560320" cy="1417320"/>
          </a:xfrm>
          <a:prstGeom prst="roundRect">
            <a:avLst>
              <a:gd name="adj" fmla="val 5161"/>
            </a:avLst>
          </a:prstGeom>
          <a:solidFill>
            <a:schemeClr val="bg2"/>
          </a:solidFill>
          <a:ln w="12700">
            <a:solidFill>
              <a:schemeClr val="bg2"/>
            </a:solidFill>
            <a:prstDash val="solid"/>
          </a:ln>
        </p:spPr>
      </p:sp>
      <p:sp>
        <p:nvSpPr>
          <p:cNvPr id="10" name="Icon badge"/>
          <p:cNvSpPr/>
          <p:nvPr/>
        </p:nvSpPr>
        <p:spPr>
          <a:xfrm>
            <a:off x="3429000" y="1709928"/>
            <a:ext cx="384048" cy="384048"/>
          </a:xfrm>
          <a:prstGeom prst="ellipse">
            <a:avLst/>
          </a:prstGeom>
          <a:solidFill>
            <a:schemeClr val="accent1"/>
          </a:solidFill>
          <a:ln w="12700">
            <a:solidFill>
              <a:schemeClr val="accent1"/>
            </a:solidFill>
            <a:prstDash val="solid"/>
          </a:ln>
        </p:spPr>
      </p:sp>
      <p:pic>
        <p:nvPicPr>
          <p:cNvPr id="11" name="Image 1" descr="icon">    </p:cNvPr>
          <p:cNvPicPr>
            <a:picLocks noChangeAspect="1"/>
          </p:cNvPicPr>
          <p:nvPr/>
        </p:nvPicPr>
        <p:blipFill>
          <a:blip r:embed="rId2"/>
          <a:stretch>
            <a:fillRect/>
          </a:stretch>
        </p:blipFill>
        <p:spPr>
          <a:xfrm>
            <a:off x="3525012" y="1805940"/>
            <a:ext cx="192024" cy="192024"/>
          </a:xfrm>
          <a:prstGeom prst="rect">
            <a:avLst/>
          </a:prstGeom>
        </p:spPr>
      </p:pic>
      <p:sp>
        <p:nvSpPr>
          <p:cNvPr id="12" name="Text 8"/>
          <p:cNvSpPr txBox="1"/>
          <p:nvPr/>
        </p:nvSpPr>
        <p:spPr>
          <a:xfrm>
            <a:off x="3931920" y="1709928"/>
            <a:ext cx="1828800" cy="384048"/>
          </a:xfrm>
          <a:prstGeom prst="rect">
            <a:avLst/>
          </a:prstGeom>
          <a:noFill/>
          <a:ln/>
        </p:spPr>
        <p:txBody>
          <a:bodyPr wrap="square" lIns="0" tIns="0" rIns="0" bIns="0" rtlCol="0" anchor="ctr"/>
          <a:lstStyle/>
          <a:p>
            <a:pPr indent="0" marL="0">
              <a:buNone/>
            </a:pPr>
            <a:r>
              <a:rPr lang="en-US" sz="1600" b="1" dirty="0">
                <a:solidFill>
                  <a:schemeClr val="tx1"/>
                </a:solidFill>
              </a:rPr>
              <a:t>Dates</a:t>
            </a:r>
            <a:endParaRPr lang="en-US" sz="1600" dirty="0"/>
          </a:p>
        </p:txBody>
      </p:sp>
      <p:sp>
        <p:nvSpPr>
          <p:cNvPr id="13" name="Text 9"/>
          <p:cNvSpPr txBox="1"/>
          <p:nvPr/>
        </p:nvSpPr>
        <p:spPr>
          <a:xfrm>
            <a:off x="3429000" y="2167128"/>
            <a:ext cx="2286000" cy="822960"/>
          </a:xfrm>
          <a:prstGeom prst="rect">
            <a:avLst/>
          </a:prstGeom>
          <a:noFill/>
          <a:ln/>
        </p:spPr>
        <p:txBody>
          <a:bodyPr wrap="square" lIns="0" tIns="0" rIns="0" bIns="0" rtlCol="0" anchor="t"/>
          <a:lstStyle/>
          <a:p>
            <a:pPr indent="0" marL="0">
              <a:buNone/>
            </a:pPr>
            <a:r>
              <a:rPr lang="en-US" sz="1300" dirty="0">
                <a:solidFill>
                  <a:schemeClr val="tx2"/>
                </a:solidFill>
              </a:rPr>
              <a:t>Launched Jan 19, 2006. Pluto flyby Jul 14, 2015. Still operating</a:t>
            </a:r>
            <a:endParaRPr lang="en-US" sz="1300" dirty="0"/>
          </a:p>
        </p:txBody>
      </p:sp>
      <p:sp>
        <p:nvSpPr>
          <p:cNvPr id="14" name="Fact card"/>
          <p:cNvSpPr/>
          <p:nvPr/>
        </p:nvSpPr>
        <p:spPr>
          <a:xfrm>
            <a:off x="6126480" y="1600200"/>
            <a:ext cx="2560320" cy="1417320"/>
          </a:xfrm>
          <a:prstGeom prst="roundRect">
            <a:avLst>
              <a:gd name="adj" fmla="val 5161"/>
            </a:avLst>
          </a:prstGeom>
          <a:solidFill>
            <a:schemeClr val="bg2"/>
          </a:solidFill>
          <a:ln w="12700">
            <a:solidFill>
              <a:schemeClr val="bg2"/>
            </a:solidFill>
            <a:prstDash val="solid"/>
          </a:ln>
        </p:spPr>
      </p:sp>
      <p:sp>
        <p:nvSpPr>
          <p:cNvPr id="15" name="Icon badge"/>
          <p:cNvSpPr/>
          <p:nvPr/>
        </p:nvSpPr>
        <p:spPr>
          <a:xfrm>
            <a:off x="6263640" y="1709928"/>
            <a:ext cx="384048" cy="384048"/>
          </a:xfrm>
          <a:prstGeom prst="ellipse">
            <a:avLst/>
          </a:prstGeom>
          <a:solidFill>
            <a:schemeClr val="accent1"/>
          </a:solidFill>
          <a:ln w="12700">
            <a:solidFill>
              <a:schemeClr val="accent1"/>
            </a:solidFill>
            <a:prstDash val="solid"/>
          </a:ln>
        </p:spPr>
      </p:sp>
      <p:pic>
        <p:nvPicPr>
          <p:cNvPr id="16" name="Image 2" descr="icon">    </p:cNvPr>
          <p:cNvPicPr>
            <a:picLocks noChangeAspect="1"/>
          </p:cNvPicPr>
          <p:nvPr/>
        </p:nvPicPr>
        <p:blipFill>
          <a:blip r:embed="rId3"/>
          <a:stretch>
            <a:fillRect/>
          </a:stretch>
        </p:blipFill>
        <p:spPr>
          <a:xfrm>
            <a:off x="6359652" y="1805940"/>
            <a:ext cx="192024" cy="192024"/>
          </a:xfrm>
          <a:prstGeom prst="rect">
            <a:avLst/>
          </a:prstGeom>
        </p:spPr>
      </p:pic>
      <p:sp>
        <p:nvSpPr>
          <p:cNvPr id="17" name="Text 12"/>
          <p:cNvSpPr txBox="1"/>
          <p:nvPr/>
        </p:nvSpPr>
        <p:spPr>
          <a:xfrm>
            <a:off x="6766560" y="1709928"/>
            <a:ext cx="1828800" cy="384048"/>
          </a:xfrm>
          <a:prstGeom prst="rect">
            <a:avLst/>
          </a:prstGeom>
          <a:noFill/>
          <a:ln/>
        </p:spPr>
        <p:txBody>
          <a:bodyPr wrap="square" lIns="0" tIns="0" rIns="0" bIns="0" rtlCol="0" anchor="ctr"/>
          <a:lstStyle/>
          <a:p>
            <a:pPr indent="0" marL="0">
              <a:buNone/>
            </a:pPr>
            <a:r>
              <a:rPr lang="en-US" sz="1600" b="1" dirty="0">
                <a:solidFill>
                  <a:schemeClr val="tx1"/>
                </a:solidFill>
              </a:rPr>
              <a:t>Users</a:t>
            </a:r>
            <a:endParaRPr lang="en-US" sz="1600" dirty="0"/>
          </a:p>
        </p:txBody>
      </p:sp>
      <p:sp>
        <p:nvSpPr>
          <p:cNvPr id="18" name="Text 13"/>
          <p:cNvSpPr txBox="1"/>
          <p:nvPr/>
        </p:nvSpPr>
        <p:spPr>
          <a:xfrm>
            <a:off x="6263640" y="2167128"/>
            <a:ext cx="2286000" cy="822960"/>
          </a:xfrm>
          <a:prstGeom prst="rect">
            <a:avLst/>
          </a:prstGeom>
          <a:noFill/>
          <a:ln/>
        </p:spPr>
        <p:txBody>
          <a:bodyPr wrap="square" lIns="0" tIns="0" rIns="0" bIns="0" rtlCol="0" anchor="t"/>
          <a:lstStyle/>
          <a:p>
            <a:pPr indent="0" marL="0">
              <a:buNone/>
            </a:pPr>
            <a:r>
              <a:rPr lang="en-US" sz="1300" dirty="0">
                <a:solidFill>
                  <a:schemeClr val="tx2"/>
                </a:solidFill>
              </a:rPr>
              <a:t>NASA and scientists worldwide. Principal investigator: Alan Stern</a:t>
            </a:r>
            <a:endParaRPr lang="en-US" sz="1300" dirty="0"/>
          </a:p>
        </p:txBody>
      </p:sp>
      <p:sp>
        <p:nvSpPr>
          <p:cNvPr id="19" name="Fact card"/>
          <p:cNvSpPr/>
          <p:nvPr/>
        </p:nvSpPr>
        <p:spPr>
          <a:xfrm>
            <a:off x="457200" y="3154680"/>
            <a:ext cx="2560320" cy="1417320"/>
          </a:xfrm>
          <a:prstGeom prst="roundRect">
            <a:avLst>
              <a:gd name="adj" fmla="val 5161"/>
            </a:avLst>
          </a:prstGeom>
          <a:solidFill>
            <a:schemeClr val="bg2"/>
          </a:solidFill>
          <a:ln w="12700">
            <a:solidFill>
              <a:schemeClr val="bg2"/>
            </a:solidFill>
            <a:prstDash val="solid"/>
          </a:ln>
        </p:spPr>
      </p:sp>
      <p:sp>
        <p:nvSpPr>
          <p:cNvPr id="20" name="Icon badge"/>
          <p:cNvSpPr/>
          <p:nvPr/>
        </p:nvSpPr>
        <p:spPr>
          <a:xfrm>
            <a:off x="594360" y="3264408"/>
            <a:ext cx="384048" cy="384048"/>
          </a:xfrm>
          <a:prstGeom prst="ellipse">
            <a:avLst/>
          </a:prstGeom>
          <a:solidFill>
            <a:schemeClr val="accent1"/>
          </a:solidFill>
          <a:ln w="12700">
            <a:solidFill>
              <a:schemeClr val="accent1"/>
            </a:solidFill>
            <a:prstDash val="solid"/>
          </a:ln>
        </p:spPr>
      </p:sp>
      <p:pic>
        <p:nvPicPr>
          <p:cNvPr id="21" name="Image 3" descr="icon">    </p:cNvPr>
          <p:cNvPicPr>
            <a:picLocks noChangeAspect="1"/>
          </p:cNvPicPr>
          <p:nvPr/>
        </p:nvPicPr>
        <p:blipFill>
          <a:blip r:embed="rId4"/>
          <a:stretch>
            <a:fillRect/>
          </a:stretch>
        </p:blipFill>
        <p:spPr>
          <a:xfrm>
            <a:off x="690372" y="3360420"/>
            <a:ext cx="192024" cy="192024"/>
          </a:xfrm>
          <a:prstGeom prst="rect">
            <a:avLst/>
          </a:prstGeom>
        </p:spPr>
      </p:pic>
      <p:sp>
        <p:nvSpPr>
          <p:cNvPr id="22" name="Text 16"/>
          <p:cNvSpPr txBox="1"/>
          <p:nvPr/>
        </p:nvSpPr>
        <p:spPr>
          <a:xfrm>
            <a:off x="1097280" y="3264408"/>
            <a:ext cx="1828800" cy="384048"/>
          </a:xfrm>
          <a:prstGeom prst="rect">
            <a:avLst/>
          </a:prstGeom>
          <a:noFill/>
          <a:ln/>
        </p:spPr>
        <p:txBody>
          <a:bodyPr wrap="square" lIns="0" tIns="0" rIns="0" bIns="0" rtlCol="0" anchor="ctr"/>
          <a:lstStyle/>
          <a:p>
            <a:pPr indent="0" marL="0">
              <a:buNone/>
            </a:pPr>
            <a:r>
              <a:rPr lang="en-US" sz="1600" b="1" dirty="0">
                <a:solidFill>
                  <a:schemeClr val="tx1"/>
                </a:solidFill>
              </a:rPr>
              <a:t>Environment</a:t>
            </a:r>
            <a:endParaRPr lang="en-US" sz="1600" dirty="0"/>
          </a:p>
        </p:txBody>
      </p:sp>
      <p:sp>
        <p:nvSpPr>
          <p:cNvPr id="23" name="Text 17"/>
          <p:cNvSpPr txBox="1"/>
          <p:nvPr/>
        </p:nvSpPr>
        <p:spPr>
          <a:xfrm>
            <a:off x="594360" y="3721608"/>
            <a:ext cx="2286000" cy="822960"/>
          </a:xfrm>
          <a:prstGeom prst="rect">
            <a:avLst/>
          </a:prstGeom>
          <a:noFill/>
          <a:ln/>
        </p:spPr>
        <p:txBody>
          <a:bodyPr wrap="square" lIns="0" tIns="0" rIns="0" bIns="0" rtlCol="0" anchor="t"/>
          <a:lstStyle/>
          <a:p>
            <a:pPr indent="0" marL="0">
              <a:buNone/>
            </a:pPr>
            <a:r>
              <a:rPr lang="en-US" sz="1300" dirty="0">
                <a:solidFill>
                  <a:schemeClr val="tx2"/>
                </a:solidFill>
              </a:rPr>
              <a:t>Deep space: outer solar system and the Kuiper Belt</a:t>
            </a:r>
            <a:endParaRPr lang="en-US" sz="1300" dirty="0"/>
          </a:p>
        </p:txBody>
      </p:sp>
      <p:sp>
        <p:nvSpPr>
          <p:cNvPr id="24" name="Fact card"/>
          <p:cNvSpPr/>
          <p:nvPr/>
        </p:nvSpPr>
        <p:spPr>
          <a:xfrm>
            <a:off x="3291840" y="3154680"/>
            <a:ext cx="2560320" cy="1417320"/>
          </a:xfrm>
          <a:prstGeom prst="roundRect">
            <a:avLst>
              <a:gd name="adj" fmla="val 5161"/>
            </a:avLst>
          </a:prstGeom>
          <a:solidFill>
            <a:schemeClr val="bg2"/>
          </a:solidFill>
          <a:ln w="12700">
            <a:solidFill>
              <a:schemeClr val="bg2"/>
            </a:solidFill>
            <a:prstDash val="solid"/>
          </a:ln>
        </p:spPr>
      </p:sp>
      <p:sp>
        <p:nvSpPr>
          <p:cNvPr id="25" name="Icon badge"/>
          <p:cNvSpPr/>
          <p:nvPr/>
        </p:nvSpPr>
        <p:spPr>
          <a:xfrm>
            <a:off x="3429000" y="3264408"/>
            <a:ext cx="384048" cy="384048"/>
          </a:xfrm>
          <a:prstGeom prst="ellipse">
            <a:avLst/>
          </a:prstGeom>
          <a:solidFill>
            <a:schemeClr val="accent1"/>
          </a:solidFill>
          <a:ln w="12700">
            <a:solidFill>
              <a:schemeClr val="accent1"/>
            </a:solidFill>
            <a:prstDash val="solid"/>
          </a:ln>
        </p:spPr>
      </p:sp>
      <p:pic>
        <p:nvPicPr>
          <p:cNvPr id="26" name="Image 4" descr="icon">    </p:cNvPr>
          <p:cNvPicPr>
            <a:picLocks noChangeAspect="1"/>
          </p:cNvPicPr>
          <p:nvPr/>
        </p:nvPicPr>
        <p:blipFill>
          <a:blip r:embed="rId5"/>
          <a:stretch>
            <a:fillRect/>
          </a:stretch>
        </p:blipFill>
        <p:spPr>
          <a:xfrm>
            <a:off x="3525012" y="3360420"/>
            <a:ext cx="192024" cy="192024"/>
          </a:xfrm>
          <a:prstGeom prst="rect">
            <a:avLst/>
          </a:prstGeom>
        </p:spPr>
      </p:pic>
      <p:sp>
        <p:nvSpPr>
          <p:cNvPr id="27" name="Text 20"/>
          <p:cNvSpPr txBox="1"/>
          <p:nvPr/>
        </p:nvSpPr>
        <p:spPr>
          <a:xfrm>
            <a:off x="3931920" y="3264408"/>
            <a:ext cx="1828800" cy="384048"/>
          </a:xfrm>
          <a:prstGeom prst="rect">
            <a:avLst/>
          </a:prstGeom>
          <a:noFill/>
          <a:ln/>
        </p:spPr>
        <p:txBody>
          <a:bodyPr wrap="square" lIns="0" tIns="0" rIns="0" bIns="0" rtlCol="0" anchor="ctr"/>
          <a:lstStyle/>
          <a:p>
            <a:pPr indent="0" marL="0">
              <a:buNone/>
            </a:pPr>
            <a:r>
              <a:rPr lang="en-US" sz="1600" b="1" dirty="0">
                <a:solidFill>
                  <a:schemeClr val="tx1"/>
                </a:solidFill>
              </a:rPr>
              <a:t>Task</a:t>
            </a:r>
            <a:endParaRPr lang="en-US" sz="1600" dirty="0"/>
          </a:p>
        </p:txBody>
      </p:sp>
      <p:sp>
        <p:nvSpPr>
          <p:cNvPr id="28" name="Text 21"/>
          <p:cNvSpPr txBox="1"/>
          <p:nvPr/>
        </p:nvSpPr>
        <p:spPr>
          <a:xfrm>
            <a:off x="3429000" y="3721608"/>
            <a:ext cx="2286000" cy="822960"/>
          </a:xfrm>
          <a:prstGeom prst="rect">
            <a:avLst/>
          </a:prstGeom>
          <a:noFill/>
          <a:ln/>
        </p:spPr>
        <p:txBody>
          <a:bodyPr wrap="square" lIns="0" tIns="0" rIns="0" bIns="0" rtlCol="0" anchor="t"/>
          <a:lstStyle/>
          <a:p>
            <a:pPr indent="0" marL="0">
              <a:buNone/>
            </a:pPr>
            <a:r>
              <a:rPr lang="en-US" sz="1300" dirty="0">
                <a:solidFill>
                  <a:schemeClr val="tx2"/>
                </a:solidFill>
              </a:rPr>
              <a:t>Fly past Pluto and its moons, map surfaces, measure atmosphere</a:t>
            </a:r>
            <a:endParaRPr lang="en-US" sz="1300" dirty="0"/>
          </a:p>
        </p:txBody>
      </p:sp>
      <p:sp>
        <p:nvSpPr>
          <p:cNvPr id="29" name="Fact card"/>
          <p:cNvSpPr/>
          <p:nvPr/>
        </p:nvSpPr>
        <p:spPr>
          <a:xfrm>
            <a:off x="6126480" y="3154680"/>
            <a:ext cx="2560320" cy="1417320"/>
          </a:xfrm>
          <a:prstGeom prst="roundRect">
            <a:avLst>
              <a:gd name="adj" fmla="val 5161"/>
            </a:avLst>
          </a:prstGeom>
          <a:solidFill>
            <a:schemeClr val="bg2"/>
          </a:solidFill>
          <a:ln w="12700">
            <a:solidFill>
              <a:schemeClr val="bg2"/>
            </a:solidFill>
            <a:prstDash val="solid"/>
          </a:ln>
        </p:spPr>
      </p:sp>
      <p:sp>
        <p:nvSpPr>
          <p:cNvPr id="30" name="Icon badge"/>
          <p:cNvSpPr/>
          <p:nvPr/>
        </p:nvSpPr>
        <p:spPr>
          <a:xfrm>
            <a:off x="6263640" y="3264408"/>
            <a:ext cx="384048" cy="384048"/>
          </a:xfrm>
          <a:prstGeom prst="ellipse">
            <a:avLst/>
          </a:prstGeom>
          <a:solidFill>
            <a:schemeClr val="accent1"/>
          </a:solidFill>
          <a:ln w="12700">
            <a:solidFill>
              <a:schemeClr val="accent1"/>
            </a:solidFill>
            <a:prstDash val="solid"/>
          </a:ln>
        </p:spPr>
      </p:sp>
      <p:pic>
        <p:nvPicPr>
          <p:cNvPr id="31" name="Image 5" descr="icon">    </p:cNvPr>
          <p:cNvPicPr>
            <a:picLocks noChangeAspect="1"/>
          </p:cNvPicPr>
          <p:nvPr/>
        </p:nvPicPr>
        <p:blipFill>
          <a:blip r:embed="rId6"/>
          <a:stretch>
            <a:fillRect/>
          </a:stretch>
        </p:blipFill>
        <p:spPr>
          <a:xfrm>
            <a:off x="6359652" y="3360420"/>
            <a:ext cx="192024" cy="192024"/>
          </a:xfrm>
          <a:prstGeom prst="rect">
            <a:avLst/>
          </a:prstGeom>
        </p:spPr>
      </p:pic>
      <p:sp>
        <p:nvSpPr>
          <p:cNvPr id="32" name="Text 24"/>
          <p:cNvSpPr txBox="1"/>
          <p:nvPr/>
        </p:nvSpPr>
        <p:spPr>
          <a:xfrm>
            <a:off x="6766560" y="3264408"/>
            <a:ext cx="1828800" cy="384048"/>
          </a:xfrm>
          <a:prstGeom prst="rect">
            <a:avLst/>
          </a:prstGeom>
          <a:noFill/>
          <a:ln/>
        </p:spPr>
        <p:txBody>
          <a:bodyPr wrap="square" lIns="0" tIns="0" rIns="0" bIns="0" rtlCol="0" anchor="ctr"/>
          <a:lstStyle/>
          <a:p>
            <a:pPr indent="0" marL="0">
              <a:buNone/>
            </a:pPr>
            <a:r>
              <a:rPr lang="en-US" sz="1600" b="1" dirty="0">
                <a:solidFill>
                  <a:schemeClr val="tx1"/>
                </a:solidFill>
              </a:rPr>
              <a:t>Launch vehicle</a:t>
            </a:r>
            <a:endParaRPr lang="en-US" sz="1600" dirty="0"/>
          </a:p>
        </p:txBody>
      </p:sp>
      <p:sp>
        <p:nvSpPr>
          <p:cNvPr id="33" name="Text 25"/>
          <p:cNvSpPr txBox="1"/>
          <p:nvPr/>
        </p:nvSpPr>
        <p:spPr>
          <a:xfrm>
            <a:off x="6263640" y="3721608"/>
            <a:ext cx="2286000" cy="822960"/>
          </a:xfrm>
          <a:prstGeom prst="rect">
            <a:avLst/>
          </a:prstGeom>
          <a:noFill/>
          <a:ln/>
        </p:spPr>
        <p:txBody>
          <a:bodyPr wrap="square" lIns="0" tIns="0" rIns="0" bIns="0" rtlCol="0" anchor="t"/>
          <a:lstStyle/>
          <a:p>
            <a:pPr indent="0" marL="0">
              <a:buNone/>
            </a:pPr>
            <a:r>
              <a:rPr lang="en-US" sz="1300" dirty="0">
                <a:solidFill>
                  <a:schemeClr val="tx2"/>
                </a:solidFill>
              </a:rPr>
              <a:t>Atlas V 551 rocket from Cape Canaveral, Florida</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9B8D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label"/>
          <p:cNvSpPr txBox="1"/>
          <p:nvPr/>
        </p:nvSpPr>
        <p:spPr>
          <a:xfrm>
            <a:off x="457200" y="256032"/>
            <a:ext cx="5486400" cy="246888"/>
          </a:xfrm>
          <a:prstGeom prst="rect">
            <a:avLst/>
          </a:prstGeom>
          <a:noFill/>
          <a:ln/>
        </p:spPr>
        <p:txBody>
          <a:bodyPr wrap="square" lIns="0" tIns="0" rIns="0" bIns="0" rtlCol="0" anchor="ctr"/>
          <a:lstStyle/>
          <a:p>
            <a:pPr indent="0" marL="0">
              <a:buNone/>
            </a:pPr>
            <a:r>
              <a:rPr lang="en-US" sz="1200" b="1" spc="300" kern="0" dirty="0">
                <a:solidFill>
                  <a:schemeClr val="accent1"/>
                </a:solidFill>
              </a:rPr>
              <a:t>BACKGROUND</a:t>
            </a:r>
            <a:endParaRPr lang="en-US" sz="1200" dirty="0"/>
          </a:p>
        </p:txBody>
      </p:sp>
      <p:sp>
        <p:nvSpPr>
          <p:cNvPr id="3" name="Text 0"/>
          <p:cNvSpPr/>
          <p:nvPr>
            <p:ph idx="100" type="title" hasCustomPrompt="1"/>
          </p:nvPr>
        </p:nvSpPr>
        <p:spPr>
          <a:xfrm>
            <a:off x="457200" y="502920"/>
            <a:ext cx="8229600" cy="1005840"/>
          </a:xfrm>
          <a:prstGeom prst="rect">
            <a:avLst/>
          </a:prstGeom>
          <a:noFill/>
          <a:ln/>
        </p:spPr>
        <p:txBody>
          <a:bodyPr wrap="square" lIns="0" tIns="0" rIns="0" bIns="0" rtlCol="0" anchor="t"/>
          <a:lstStyle/>
          <a:p>
            <a:pPr algn="l" indent="0" marL="0">
              <a:buNone/>
            </a:pPr>
            <a:r>
              <a:rPr lang="en-US" sz="3200" b="1" dirty="0">
                <a:solidFill>
                  <a:schemeClr val="tx1"/>
                </a:solidFill>
              </a:rPr>
              <a:t>Pluto lost its planet status seven months after launch</a:t>
            </a:r>
            <a:endParaRPr lang="en-US" sz="3200" dirty="0"/>
          </a:p>
        </p:txBody>
      </p:sp>
      <p:sp>
        <p:nvSpPr>
          <p:cNvPr id="4" name="Timeline axis"/>
          <p:cNvSpPr/>
          <p:nvPr/>
        </p:nvSpPr>
        <p:spPr>
          <a:xfrm>
            <a:off x="1143000" y="2148840"/>
            <a:ext cx="6858000" cy="0"/>
          </a:xfrm>
          <a:prstGeom prst="line">
            <a:avLst/>
          </a:prstGeom>
          <a:noFill/>
          <a:ln w="25400">
            <a:solidFill>
              <a:srgbClr val="A9B8D6"/>
            </a:solidFill>
            <a:prstDash val="solid"/>
          </a:ln>
        </p:spPr>
      </p:sp>
      <p:sp>
        <p:nvSpPr>
          <p:cNvPr id="5" name="Timeline node"/>
          <p:cNvSpPr/>
          <p:nvPr/>
        </p:nvSpPr>
        <p:spPr>
          <a:xfrm>
            <a:off x="1024128" y="2029968"/>
            <a:ext cx="237744" cy="237744"/>
          </a:xfrm>
          <a:prstGeom prst="ellipse">
            <a:avLst/>
          </a:prstGeom>
          <a:solidFill>
            <a:schemeClr val="accent1"/>
          </a:solidFill>
          <a:ln w="25400">
            <a:solidFill>
              <a:srgbClr val="0B1026"/>
            </a:solidFill>
            <a:prstDash val="solid"/>
          </a:ln>
        </p:spPr>
      </p:sp>
      <p:sp>
        <p:nvSpPr>
          <p:cNvPr id="6" name="Text 4"/>
          <p:cNvSpPr txBox="1"/>
          <p:nvPr/>
        </p:nvSpPr>
        <p:spPr>
          <a:xfrm>
            <a:off x="484632" y="1645920"/>
            <a:ext cx="1316736" cy="274320"/>
          </a:xfrm>
          <a:prstGeom prst="rect">
            <a:avLst/>
          </a:prstGeom>
          <a:noFill/>
          <a:ln/>
        </p:spPr>
        <p:txBody>
          <a:bodyPr wrap="square" lIns="0" tIns="0" rIns="0" bIns="0" rtlCol="0" anchor="t"/>
          <a:lstStyle/>
          <a:p>
            <a:pPr algn="ctr" indent="0" marL="0">
              <a:buNone/>
            </a:pPr>
            <a:r>
              <a:rPr lang="en-US" sz="1400" b="1" dirty="0">
                <a:solidFill>
                  <a:schemeClr val="accent1"/>
                </a:solidFill>
              </a:rPr>
              <a:t>Nov 2001</a:t>
            </a:r>
            <a:endParaRPr lang="en-US" sz="1400" dirty="0"/>
          </a:p>
        </p:txBody>
      </p:sp>
      <p:sp>
        <p:nvSpPr>
          <p:cNvPr id="7" name="Text 5"/>
          <p:cNvSpPr txBox="1"/>
          <p:nvPr/>
        </p:nvSpPr>
        <p:spPr>
          <a:xfrm>
            <a:off x="484632" y="2423160"/>
            <a:ext cx="1316736" cy="868680"/>
          </a:xfrm>
          <a:prstGeom prst="rect">
            <a:avLst/>
          </a:prstGeom>
          <a:noFill/>
          <a:ln/>
        </p:spPr>
        <p:txBody>
          <a:bodyPr wrap="square" lIns="0" tIns="0" rIns="0" bIns="0" rtlCol="0" anchor="t"/>
          <a:lstStyle/>
          <a:p>
            <a:pPr algn="ctr" indent="0" marL="0">
              <a:buNone/>
            </a:pPr>
            <a:r>
              <a:rPr lang="en-US" sz="1300" dirty="0">
                <a:solidFill>
                  <a:schemeClr val="tx1"/>
                </a:solidFill>
              </a:rPr>
              <a:t>NASA selects New Horizons</a:t>
            </a:r>
            <a:endParaRPr lang="en-US" sz="1300" dirty="0"/>
          </a:p>
        </p:txBody>
      </p:sp>
      <p:sp>
        <p:nvSpPr>
          <p:cNvPr id="8" name="Timeline node"/>
          <p:cNvSpPr/>
          <p:nvPr/>
        </p:nvSpPr>
        <p:spPr>
          <a:xfrm>
            <a:off x="2395728" y="2029968"/>
            <a:ext cx="237744" cy="237744"/>
          </a:xfrm>
          <a:prstGeom prst="ellipse">
            <a:avLst/>
          </a:prstGeom>
          <a:solidFill>
            <a:schemeClr val="accent1"/>
          </a:solidFill>
          <a:ln w="25400">
            <a:solidFill>
              <a:srgbClr val="0B1026"/>
            </a:solidFill>
            <a:prstDash val="solid"/>
          </a:ln>
        </p:spPr>
      </p:sp>
      <p:sp>
        <p:nvSpPr>
          <p:cNvPr id="9" name="Text 7"/>
          <p:cNvSpPr txBox="1"/>
          <p:nvPr/>
        </p:nvSpPr>
        <p:spPr>
          <a:xfrm>
            <a:off x="1856232" y="1645920"/>
            <a:ext cx="1316736" cy="274320"/>
          </a:xfrm>
          <a:prstGeom prst="rect">
            <a:avLst/>
          </a:prstGeom>
          <a:noFill/>
          <a:ln/>
        </p:spPr>
        <p:txBody>
          <a:bodyPr wrap="square" lIns="0" tIns="0" rIns="0" bIns="0" rtlCol="0" anchor="t"/>
          <a:lstStyle/>
          <a:p>
            <a:pPr algn="ctr" indent="0" marL="0">
              <a:buNone/>
            </a:pPr>
            <a:r>
              <a:rPr lang="en-US" sz="1400" b="1" dirty="0">
                <a:solidFill>
                  <a:schemeClr val="accent1"/>
                </a:solidFill>
              </a:rPr>
              <a:t>2005</a:t>
            </a:r>
            <a:endParaRPr lang="en-US" sz="1400" dirty="0"/>
          </a:p>
        </p:txBody>
      </p:sp>
      <p:sp>
        <p:nvSpPr>
          <p:cNvPr id="10" name="Text 8"/>
          <p:cNvSpPr txBox="1"/>
          <p:nvPr/>
        </p:nvSpPr>
        <p:spPr>
          <a:xfrm>
            <a:off x="1856232" y="2423160"/>
            <a:ext cx="1316736" cy="868680"/>
          </a:xfrm>
          <a:prstGeom prst="rect">
            <a:avLst/>
          </a:prstGeom>
          <a:noFill/>
          <a:ln/>
        </p:spPr>
        <p:txBody>
          <a:bodyPr wrap="square" lIns="0" tIns="0" rIns="0" bIns="0" rtlCol="0" anchor="t"/>
          <a:lstStyle/>
          <a:p>
            <a:pPr algn="ctr" indent="0" marL="0">
              <a:buNone/>
            </a:pPr>
            <a:r>
              <a:rPr lang="en-US" sz="1300" dirty="0">
                <a:solidFill>
                  <a:schemeClr val="tx1"/>
                </a:solidFill>
              </a:rPr>
              <a:t>Hubble finds moons Nix and Hydra</a:t>
            </a:r>
            <a:endParaRPr lang="en-US" sz="1300" dirty="0"/>
          </a:p>
        </p:txBody>
      </p:sp>
      <p:sp>
        <p:nvSpPr>
          <p:cNvPr id="11" name="Timeline node"/>
          <p:cNvSpPr/>
          <p:nvPr/>
        </p:nvSpPr>
        <p:spPr>
          <a:xfrm>
            <a:off x="3767328" y="2029968"/>
            <a:ext cx="237744" cy="237744"/>
          </a:xfrm>
          <a:prstGeom prst="ellipse">
            <a:avLst/>
          </a:prstGeom>
          <a:solidFill>
            <a:schemeClr val="accent1"/>
          </a:solidFill>
          <a:ln w="25400">
            <a:solidFill>
              <a:srgbClr val="0B1026"/>
            </a:solidFill>
            <a:prstDash val="solid"/>
          </a:ln>
        </p:spPr>
      </p:sp>
      <p:sp>
        <p:nvSpPr>
          <p:cNvPr id="12" name="Text 10"/>
          <p:cNvSpPr txBox="1"/>
          <p:nvPr/>
        </p:nvSpPr>
        <p:spPr>
          <a:xfrm>
            <a:off x="3227832" y="1645920"/>
            <a:ext cx="1316736" cy="274320"/>
          </a:xfrm>
          <a:prstGeom prst="rect">
            <a:avLst/>
          </a:prstGeom>
          <a:noFill/>
          <a:ln/>
        </p:spPr>
        <p:txBody>
          <a:bodyPr wrap="square" lIns="0" tIns="0" rIns="0" bIns="0" rtlCol="0" anchor="t"/>
          <a:lstStyle/>
          <a:p>
            <a:pPr algn="ctr" indent="0" marL="0">
              <a:buNone/>
            </a:pPr>
            <a:r>
              <a:rPr lang="en-US" sz="1400" b="1" dirty="0">
                <a:solidFill>
                  <a:schemeClr val="accent1"/>
                </a:solidFill>
              </a:rPr>
              <a:t>Jan 2006</a:t>
            </a:r>
            <a:endParaRPr lang="en-US" sz="1400" dirty="0"/>
          </a:p>
        </p:txBody>
      </p:sp>
      <p:sp>
        <p:nvSpPr>
          <p:cNvPr id="13" name="Text 11"/>
          <p:cNvSpPr txBox="1"/>
          <p:nvPr/>
        </p:nvSpPr>
        <p:spPr>
          <a:xfrm>
            <a:off x="3227832" y="2423160"/>
            <a:ext cx="1316736" cy="868680"/>
          </a:xfrm>
          <a:prstGeom prst="rect">
            <a:avLst/>
          </a:prstGeom>
          <a:noFill/>
          <a:ln/>
        </p:spPr>
        <p:txBody>
          <a:bodyPr wrap="square" lIns="0" tIns="0" rIns="0" bIns="0" rtlCol="0" anchor="t"/>
          <a:lstStyle/>
          <a:p>
            <a:pPr algn="ctr" indent="0" marL="0">
              <a:buNone/>
            </a:pPr>
            <a:r>
              <a:rPr lang="en-US" sz="1300" dirty="0">
                <a:solidFill>
                  <a:schemeClr val="tx1"/>
                </a:solidFill>
              </a:rPr>
              <a:t>New Horizons launches</a:t>
            </a:r>
            <a:endParaRPr lang="en-US" sz="1300" dirty="0"/>
          </a:p>
        </p:txBody>
      </p:sp>
      <p:sp>
        <p:nvSpPr>
          <p:cNvPr id="14" name="Timeline node"/>
          <p:cNvSpPr/>
          <p:nvPr/>
        </p:nvSpPr>
        <p:spPr>
          <a:xfrm>
            <a:off x="5138928" y="2029968"/>
            <a:ext cx="237744" cy="237744"/>
          </a:xfrm>
          <a:prstGeom prst="ellipse">
            <a:avLst/>
          </a:prstGeom>
          <a:solidFill>
            <a:schemeClr val="accent3"/>
          </a:solidFill>
          <a:ln w="25400">
            <a:solidFill>
              <a:srgbClr val="0B1026"/>
            </a:solidFill>
            <a:prstDash val="solid"/>
          </a:ln>
        </p:spPr>
      </p:sp>
      <p:sp>
        <p:nvSpPr>
          <p:cNvPr id="15" name="Text 13"/>
          <p:cNvSpPr txBox="1"/>
          <p:nvPr/>
        </p:nvSpPr>
        <p:spPr>
          <a:xfrm>
            <a:off x="4599432" y="1645920"/>
            <a:ext cx="1316736" cy="274320"/>
          </a:xfrm>
          <a:prstGeom prst="rect">
            <a:avLst/>
          </a:prstGeom>
          <a:noFill/>
          <a:ln/>
        </p:spPr>
        <p:txBody>
          <a:bodyPr wrap="square" lIns="0" tIns="0" rIns="0" bIns="0" rtlCol="0" anchor="t"/>
          <a:lstStyle/>
          <a:p>
            <a:pPr algn="ctr" indent="0" marL="0">
              <a:buNone/>
            </a:pPr>
            <a:r>
              <a:rPr lang="en-US" sz="1400" b="1" dirty="0">
                <a:solidFill>
                  <a:schemeClr val="accent3"/>
                </a:solidFill>
              </a:rPr>
              <a:t>Aug 2006</a:t>
            </a:r>
            <a:endParaRPr lang="en-US" sz="1400" dirty="0"/>
          </a:p>
        </p:txBody>
      </p:sp>
      <p:sp>
        <p:nvSpPr>
          <p:cNvPr id="16" name="Text 14"/>
          <p:cNvSpPr txBox="1"/>
          <p:nvPr/>
        </p:nvSpPr>
        <p:spPr>
          <a:xfrm>
            <a:off x="4599432" y="2423160"/>
            <a:ext cx="1316736" cy="868680"/>
          </a:xfrm>
          <a:prstGeom prst="rect">
            <a:avLst/>
          </a:prstGeom>
          <a:noFill/>
          <a:ln/>
        </p:spPr>
        <p:txBody>
          <a:bodyPr wrap="square" lIns="0" tIns="0" rIns="0" bIns="0" rtlCol="0" anchor="t"/>
          <a:lstStyle/>
          <a:p>
            <a:pPr algn="ctr" indent="0" marL="0">
              <a:buNone/>
            </a:pPr>
            <a:r>
              <a:rPr lang="en-US" sz="1300" dirty="0">
                <a:solidFill>
                  <a:schemeClr val="tx1"/>
                </a:solidFill>
              </a:rPr>
              <a:t>IAU reclassifies Pluto as a dwarf planet</a:t>
            </a:r>
            <a:endParaRPr lang="en-US" sz="1300" dirty="0"/>
          </a:p>
        </p:txBody>
      </p:sp>
      <p:sp>
        <p:nvSpPr>
          <p:cNvPr id="17" name="Timeline node"/>
          <p:cNvSpPr/>
          <p:nvPr/>
        </p:nvSpPr>
        <p:spPr>
          <a:xfrm>
            <a:off x="6510528" y="2029968"/>
            <a:ext cx="237744" cy="237744"/>
          </a:xfrm>
          <a:prstGeom prst="ellipse">
            <a:avLst/>
          </a:prstGeom>
          <a:solidFill>
            <a:schemeClr val="accent1"/>
          </a:solidFill>
          <a:ln w="25400">
            <a:solidFill>
              <a:srgbClr val="0B1026"/>
            </a:solidFill>
            <a:prstDash val="solid"/>
          </a:ln>
        </p:spPr>
      </p:sp>
      <p:sp>
        <p:nvSpPr>
          <p:cNvPr id="18" name="Text 16"/>
          <p:cNvSpPr txBox="1"/>
          <p:nvPr/>
        </p:nvSpPr>
        <p:spPr>
          <a:xfrm>
            <a:off x="5971032" y="1645920"/>
            <a:ext cx="1316736" cy="274320"/>
          </a:xfrm>
          <a:prstGeom prst="rect">
            <a:avLst/>
          </a:prstGeom>
          <a:noFill/>
          <a:ln/>
        </p:spPr>
        <p:txBody>
          <a:bodyPr wrap="square" lIns="0" tIns="0" rIns="0" bIns="0" rtlCol="0" anchor="t"/>
          <a:lstStyle/>
          <a:p>
            <a:pPr algn="ctr" indent="0" marL="0">
              <a:buNone/>
            </a:pPr>
            <a:r>
              <a:rPr lang="en-US" sz="1400" b="1" dirty="0">
                <a:solidFill>
                  <a:schemeClr val="accent1"/>
                </a:solidFill>
              </a:rPr>
              <a:t>Feb 2007</a:t>
            </a:r>
            <a:endParaRPr lang="en-US" sz="1400" dirty="0"/>
          </a:p>
        </p:txBody>
      </p:sp>
      <p:sp>
        <p:nvSpPr>
          <p:cNvPr id="19" name="Text 17"/>
          <p:cNvSpPr txBox="1"/>
          <p:nvPr/>
        </p:nvSpPr>
        <p:spPr>
          <a:xfrm>
            <a:off x="5971032" y="2423160"/>
            <a:ext cx="1316736" cy="868680"/>
          </a:xfrm>
          <a:prstGeom prst="rect">
            <a:avLst/>
          </a:prstGeom>
          <a:noFill/>
          <a:ln/>
        </p:spPr>
        <p:txBody>
          <a:bodyPr wrap="square" lIns="0" tIns="0" rIns="0" bIns="0" rtlCol="0" anchor="t"/>
          <a:lstStyle/>
          <a:p>
            <a:pPr algn="ctr" indent="0" marL="0">
              <a:buNone/>
            </a:pPr>
            <a:r>
              <a:rPr lang="en-US" sz="1300" dirty="0">
                <a:solidFill>
                  <a:schemeClr val="tx1"/>
                </a:solidFill>
              </a:rPr>
              <a:t>Jupiter gravity assist</a:t>
            </a:r>
            <a:endParaRPr lang="en-US" sz="1300" dirty="0"/>
          </a:p>
        </p:txBody>
      </p:sp>
      <p:sp>
        <p:nvSpPr>
          <p:cNvPr id="20" name="Timeline node"/>
          <p:cNvSpPr/>
          <p:nvPr/>
        </p:nvSpPr>
        <p:spPr>
          <a:xfrm>
            <a:off x="7882128" y="2029968"/>
            <a:ext cx="237744" cy="237744"/>
          </a:xfrm>
          <a:prstGeom prst="ellipse">
            <a:avLst/>
          </a:prstGeom>
          <a:solidFill>
            <a:schemeClr val="accent1"/>
          </a:solidFill>
          <a:ln w="25400">
            <a:solidFill>
              <a:srgbClr val="0B1026"/>
            </a:solidFill>
            <a:prstDash val="solid"/>
          </a:ln>
        </p:spPr>
      </p:sp>
      <p:sp>
        <p:nvSpPr>
          <p:cNvPr id="21" name="Text 19"/>
          <p:cNvSpPr txBox="1"/>
          <p:nvPr/>
        </p:nvSpPr>
        <p:spPr>
          <a:xfrm>
            <a:off x="7342632" y="1645920"/>
            <a:ext cx="1316736" cy="274320"/>
          </a:xfrm>
          <a:prstGeom prst="rect">
            <a:avLst/>
          </a:prstGeom>
          <a:noFill/>
          <a:ln/>
        </p:spPr>
        <p:txBody>
          <a:bodyPr wrap="square" lIns="0" tIns="0" rIns="0" bIns="0" rtlCol="0" anchor="t"/>
          <a:lstStyle/>
          <a:p>
            <a:pPr algn="ctr" indent="0" marL="0">
              <a:buNone/>
            </a:pPr>
            <a:r>
              <a:rPr lang="en-US" sz="1400" b="1" dirty="0">
                <a:solidFill>
                  <a:schemeClr val="accent1"/>
                </a:solidFill>
              </a:rPr>
              <a:t>Jul 2015</a:t>
            </a:r>
            <a:endParaRPr lang="en-US" sz="1400" dirty="0"/>
          </a:p>
        </p:txBody>
      </p:sp>
      <p:sp>
        <p:nvSpPr>
          <p:cNvPr id="22" name="Text 20"/>
          <p:cNvSpPr txBox="1"/>
          <p:nvPr/>
        </p:nvSpPr>
        <p:spPr>
          <a:xfrm>
            <a:off x="7342632" y="2423160"/>
            <a:ext cx="1316736" cy="868680"/>
          </a:xfrm>
          <a:prstGeom prst="rect">
            <a:avLst/>
          </a:prstGeom>
          <a:noFill/>
          <a:ln/>
        </p:spPr>
        <p:txBody>
          <a:bodyPr wrap="square" lIns="0" tIns="0" rIns="0" bIns="0" rtlCol="0" anchor="t"/>
          <a:lstStyle/>
          <a:p>
            <a:pPr algn="ctr" indent="0" marL="0">
              <a:buNone/>
            </a:pPr>
            <a:r>
              <a:rPr lang="en-US" sz="1300" dirty="0">
                <a:solidFill>
                  <a:schemeClr val="tx1"/>
                </a:solidFill>
              </a:rPr>
              <a:t>Pluto flyby</a:t>
            </a:r>
            <a:endParaRPr lang="en-US" sz="1300" dirty="0"/>
          </a:p>
        </p:txBody>
      </p:sp>
      <p:sp>
        <p:nvSpPr>
          <p:cNvPr id="23" name="Callout card"/>
          <p:cNvSpPr/>
          <p:nvPr/>
        </p:nvSpPr>
        <p:spPr>
          <a:xfrm>
            <a:off x="457200" y="3520440"/>
            <a:ext cx="8229600" cy="1051560"/>
          </a:xfrm>
          <a:prstGeom prst="roundRect">
            <a:avLst>
              <a:gd name="adj" fmla="val 6957"/>
            </a:avLst>
          </a:prstGeom>
          <a:solidFill>
            <a:schemeClr val="bg2"/>
          </a:solidFill>
          <a:ln w="12700">
            <a:solidFill>
              <a:schemeClr val="bg2"/>
            </a:solidFill>
            <a:prstDash val="solid"/>
          </a:ln>
        </p:spPr>
      </p:sp>
      <p:sp>
        <p:nvSpPr>
          <p:cNvPr id="24" name="Text 22"/>
          <p:cNvSpPr txBox="1"/>
          <p:nvPr/>
        </p:nvSpPr>
        <p:spPr>
          <a:xfrm>
            <a:off x="685800" y="3611880"/>
            <a:ext cx="7772400" cy="868680"/>
          </a:xfrm>
          <a:prstGeom prst="rect">
            <a:avLst/>
          </a:prstGeom>
          <a:noFill/>
          <a:ln/>
        </p:spPr>
        <p:txBody>
          <a:bodyPr wrap="square" lIns="0" tIns="0" rIns="0" bIns="0" rtlCol="0" anchor="ctr"/>
          <a:lstStyle/>
          <a:p>
            <a:pPr indent="0" marL="0">
              <a:buNone/>
            </a:pPr>
            <a:r>
              <a:rPr lang="en-US" sz="1600" dirty="0">
                <a:solidFill>
                  <a:schemeClr val="tx1"/>
                </a:solidFill>
              </a:rPr>
              <a:t>The mission changed category while already in flight, but its science plan did not change. Pluto and its five moons were still the target.</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9B8D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label"/>
          <p:cNvSpPr txBox="1"/>
          <p:nvPr/>
        </p:nvSpPr>
        <p:spPr>
          <a:xfrm>
            <a:off x="457200" y="256032"/>
            <a:ext cx="5486400" cy="246888"/>
          </a:xfrm>
          <a:prstGeom prst="rect">
            <a:avLst/>
          </a:prstGeom>
          <a:noFill/>
          <a:ln/>
        </p:spPr>
        <p:txBody>
          <a:bodyPr wrap="square" lIns="0" tIns="0" rIns="0" bIns="0" rtlCol="0" anchor="ctr"/>
          <a:lstStyle/>
          <a:p>
            <a:pPr indent="0" marL="0">
              <a:buNone/>
            </a:pPr>
            <a:r>
              <a:rPr lang="en-US" sz="1200" b="1" spc="300" kern="0" dirty="0">
                <a:solidFill>
                  <a:schemeClr val="accent1"/>
                </a:solidFill>
              </a:rPr>
              <a:t>BACKGROUND</a:t>
            </a:r>
            <a:endParaRPr lang="en-US" sz="1200" dirty="0"/>
          </a:p>
        </p:txBody>
      </p:sp>
      <p:sp>
        <p:nvSpPr>
          <p:cNvPr id="3" name="Text 0"/>
          <p:cNvSpPr/>
          <p:nvPr>
            <p:ph idx="100" type="title" hasCustomPrompt="1"/>
          </p:nvPr>
        </p:nvSpPr>
        <p:spPr>
          <a:xfrm>
            <a:off x="457200" y="502920"/>
            <a:ext cx="8229600" cy="1005840"/>
          </a:xfrm>
          <a:prstGeom prst="rect">
            <a:avLst/>
          </a:prstGeom>
          <a:noFill/>
          <a:ln/>
        </p:spPr>
        <p:txBody>
          <a:bodyPr wrap="square" lIns="0" tIns="0" rIns="0" bIns="0" rtlCol="0" anchor="t"/>
          <a:lstStyle/>
          <a:p>
            <a:pPr algn="l" indent="0" marL="0">
              <a:buNone/>
            </a:pPr>
            <a:r>
              <a:rPr lang="en-US" sz="3200" b="1" dirty="0">
                <a:solidFill>
                  <a:schemeClr val="tx1"/>
                </a:solidFill>
              </a:rPr>
              <a:t>Pluto was the last world of the old nine planets left unexplored</a:t>
            </a:r>
            <a:endParaRPr lang="en-US" sz="3200" dirty="0"/>
          </a:p>
        </p:txBody>
      </p:sp>
      <p:sp>
        <p:nvSpPr>
          <p:cNvPr id="4" name="Reason card"/>
          <p:cNvSpPr/>
          <p:nvPr/>
        </p:nvSpPr>
        <p:spPr>
          <a:xfrm>
            <a:off x="457200" y="1600200"/>
            <a:ext cx="4023360" cy="1417320"/>
          </a:xfrm>
          <a:prstGeom prst="roundRect">
            <a:avLst>
              <a:gd name="adj" fmla="val 5161"/>
            </a:avLst>
          </a:prstGeom>
          <a:solidFill>
            <a:schemeClr val="bg2"/>
          </a:solidFill>
          <a:ln w="12700">
            <a:solidFill>
              <a:schemeClr val="bg2"/>
            </a:solidFill>
            <a:prstDash val="solid"/>
          </a:ln>
        </p:spPr>
      </p:sp>
      <p:sp>
        <p:nvSpPr>
          <p:cNvPr id="5" name="Icon badge"/>
          <p:cNvSpPr/>
          <p:nvPr/>
        </p:nvSpPr>
        <p:spPr>
          <a:xfrm>
            <a:off x="640080" y="1783080"/>
            <a:ext cx="502920" cy="502920"/>
          </a:xfrm>
          <a:prstGeom prst="ellipse">
            <a:avLst/>
          </a:prstGeom>
          <a:solidFill>
            <a:schemeClr val="accent1"/>
          </a:solidFill>
          <a:ln w="12700">
            <a:solidFill>
              <a:schemeClr val="accent1"/>
            </a:solidFill>
            <a:prstDash val="solid"/>
          </a:ln>
        </p:spPr>
      </p:sp>
      <p:pic>
        <p:nvPicPr>
          <p:cNvPr id="6" name="Image 0" descr="icon">    </p:cNvPr>
          <p:cNvPicPr>
            <a:picLocks noChangeAspect="1"/>
          </p:cNvPicPr>
          <p:nvPr/>
        </p:nvPicPr>
        <p:blipFill>
          <a:blip r:embed="rId1"/>
          <a:stretch>
            <a:fillRect/>
          </a:stretch>
        </p:blipFill>
        <p:spPr>
          <a:xfrm>
            <a:off x="765810" y="1908810"/>
            <a:ext cx="251460" cy="251460"/>
          </a:xfrm>
          <a:prstGeom prst="rect">
            <a:avLst/>
          </a:prstGeom>
        </p:spPr>
      </p:pic>
      <p:sp>
        <p:nvSpPr>
          <p:cNvPr id="7" name="Text 4"/>
          <p:cNvSpPr txBox="1"/>
          <p:nvPr/>
        </p:nvSpPr>
        <p:spPr>
          <a:xfrm>
            <a:off x="1325880" y="1737360"/>
            <a:ext cx="3017520" cy="320040"/>
          </a:xfrm>
          <a:prstGeom prst="rect">
            <a:avLst/>
          </a:prstGeom>
          <a:noFill/>
          <a:ln/>
        </p:spPr>
        <p:txBody>
          <a:bodyPr wrap="square" lIns="0" tIns="0" rIns="0" bIns="0" rtlCol="0" anchor="t"/>
          <a:lstStyle/>
          <a:p>
            <a:pPr indent="0" marL="0">
              <a:buNone/>
            </a:pPr>
            <a:r>
              <a:rPr lang="en-US" sz="1800" b="1" dirty="0">
                <a:solidFill>
                  <a:schemeClr val="tx1"/>
                </a:solidFill>
              </a:rPr>
              <a:t>Total unknown</a:t>
            </a:r>
            <a:endParaRPr lang="en-US" sz="1800" dirty="0"/>
          </a:p>
        </p:txBody>
      </p:sp>
      <p:sp>
        <p:nvSpPr>
          <p:cNvPr id="8" name="Text 5"/>
          <p:cNvSpPr txBox="1"/>
          <p:nvPr/>
        </p:nvSpPr>
        <p:spPr>
          <a:xfrm>
            <a:off x="1325880" y="2103120"/>
            <a:ext cx="3017520" cy="868680"/>
          </a:xfrm>
          <a:prstGeom prst="rect">
            <a:avLst/>
          </a:prstGeom>
          <a:noFill/>
          <a:ln/>
        </p:spPr>
        <p:txBody>
          <a:bodyPr wrap="square" lIns="0" tIns="0" rIns="0" bIns="0" rtlCol="0" anchor="t"/>
          <a:lstStyle/>
          <a:p>
            <a:pPr indent="0" marL="0">
              <a:buNone/>
            </a:pPr>
            <a:r>
              <a:rPr lang="en-US" sz="1300" dirty="0">
                <a:solidFill>
                  <a:schemeClr val="tx2"/>
                </a:solidFill>
              </a:rPr>
              <a:t>Telescopes showed Pluto as a blurry dot. No one had seen its surface.</a:t>
            </a:r>
            <a:endParaRPr lang="en-US" sz="1300" dirty="0"/>
          </a:p>
        </p:txBody>
      </p:sp>
      <p:sp>
        <p:nvSpPr>
          <p:cNvPr id="9" name="Reason card"/>
          <p:cNvSpPr/>
          <p:nvPr/>
        </p:nvSpPr>
        <p:spPr>
          <a:xfrm>
            <a:off x="4663440" y="1600200"/>
            <a:ext cx="4023360" cy="1417320"/>
          </a:xfrm>
          <a:prstGeom prst="roundRect">
            <a:avLst>
              <a:gd name="adj" fmla="val 5161"/>
            </a:avLst>
          </a:prstGeom>
          <a:solidFill>
            <a:schemeClr val="bg2"/>
          </a:solidFill>
          <a:ln w="12700">
            <a:solidFill>
              <a:schemeClr val="bg2"/>
            </a:solidFill>
            <a:prstDash val="solid"/>
          </a:ln>
        </p:spPr>
      </p:sp>
      <p:sp>
        <p:nvSpPr>
          <p:cNvPr id="10" name="Icon badge"/>
          <p:cNvSpPr/>
          <p:nvPr/>
        </p:nvSpPr>
        <p:spPr>
          <a:xfrm>
            <a:off x="4846320" y="1783080"/>
            <a:ext cx="502920" cy="502920"/>
          </a:xfrm>
          <a:prstGeom prst="ellipse">
            <a:avLst/>
          </a:prstGeom>
          <a:solidFill>
            <a:schemeClr val="accent1"/>
          </a:solidFill>
          <a:ln w="12700">
            <a:solidFill>
              <a:schemeClr val="accent1"/>
            </a:solidFill>
            <a:prstDash val="solid"/>
          </a:ln>
        </p:spPr>
      </p:sp>
      <p:pic>
        <p:nvPicPr>
          <p:cNvPr id="11" name="Image 1" descr="icon">    </p:cNvPr>
          <p:cNvPicPr>
            <a:picLocks noChangeAspect="1"/>
          </p:cNvPicPr>
          <p:nvPr/>
        </p:nvPicPr>
        <p:blipFill>
          <a:blip r:embed="rId2"/>
          <a:stretch>
            <a:fillRect/>
          </a:stretch>
        </p:blipFill>
        <p:spPr>
          <a:xfrm>
            <a:off x="4972050" y="1908810"/>
            <a:ext cx="251460" cy="251460"/>
          </a:xfrm>
          <a:prstGeom prst="rect">
            <a:avLst/>
          </a:prstGeom>
        </p:spPr>
      </p:pic>
      <p:sp>
        <p:nvSpPr>
          <p:cNvPr id="12" name="Text 8"/>
          <p:cNvSpPr txBox="1"/>
          <p:nvPr/>
        </p:nvSpPr>
        <p:spPr>
          <a:xfrm>
            <a:off x="5532120" y="1737360"/>
            <a:ext cx="3017520" cy="320040"/>
          </a:xfrm>
          <a:prstGeom prst="rect">
            <a:avLst/>
          </a:prstGeom>
          <a:noFill/>
          <a:ln/>
        </p:spPr>
        <p:txBody>
          <a:bodyPr wrap="square" lIns="0" tIns="0" rIns="0" bIns="0" rtlCol="0" anchor="t"/>
          <a:lstStyle/>
          <a:p>
            <a:pPr indent="0" marL="0">
              <a:buNone/>
            </a:pPr>
            <a:r>
              <a:rPr lang="en-US" sz="1800" b="1" dirty="0">
                <a:solidFill>
                  <a:schemeClr val="tx1"/>
                </a:solidFill>
              </a:rPr>
              <a:t>Closing window</a:t>
            </a:r>
            <a:endParaRPr lang="en-US" sz="1800" dirty="0"/>
          </a:p>
        </p:txBody>
      </p:sp>
      <p:sp>
        <p:nvSpPr>
          <p:cNvPr id="13" name="Text 9"/>
          <p:cNvSpPr txBox="1"/>
          <p:nvPr/>
        </p:nvSpPr>
        <p:spPr>
          <a:xfrm>
            <a:off x="5532120" y="2103120"/>
            <a:ext cx="3017520" cy="868680"/>
          </a:xfrm>
          <a:prstGeom prst="rect">
            <a:avLst/>
          </a:prstGeom>
          <a:noFill/>
          <a:ln/>
        </p:spPr>
        <p:txBody>
          <a:bodyPr wrap="square" lIns="0" tIns="0" rIns="0" bIns="0" rtlCol="0" anchor="t"/>
          <a:lstStyle/>
          <a:p>
            <a:pPr indent="0" marL="0">
              <a:buNone/>
            </a:pPr>
            <a:r>
              <a:rPr lang="en-US" sz="1300" dirty="0">
                <a:solidFill>
                  <a:schemeClr val="tx2"/>
                </a:solidFill>
              </a:rPr>
              <a:t>Pluto was moving away from the Sun. Scientists feared its thin atmosphere would freeze out.</a:t>
            </a:r>
            <a:endParaRPr lang="en-US" sz="1300" dirty="0"/>
          </a:p>
        </p:txBody>
      </p:sp>
      <p:sp>
        <p:nvSpPr>
          <p:cNvPr id="14" name="Reason card"/>
          <p:cNvSpPr/>
          <p:nvPr/>
        </p:nvSpPr>
        <p:spPr>
          <a:xfrm>
            <a:off x="457200" y="3154680"/>
            <a:ext cx="4023360" cy="1417320"/>
          </a:xfrm>
          <a:prstGeom prst="roundRect">
            <a:avLst>
              <a:gd name="adj" fmla="val 5161"/>
            </a:avLst>
          </a:prstGeom>
          <a:solidFill>
            <a:schemeClr val="bg2"/>
          </a:solidFill>
          <a:ln w="12700">
            <a:solidFill>
              <a:schemeClr val="bg2"/>
            </a:solidFill>
            <a:prstDash val="solid"/>
          </a:ln>
        </p:spPr>
      </p:sp>
      <p:sp>
        <p:nvSpPr>
          <p:cNvPr id="15" name="Icon badge"/>
          <p:cNvSpPr/>
          <p:nvPr/>
        </p:nvSpPr>
        <p:spPr>
          <a:xfrm>
            <a:off x="640080" y="3337560"/>
            <a:ext cx="502920" cy="502920"/>
          </a:xfrm>
          <a:prstGeom prst="ellipse">
            <a:avLst/>
          </a:prstGeom>
          <a:solidFill>
            <a:schemeClr val="accent1"/>
          </a:solidFill>
          <a:ln w="12700">
            <a:solidFill>
              <a:schemeClr val="accent1"/>
            </a:solidFill>
            <a:prstDash val="solid"/>
          </a:ln>
        </p:spPr>
      </p:sp>
      <p:pic>
        <p:nvPicPr>
          <p:cNvPr id="16" name="Image 2" descr="icon">    </p:cNvPr>
          <p:cNvPicPr>
            <a:picLocks noChangeAspect="1"/>
          </p:cNvPicPr>
          <p:nvPr/>
        </p:nvPicPr>
        <p:blipFill>
          <a:blip r:embed="rId3"/>
          <a:stretch>
            <a:fillRect/>
          </a:stretch>
        </p:blipFill>
        <p:spPr>
          <a:xfrm>
            <a:off x="765810" y="3463290"/>
            <a:ext cx="251460" cy="251460"/>
          </a:xfrm>
          <a:prstGeom prst="rect">
            <a:avLst/>
          </a:prstGeom>
        </p:spPr>
      </p:pic>
      <p:sp>
        <p:nvSpPr>
          <p:cNvPr id="17" name="Text 12"/>
          <p:cNvSpPr txBox="1"/>
          <p:nvPr/>
        </p:nvSpPr>
        <p:spPr>
          <a:xfrm>
            <a:off x="1325880" y="3291840"/>
            <a:ext cx="3017520" cy="320040"/>
          </a:xfrm>
          <a:prstGeom prst="rect">
            <a:avLst/>
          </a:prstGeom>
          <a:noFill/>
          <a:ln/>
        </p:spPr>
        <p:txBody>
          <a:bodyPr wrap="square" lIns="0" tIns="0" rIns="0" bIns="0" rtlCol="0" anchor="t"/>
          <a:lstStyle/>
          <a:p>
            <a:pPr indent="0" marL="0">
              <a:buNone/>
            </a:pPr>
            <a:r>
              <a:rPr lang="en-US" sz="1800" b="1" dirty="0">
                <a:solidFill>
                  <a:schemeClr val="tx1"/>
                </a:solidFill>
              </a:rPr>
              <a:t>Kuiper Belt</a:t>
            </a:r>
            <a:endParaRPr lang="en-US" sz="1800" dirty="0"/>
          </a:p>
        </p:txBody>
      </p:sp>
      <p:sp>
        <p:nvSpPr>
          <p:cNvPr id="18" name="Text 13"/>
          <p:cNvSpPr txBox="1"/>
          <p:nvPr/>
        </p:nvSpPr>
        <p:spPr>
          <a:xfrm>
            <a:off x="1325880" y="3657600"/>
            <a:ext cx="3017520" cy="868680"/>
          </a:xfrm>
          <a:prstGeom prst="rect">
            <a:avLst/>
          </a:prstGeom>
          <a:noFill/>
          <a:ln/>
        </p:spPr>
        <p:txBody>
          <a:bodyPr wrap="square" lIns="0" tIns="0" rIns="0" bIns="0" rtlCol="0" anchor="t"/>
          <a:lstStyle/>
          <a:p>
            <a:pPr indent="0" marL="0">
              <a:buNone/>
            </a:pPr>
            <a:r>
              <a:rPr lang="en-US" sz="1300" dirty="0">
                <a:solidFill>
                  <a:schemeClr val="tx2"/>
                </a:solidFill>
              </a:rPr>
              <a:t>The belt of icy bodies was first found in 1992 and had never been visited.</a:t>
            </a:r>
            <a:endParaRPr lang="en-US" sz="1300" dirty="0"/>
          </a:p>
        </p:txBody>
      </p:sp>
      <p:sp>
        <p:nvSpPr>
          <p:cNvPr id="19" name="Reason card"/>
          <p:cNvSpPr/>
          <p:nvPr/>
        </p:nvSpPr>
        <p:spPr>
          <a:xfrm>
            <a:off x="4663440" y="3154680"/>
            <a:ext cx="4023360" cy="1417320"/>
          </a:xfrm>
          <a:prstGeom prst="roundRect">
            <a:avLst>
              <a:gd name="adj" fmla="val 5161"/>
            </a:avLst>
          </a:prstGeom>
          <a:solidFill>
            <a:schemeClr val="bg2"/>
          </a:solidFill>
          <a:ln w="12700">
            <a:solidFill>
              <a:schemeClr val="bg2"/>
            </a:solidFill>
            <a:prstDash val="solid"/>
          </a:ln>
        </p:spPr>
      </p:sp>
      <p:sp>
        <p:nvSpPr>
          <p:cNvPr id="20" name="Icon badge"/>
          <p:cNvSpPr/>
          <p:nvPr/>
        </p:nvSpPr>
        <p:spPr>
          <a:xfrm>
            <a:off x="4846320" y="3337560"/>
            <a:ext cx="502920" cy="502920"/>
          </a:xfrm>
          <a:prstGeom prst="ellipse">
            <a:avLst/>
          </a:prstGeom>
          <a:solidFill>
            <a:schemeClr val="accent1"/>
          </a:solidFill>
          <a:ln w="12700">
            <a:solidFill>
              <a:schemeClr val="accent1"/>
            </a:solidFill>
            <a:prstDash val="solid"/>
          </a:ln>
        </p:spPr>
      </p:sp>
      <p:pic>
        <p:nvPicPr>
          <p:cNvPr id="21" name="Image 3" descr="icon">    </p:cNvPr>
          <p:cNvPicPr>
            <a:picLocks noChangeAspect="1"/>
          </p:cNvPicPr>
          <p:nvPr/>
        </p:nvPicPr>
        <p:blipFill>
          <a:blip r:embed="rId4"/>
          <a:stretch>
            <a:fillRect/>
          </a:stretch>
        </p:blipFill>
        <p:spPr>
          <a:xfrm>
            <a:off x="4972050" y="3463290"/>
            <a:ext cx="251460" cy="251460"/>
          </a:xfrm>
          <a:prstGeom prst="rect">
            <a:avLst/>
          </a:prstGeom>
        </p:spPr>
      </p:pic>
      <p:sp>
        <p:nvSpPr>
          <p:cNvPr id="22" name="Text 16"/>
          <p:cNvSpPr txBox="1"/>
          <p:nvPr/>
        </p:nvSpPr>
        <p:spPr>
          <a:xfrm>
            <a:off x="5532120" y="3291840"/>
            <a:ext cx="3017520" cy="320040"/>
          </a:xfrm>
          <a:prstGeom prst="rect">
            <a:avLst/>
          </a:prstGeom>
          <a:noFill/>
          <a:ln/>
        </p:spPr>
        <p:txBody>
          <a:bodyPr wrap="square" lIns="0" tIns="0" rIns="0" bIns="0" rtlCol="0" anchor="t"/>
          <a:lstStyle/>
          <a:p>
            <a:pPr indent="0" marL="0">
              <a:buNone/>
            </a:pPr>
            <a:r>
              <a:rPr lang="en-US" sz="1800" b="1" dirty="0">
                <a:solidFill>
                  <a:schemeClr val="tx1"/>
                </a:solidFill>
              </a:rPr>
              <a:t>Science priority</a:t>
            </a:r>
            <a:endParaRPr lang="en-US" sz="1800" dirty="0"/>
          </a:p>
        </p:txBody>
      </p:sp>
      <p:sp>
        <p:nvSpPr>
          <p:cNvPr id="23" name="Text 17"/>
          <p:cNvSpPr txBox="1"/>
          <p:nvPr/>
        </p:nvSpPr>
        <p:spPr>
          <a:xfrm>
            <a:off x="5532120" y="3657600"/>
            <a:ext cx="3017520" cy="868680"/>
          </a:xfrm>
          <a:prstGeom prst="rect">
            <a:avLst/>
          </a:prstGeom>
          <a:noFill/>
          <a:ln/>
        </p:spPr>
        <p:txBody>
          <a:bodyPr wrap="square" lIns="0" tIns="0" rIns="0" bIns="0" rtlCol="0" anchor="t"/>
          <a:lstStyle/>
          <a:p>
            <a:pPr indent="0" marL="0">
              <a:buNone/>
            </a:pPr>
            <a:r>
              <a:rPr lang="en-US" sz="1300" dirty="0">
                <a:solidFill>
                  <a:schemeClr val="tx2"/>
                </a:solidFill>
              </a:rPr>
              <a:t>A 2003 US science survey ranked a Kuiper Belt mission as a top priority. A cheaper plan won funding after an earlier Pluto mission was cancelled in 2000.</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9B8D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label"/>
          <p:cNvSpPr txBox="1"/>
          <p:nvPr/>
        </p:nvSpPr>
        <p:spPr>
          <a:xfrm>
            <a:off x="457200" y="256032"/>
            <a:ext cx="5486400" cy="246888"/>
          </a:xfrm>
          <a:prstGeom prst="rect">
            <a:avLst/>
          </a:prstGeom>
          <a:noFill/>
          <a:ln/>
        </p:spPr>
        <p:txBody>
          <a:bodyPr wrap="square" lIns="0" tIns="0" rIns="0" bIns="0" rtlCol="0" anchor="ctr"/>
          <a:lstStyle/>
          <a:p>
            <a:pPr indent="0" marL="0">
              <a:buNone/>
            </a:pPr>
            <a:r>
              <a:rPr lang="en-US" sz="1200" b="1" spc="300" kern="0" dirty="0">
                <a:solidFill>
                  <a:schemeClr val="accent1"/>
                </a:solidFill>
              </a:rPr>
              <a:t>BACKGROUND</a:t>
            </a:r>
            <a:endParaRPr lang="en-US" sz="1200" dirty="0"/>
          </a:p>
        </p:txBody>
      </p:sp>
      <p:sp>
        <p:nvSpPr>
          <p:cNvPr id="3" name="Text 0"/>
          <p:cNvSpPr/>
          <p:nvPr>
            <p:ph idx="100" type="title" hasCustomPrompt="1"/>
          </p:nvPr>
        </p:nvSpPr>
        <p:spPr>
          <a:xfrm>
            <a:off x="457200" y="502920"/>
            <a:ext cx="8229600" cy="1005840"/>
          </a:xfrm>
          <a:prstGeom prst="rect">
            <a:avLst/>
          </a:prstGeom>
          <a:noFill/>
          <a:ln/>
        </p:spPr>
        <p:txBody>
          <a:bodyPr wrap="square" lIns="0" tIns="0" rIns="0" bIns="0" rtlCol="0" anchor="t"/>
          <a:lstStyle/>
          <a:p>
            <a:pPr algn="l" indent="0" marL="0">
              <a:buNone/>
            </a:pPr>
            <a:r>
              <a:rPr lang="en-US" sz="3200" b="1" dirty="0">
                <a:solidFill>
                  <a:schemeClr val="tx1"/>
                </a:solidFill>
              </a:rPr>
              <a:t>Five technologies made a 9.5-year trip to Pluto possible</a:t>
            </a:r>
            <a:endParaRPr lang="en-US" sz="3200" dirty="0"/>
          </a:p>
        </p:txBody>
      </p:sp>
      <p:sp>
        <p:nvSpPr>
          <p:cNvPr id="4" name="Tech row"/>
          <p:cNvSpPr/>
          <p:nvPr/>
        </p:nvSpPr>
        <p:spPr>
          <a:xfrm>
            <a:off x="457200" y="1600200"/>
            <a:ext cx="8229600" cy="521208"/>
          </a:xfrm>
          <a:prstGeom prst="roundRect">
            <a:avLst>
              <a:gd name="adj" fmla="val 14035"/>
            </a:avLst>
          </a:prstGeom>
          <a:solidFill>
            <a:schemeClr val="bg2"/>
          </a:solidFill>
          <a:ln w="12700">
            <a:solidFill>
              <a:schemeClr val="bg2"/>
            </a:solidFill>
            <a:prstDash val="solid"/>
          </a:ln>
        </p:spPr>
      </p:sp>
      <p:sp>
        <p:nvSpPr>
          <p:cNvPr id="5" name="Icon badge"/>
          <p:cNvSpPr/>
          <p:nvPr/>
        </p:nvSpPr>
        <p:spPr>
          <a:xfrm>
            <a:off x="566928" y="1655064"/>
            <a:ext cx="411480" cy="411480"/>
          </a:xfrm>
          <a:prstGeom prst="ellipse">
            <a:avLst/>
          </a:prstGeom>
          <a:solidFill>
            <a:schemeClr val="accent1"/>
          </a:solidFill>
          <a:ln w="12700">
            <a:solidFill>
              <a:schemeClr val="accent1"/>
            </a:solidFill>
            <a:prstDash val="solid"/>
          </a:ln>
        </p:spPr>
      </p:sp>
      <p:pic>
        <p:nvPicPr>
          <p:cNvPr id="6" name="Image 0" descr="icon">    </p:cNvPr>
          <p:cNvPicPr>
            <a:picLocks noChangeAspect="1"/>
          </p:cNvPicPr>
          <p:nvPr/>
        </p:nvPicPr>
        <p:blipFill>
          <a:blip r:embed="rId1"/>
          <a:stretch>
            <a:fillRect/>
          </a:stretch>
        </p:blipFill>
        <p:spPr>
          <a:xfrm>
            <a:off x="669798" y="1757934"/>
            <a:ext cx="205740" cy="205740"/>
          </a:xfrm>
          <a:prstGeom prst="rect">
            <a:avLst/>
          </a:prstGeom>
        </p:spPr>
      </p:pic>
      <p:sp>
        <p:nvSpPr>
          <p:cNvPr id="7" name="Text 4"/>
          <p:cNvSpPr txBox="1"/>
          <p:nvPr/>
        </p:nvSpPr>
        <p:spPr>
          <a:xfrm>
            <a:off x="1143000" y="1600200"/>
            <a:ext cx="2743200" cy="521208"/>
          </a:xfrm>
          <a:prstGeom prst="rect">
            <a:avLst/>
          </a:prstGeom>
          <a:noFill/>
          <a:ln/>
        </p:spPr>
        <p:txBody>
          <a:bodyPr wrap="square" lIns="0" tIns="0" rIns="0" bIns="0" rtlCol="0" anchor="ctr"/>
          <a:lstStyle/>
          <a:p>
            <a:pPr indent="0" marL="0">
              <a:buNone/>
            </a:pPr>
            <a:r>
              <a:rPr lang="en-US" sz="1500" b="1" dirty="0">
                <a:solidFill>
                  <a:schemeClr val="tx1"/>
                </a:solidFill>
              </a:rPr>
              <a:t>Plutonium power (RTG)</a:t>
            </a:r>
            <a:endParaRPr lang="en-US" sz="1500" dirty="0"/>
          </a:p>
        </p:txBody>
      </p:sp>
      <p:sp>
        <p:nvSpPr>
          <p:cNvPr id="8" name="Text 5"/>
          <p:cNvSpPr txBox="1"/>
          <p:nvPr/>
        </p:nvSpPr>
        <p:spPr>
          <a:xfrm>
            <a:off x="3931920" y="1600200"/>
            <a:ext cx="4663440" cy="521208"/>
          </a:xfrm>
          <a:prstGeom prst="rect">
            <a:avLst/>
          </a:prstGeom>
          <a:noFill/>
          <a:ln/>
        </p:spPr>
        <p:txBody>
          <a:bodyPr wrap="square" lIns="0" tIns="0" rIns="0" bIns="0" rtlCol="0" anchor="ctr"/>
          <a:lstStyle/>
          <a:p>
            <a:pPr indent="0" marL="0">
              <a:buNone/>
            </a:pPr>
            <a:r>
              <a:rPr lang="en-US" sz="1300" dirty="0">
                <a:solidFill>
                  <a:schemeClr val="tx2"/>
                </a:solidFill>
              </a:rPr>
              <a:t>Gives steady electricity where sunlight is about 1/1000 of Earth's</a:t>
            </a:r>
            <a:endParaRPr lang="en-US" sz="1300" dirty="0"/>
          </a:p>
        </p:txBody>
      </p:sp>
      <p:sp>
        <p:nvSpPr>
          <p:cNvPr id="9" name="Tech row"/>
          <p:cNvSpPr/>
          <p:nvPr/>
        </p:nvSpPr>
        <p:spPr>
          <a:xfrm>
            <a:off x="457200" y="2212848"/>
            <a:ext cx="8229600" cy="521208"/>
          </a:xfrm>
          <a:prstGeom prst="roundRect">
            <a:avLst>
              <a:gd name="adj" fmla="val 14035"/>
            </a:avLst>
          </a:prstGeom>
          <a:solidFill>
            <a:schemeClr val="bg2"/>
          </a:solidFill>
          <a:ln w="12700">
            <a:solidFill>
              <a:schemeClr val="bg2"/>
            </a:solidFill>
            <a:prstDash val="solid"/>
          </a:ln>
        </p:spPr>
      </p:sp>
      <p:sp>
        <p:nvSpPr>
          <p:cNvPr id="10" name="Icon badge"/>
          <p:cNvSpPr/>
          <p:nvPr/>
        </p:nvSpPr>
        <p:spPr>
          <a:xfrm>
            <a:off x="566928" y="2267712"/>
            <a:ext cx="411480" cy="411480"/>
          </a:xfrm>
          <a:prstGeom prst="ellipse">
            <a:avLst/>
          </a:prstGeom>
          <a:solidFill>
            <a:schemeClr val="accent1"/>
          </a:solidFill>
          <a:ln w="12700">
            <a:solidFill>
              <a:schemeClr val="accent1"/>
            </a:solidFill>
            <a:prstDash val="solid"/>
          </a:ln>
        </p:spPr>
      </p:sp>
      <p:pic>
        <p:nvPicPr>
          <p:cNvPr id="11" name="Image 1" descr="icon">    </p:cNvPr>
          <p:cNvPicPr>
            <a:picLocks noChangeAspect="1"/>
          </p:cNvPicPr>
          <p:nvPr/>
        </p:nvPicPr>
        <p:blipFill>
          <a:blip r:embed="rId2"/>
          <a:stretch>
            <a:fillRect/>
          </a:stretch>
        </p:blipFill>
        <p:spPr>
          <a:xfrm>
            <a:off x="669798" y="2370582"/>
            <a:ext cx="205740" cy="205740"/>
          </a:xfrm>
          <a:prstGeom prst="rect">
            <a:avLst/>
          </a:prstGeom>
        </p:spPr>
      </p:pic>
      <p:sp>
        <p:nvSpPr>
          <p:cNvPr id="12" name="Text 8"/>
          <p:cNvSpPr txBox="1"/>
          <p:nvPr/>
        </p:nvSpPr>
        <p:spPr>
          <a:xfrm>
            <a:off x="1143000" y="2212848"/>
            <a:ext cx="2743200" cy="521208"/>
          </a:xfrm>
          <a:prstGeom prst="rect">
            <a:avLst/>
          </a:prstGeom>
          <a:noFill/>
          <a:ln/>
        </p:spPr>
        <p:txBody>
          <a:bodyPr wrap="square" lIns="0" tIns="0" rIns="0" bIns="0" rtlCol="0" anchor="ctr"/>
          <a:lstStyle/>
          <a:p>
            <a:pPr indent="0" marL="0">
              <a:buNone/>
            </a:pPr>
            <a:r>
              <a:rPr lang="en-US" sz="1500" b="1" dirty="0">
                <a:solidFill>
                  <a:schemeClr val="tx1"/>
                </a:solidFill>
              </a:rPr>
              <a:t>Atlas V 551 rocket</a:t>
            </a:r>
            <a:endParaRPr lang="en-US" sz="1500" dirty="0"/>
          </a:p>
        </p:txBody>
      </p:sp>
      <p:sp>
        <p:nvSpPr>
          <p:cNvPr id="13" name="Text 9"/>
          <p:cNvSpPr txBox="1"/>
          <p:nvPr/>
        </p:nvSpPr>
        <p:spPr>
          <a:xfrm>
            <a:off x="3931920" y="2212848"/>
            <a:ext cx="4663440" cy="521208"/>
          </a:xfrm>
          <a:prstGeom prst="rect">
            <a:avLst/>
          </a:prstGeom>
          <a:noFill/>
          <a:ln/>
        </p:spPr>
        <p:txBody>
          <a:bodyPr wrap="square" lIns="0" tIns="0" rIns="0" bIns="0" rtlCol="0" anchor="ctr"/>
          <a:lstStyle/>
          <a:p>
            <a:pPr indent="0" marL="0">
              <a:buNone/>
            </a:pPr>
            <a:r>
              <a:rPr lang="en-US" sz="1300" dirty="0">
                <a:solidFill>
                  <a:schemeClr val="tx2"/>
                </a:solidFill>
              </a:rPr>
              <a:t>Launched at about 58,000 km/h, the fastest launch of any spacecraft to that date</a:t>
            </a:r>
            <a:endParaRPr lang="en-US" sz="1300" dirty="0"/>
          </a:p>
        </p:txBody>
      </p:sp>
      <p:sp>
        <p:nvSpPr>
          <p:cNvPr id="14" name="Tech row"/>
          <p:cNvSpPr/>
          <p:nvPr/>
        </p:nvSpPr>
        <p:spPr>
          <a:xfrm>
            <a:off x="457200" y="2825496"/>
            <a:ext cx="8229600" cy="521208"/>
          </a:xfrm>
          <a:prstGeom prst="roundRect">
            <a:avLst>
              <a:gd name="adj" fmla="val 14035"/>
            </a:avLst>
          </a:prstGeom>
          <a:solidFill>
            <a:schemeClr val="bg2"/>
          </a:solidFill>
          <a:ln w="12700">
            <a:solidFill>
              <a:schemeClr val="bg2"/>
            </a:solidFill>
            <a:prstDash val="solid"/>
          </a:ln>
        </p:spPr>
      </p:sp>
      <p:sp>
        <p:nvSpPr>
          <p:cNvPr id="15" name="Icon badge"/>
          <p:cNvSpPr/>
          <p:nvPr/>
        </p:nvSpPr>
        <p:spPr>
          <a:xfrm>
            <a:off x="566928" y="2880360"/>
            <a:ext cx="411480" cy="411480"/>
          </a:xfrm>
          <a:prstGeom prst="ellipse">
            <a:avLst/>
          </a:prstGeom>
          <a:solidFill>
            <a:schemeClr val="accent1"/>
          </a:solidFill>
          <a:ln w="12700">
            <a:solidFill>
              <a:schemeClr val="accent1"/>
            </a:solidFill>
            <a:prstDash val="solid"/>
          </a:ln>
        </p:spPr>
      </p:sp>
      <p:pic>
        <p:nvPicPr>
          <p:cNvPr id="16" name="Image 2" descr="icon">    </p:cNvPr>
          <p:cNvPicPr>
            <a:picLocks noChangeAspect="1"/>
          </p:cNvPicPr>
          <p:nvPr/>
        </p:nvPicPr>
        <p:blipFill>
          <a:blip r:embed="rId3"/>
          <a:stretch>
            <a:fillRect/>
          </a:stretch>
        </p:blipFill>
        <p:spPr>
          <a:xfrm>
            <a:off x="669798" y="2983230"/>
            <a:ext cx="205740" cy="205740"/>
          </a:xfrm>
          <a:prstGeom prst="rect">
            <a:avLst/>
          </a:prstGeom>
        </p:spPr>
      </p:pic>
      <p:sp>
        <p:nvSpPr>
          <p:cNvPr id="17" name="Text 12"/>
          <p:cNvSpPr txBox="1"/>
          <p:nvPr/>
        </p:nvSpPr>
        <p:spPr>
          <a:xfrm>
            <a:off x="1143000" y="2825496"/>
            <a:ext cx="2743200" cy="521208"/>
          </a:xfrm>
          <a:prstGeom prst="rect">
            <a:avLst/>
          </a:prstGeom>
          <a:noFill/>
          <a:ln/>
        </p:spPr>
        <p:txBody>
          <a:bodyPr wrap="square" lIns="0" tIns="0" rIns="0" bIns="0" rtlCol="0" anchor="ctr"/>
          <a:lstStyle/>
          <a:p>
            <a:pPr indent="0" marL="0">
              <a:buNone/>
            </a:pPr>
            <a:r>
              <a:rPr lang="en-US" sz="1500" b="1" dirty="0">
                <a:solidFill>
                  <a:schemeClr val="tx1"/>
                </a:solidFill>
              </a:rPr>
              <a:t>Radiation-hardened computers</a:t>
            </a:r>
            <a:endParaRPr lang="en-US" sz="1500" dirty="0"/>
          </a:p>
        </p:txBody>
      </p:sp>
      <p:sp>
        <p:nvSpPr>
          <p:cNvPr id="18" name="Text 13"/>
          <p:cNvSpPr txBox="1"/>
          <p:nvPr/>
        </p:nvSpPr>
        <p:spPr>
          <a:xfrm>
            <a:off x="3931920" y="2825496"/>
            <a:ext cx="4663440" cy="521208"/>
          </a:xfrm>
          <a:prstGeom prst="rect">
            <a:avLst/>
          </a:prstGeom>
          <a:noFill/>
          <a:ln/>
        </p:spPr>
        <p:txBody>
          <a:bodyPr wrap="square" lIns="0" tIns="0" rIns="0" bIns="0" rtlCol="0" anchor="ctr"/>
          <a:lstStyle/>
          <a:p>
            <a:pPr indent="0" marL="0">
              <a:buNone/>
            </a:pPr>
            <a:r>
              <a:rPr lang="en-US" sz="1300" dirty="0">
                <a:solidFill>
                  <a:schemeClr val="tx2"/>
                </a:solidFill>
              </a:rPr>
              <a:t>Survive years of cosmic radiation without failing</a:t>
            </a:r>
            <a:endParaRPr lang="en-US" sz="1300" dirty="0"/>
          </a:p>
        </p:txBody>
      </p:sp>
      <p:sp>
        <p:nvSpPr>
          <p:cNvPr id="19" name="Tech row"/>
          <p:cNvSpPr/>
          <p:nvPr/>
        </p:nvSpPr>
        <p:spPr>
          <a:xfrm>
            <a:off x="457200" y="3438144"/>
            <a:ext cx="8229600" cy="521208"/>
          </a:xfrm>
          <a:prstGeom prst="roundRect">
            <a:avLst>
              <a:gd name="adj" fmla="val 14035"/>
            </a:avLst>
          </a:prstGeom>
          <a:solidFill>
            <a:schemeClr val="bg2"/>
          </a:solidFill>
          <a:ln w="12700">
            <a:solidFill>
              <a:schemeClr val="bg2"/>
            </a:solidFill>
            <a:prstDash val="solid"/>
          </a:ln>
        </p:spPr>
      </p:sp>
      <p:sp>
        <p:nvSpPr>
          <p:cNvPr id="20" name="Icon badge"/>
          <p:cNvSpPr/>
          <p:nvPr/>
        </p:nvSpPr>
        <p:spPr>
          <a:xfrm>
            <a:off x="566928" y="3493008"/>
            <a:ext cx="411480" cy="411480"/>
          </a:xfrm>
          <a:prstGeom prst="ellipse">
            <a:avLst/>
          </a:prstGeom>
          <a:solidFill>
            <a:schemeClr val="accent1"/>
          </a:solidFill>
          <a:ln w="12700">
            <a:solidFill>
              <a:schemeClr val="accent1"/>
            </a:solidFill>
            <a:prstDash val="solid"/>
          </a:ln>
        </p:spPr>
      </p:sp>
      <p:pic>
        <p:nvPicPr>
          <p:cNvPr id="21" name="Image 3" descr="icon">    </p:cNvPr>
          <p:cNvPicPr>
            <a:picLocks noChangeAspect="1"/>
          </p:cNvPicPr>
          <p:nvPr/>
        </p:nvPicPr>
        <p:blipFill>
          <a:blip r:embed="rId4"/>
          <a:stretch>
            <a:fillRect/>
          </a:stretch>
        </p:blipFill>
        <p:spPr>
          <a:xfrm>
            <a:off x="669798" y="3595878"/>
            <a:ext cx="205740" cy="205740"/>
          </a:xfrm>
          <a:prstGeom prst="rect">
            <a:avLst/>
          </a:prstGeom>
        </p:spPr>
      </p:pic>
      <p:sp>
        <p:nvSpPr>
          <p:cNvPr id="22" name="Text 16"/>
          <p:cNvSpPr txBox="1"/>
          <p:nvPr/>
        </p:nvSpPr>
        <p:spPr>
          <a:xfrm>
            <a:off x="1143000" y="3438144"/>
            <a:ext cx="2743200" cy="521208"/>
          </a:xfrm>
          <a:prstGeom prst="rect">
            <a:avLst/>
          </a:prstGeom>
          <a:noFill/>
          <a:ln/>
        </p:spPr>
        <p:txBody>
          <a:bodyPr wrap="square" lIns="0" tIns="0" rIns="0" bIns="0" rtlCol="0" anchor="ctr"/>
          <a:lstStyle/>
          <a:p>
            <a:pPr indent="0" marL="0">
              <a:buNone/>
            </a:pPr>
            <a:r>
              <a:rPr lang="en-US" sz="1500" b="1" dirty="0">
                <a:solidFill>
                  <a:schemeClr val="tx1"/>
                </a:solidFill>
              </a:rPr>
              <a:t>Miniaturized instruments</a:t>
            </a:r>
            <a:endParaRPr lang="en-US" sz="1500" dirty="0"/>
          </a:p>
        </p:txBody>
      </p:sp>
      <p:sp>
        <p:nvSpPr>
          <p:cNvPr id="23" name="Text 17"/>
          <p:cNvSpPr txBox="1"/>
          <p:nvPr/>
        </p:nvSpPr>
        <p:spPr>
          <a:xfrm>
            <a:off x="3931920" y="3438144"/>
            <a:ext cx="4663440" cy="521208"/>
          </a:xfrm>
          <a:prstGeom prst="rect">
            <a:avLst/>
          </a:prstGeom>
          <a:noFill/>
          <a:ln/>
        </p:spPr>
        <p:txBody>
          <a:bodyPr wrap="square" lIns="0" tIns="0" rIns="0" bIns="0" rtlCol="0" anchor="ctr"/>
          <a:lstStyle/>
          <a:p>
            <a:pPr indent="0" marL="0">
              <a:buNone/>
            </a:pPr>
            <a:r>
              <a:rPr lang="en-US" sz="1300" dirty="0">
                <a:solidFill>
                  <a:schemeClr val="tx2"/>
                </a:solidFill>
              </a:rPr>
              <a:t>Seven science instruments share under 30 watts</a:t>
            </a:r>
            <a:endParaRPr lang="en-US" sz="1300" dirty="0"/>
          </a:p>
        </p:txBody>
      </p:sp>
      <p:sp>
        <p:nvSpPr>
          <p:cNvPr id="24" name="Tech row"/>
          <p:cNvSpPr/>
          <p:nvPr/>
        </p:nvSpPr>
        <p:spPr>
          <a:xfrm>
            <a:off x="457200" y="4050792"/>
            <a:ext cx="8229600" cy="521208"/>
          </a:xfrm>
          <a:prstGeom prst="roundRect">
            <a:avLst>
              <a:gd name="adj" fmla="val 14035"/>
            </a:avLst>
          </a:prstGeom>
          <a:solidFill>
            <a:schemeClr val="bg2"/>
          </a:solidFill>
          <a:ln w="12700">
            <a:solidFill>
              <a:schemeClr val="bg2"/>
            </a:solidFill>
            <a:prstDash val="solid"/>
          </a:ln>
        </p:spPr>
      </p:sp>
      <p:sp>
        <p:nvSpPr>
          <p:cNvPr id="25" name="Icon badge"/>
          <p:cNvSpPr/>
          <p:nvPr/>
        </p:nvSpPr>
        <p:spPr>
          <a:xfrm>
            <a:off x="566928" y="4105656"/>
            <a:ext cx="411480" cy="411480"/>
          </a:xfrm>
          <a:prstGeom prst="ellipse">
            <a:avLst/>
          </a:prstGeom>
          <a:solidFill>
            <a:schemeClr val="accent1"/>
          </a:solidFill>
          <a:ln w="12700">
            <a:solidFill>
              <a:schemeClr val="accent1"/>
            </a:solidFill>
            <a:prstDash val="solid"/>
          </a:ln>
        </p:spPr>
      </p:sp>
      <p:pic>
        <p:nvPicPr>
          <p:cNvPr id="26" name="Image 4" descr="icon">    </p:cNvPr>
          <p:cNvPicPr>
            <a:picLocks noChangeAspect="1"/>
          </p:cNvPicPr>
          <p:nvPr/>
        </p:nvPicPr>
        <p:blipFill>
          <a:blip r:embed="rId5"/>
          <a:stretch>
            <a:fillRect/>
          </a:stretch>
        </p:blipFill>
        <p:spPr>
          <a:xfrm>
            <a:off x="669798" y="4208526"/>
            <a:ext cx="205740" cy="205740"/>
          </a:xfrm>
          <a:prstGeom prst="rect">
            <a:avLst/>
          </a:prstGeom>
        </p:spPr>
      </p:pic>
      <p:sp>
        <p:nvSpPr>
          <p:cNvPr id="27" name="Text 20"/>
          <p:cNvSpPr txBox="1"/>
          <p:nvPr/>
        </p:nvSpPr>
        <p:spPr>
          <a:xfrm>
            <a:off x="1143000" y="4050792"/>
            <a:ext cx="2743200" cy="521208"/>
          </a:xfrm>
          <a:prstGeom prst="rect">
            <a:avLst/>
          </a:prstGeom>
          <a:noFill/>
          <a:ln/>
        </p:spPr>
        <p:txBody>
          <a:bodyPr wrap="square" lIns="0" tIns="0" rIns="0" bIns="0" rtlCol="0" anchor="ctr"/>
          <a:lstStyle/>
          <a:p>
            <a:pPr indent="0" marL="0">
              <a:buNone/>
            </a:pPr>
            <a:r>
              <a:rPr lang="en-US" sz="1500" b="1" dirty="0">
                <a:solidFill>
                  <a:schemeClr val="tx1"/>
                </a:solidFill>
              </a:rPr>
              <a:t>Deep Space Network</a:t>
            </a:r>
            <a:endParaRPr lang="en-US" sz="1500" dirty="0"/>
          </a:p>
        </p:txBody>
      </p:sp>
      <p:sp>
        <p:nvSpPr>
          <p:cNvPr id="28" name="Text 21"/>
          <p:cNvSpPr txBox="1"/>
          <p:nvPr/>
        </p:nvSpPr>
        <p:spPr>
          <a:xfrm>
            <a:off x="3931920" y="4050792"/>
            <a:ext cx="4663440" cy="521208"/>
          </a:xfrm>
          <a:prstGeom prst="rect">
            <a:avLst/>
          </a:prstGeom>
          <a:noFill/>
          <a:ln/>
        </p:spPr>
        <p:txBody>
          <a:bodyPr wrap="square" lIns="0" tIns="0" rIns="0" bIns="0" rtlCol="0" anchor="ctr"/>
          <a:lstStyle/>
          <a:p>
            <a:pPr indent="0" marL="0">
              <a:buNone/>
            </a:pPr>
            <a:r>
              <a:rPr lang="en-US" sz="1300" dirty="0">
                <a:solidFill>
                  <a:schemeClr val="tx2"/>
                </a:solidFill>
              </a:rPr>
              <a:t>Giant Earth dishes can hear a signal billions of km away</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9B8D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label"/>
          <p:cNvSpPr txBox="1"/>
          <p:nvPr/>
        </p:nvSpPr>
        <p:spPr>
          <a:xfrm>
            <a:off x="457200" y="256032"/>
            <a:ext cx="5486400" cy="246888"/>
          </a:xfrm>
          <a:prstGeom prst="rect">
            <a:avLst/>
          </a:prstGeom>
          <a:noFill/>
          <a:ln/>
        </p:spPr>
        <p:txBody>
          <a:bodyPr wrap="square" lIns="0" tIns="0" rIns="0" bIns="0" rtlCol="0" anchor="ctr"/>
          <a:lstStyle/>
          <a:p>
            <a:pPr indent="0" marL="0">
              <a:buNone/>
            </a:pPr>
            <a:r>
              <a:rPr lang="en-US" sz="1200" b="1" spc="300" kern="0" dirty="0">
                <a:solidFill>
                  <a:schemeClr val="accent1"/>
                </a:solidFill>
              </a:rPr>
              <a:t>THE SPACECRAFT</a:t>
            </a:r>
            <a:endParaRPr lang="en-US" sz="1200" dirty="0"/>
          </a:p>
        </p:txBody>
      </p:sp>
      <p:sp>
        <p:nvSpPr>
          <p:cNvPr id="3" name="Text 0"/>
          <p:cNvSpPr/>
          <p:nvPr>
            <p:ph idx="100" type="title" hasCustomPrompt="1"/>
          </p:nvPr>
        </p:nvSpPr>
        <p:spPr>
          <a:xfrm>
            <a:off x="457200" y="502920"/>
            <a:ext cx="8229600" cy="1005840"/>
          </a:xfrm>
          <a:prstGeom prst="rect">
            <a:avLst/>
          </a:prstGeom>
          <a:noFill/>
          <a:ln/>
        </p:spPr>
        <p:txBody>
          <a:bodyPr wrap="square" lIns="0" tIns="0" rIns="0" bIns="0" rtlCol="0" anchor="t"/>
          <a:lstStyle/>
          <a:p>
            <a:pPr algn="l" indent="0" marL="0">
              <a:buNone/>
            </a:pPr>
            <a:r>
              <a:rPr lang="en-US" sz="3200" b="1" dirty="0">
                <a:solidFill>
                  <a:schemeClr val="tx1"/>
                </a:solidFill>
              </a:rPr>
              <a:t>Seven instruments packed into a piano-sized spacecraft</a:t>
            </a:r>
            <a:endParaRPr lang="en-US" sz="3200" dirty="0"/>
          </a:p>
        </p:txBody>
      </p:sp>
      <p:sp>
        <p:nvSpPr>
          <p:cNvPr id="4" name="High-gain antenna"/>
          <p:cNvSpPr/>
          <p:nvPr/>
        </p:nvSpPr>
        <p:spPr>
          <a:xfrm>
            <a:off x="868680" y="1645920"/>
            <a:ext cx="2468880" cy="1051560"/>
          </a:xfrm>
          <a:prstGeom prst="ellipse">
            <a:avLst/>
          </a:prstGeom>
          <a:solidFill>
            <a:schemeClr val="accent2"/>
          </a:solidFill>
          <a:ln w="12700">
            <a:solidFill>
              <a:schemeClr val="accent2"/>
            </a:solidFill>
            <a:prstDash val="solid"/>
          </a:ln>
        </p:spPr>
      </p:sp>
      <p:sp>
        <p:nvSpPr>
          <p:cNvPr id="5" name="Text 3"/>
          <p:cNvSpPr txBox="1"/>
          <p:nvPr/>
        </p:nvSpPr>
        <p:spPr>
          <a:xfrm>
            <a:off x="868680" y="1645920"/>
            <a:ext cx="2468880" cy="1051560"/>
          </a:xfrm>
          <a:prstGeom prst="rect">
            <a:avLst/>
          </a:prstGeom>
          <a:noFill/>
          <a:ln/>
        </p:spPr>
        <p:txBody>
          <a:bodyPr wrap="square" lIns="0" tIns="0" rIns="0" bIns="0" rtlCol="0" anchor="ctr"/>
          <a:lstStyle/>
          <a:p>
            <a:pPr algn="ctr" indent="0" marL="0">
              <a:buNone/>
            </a:pPr>
            <a:r>
              <a:rPr lang="en-US" sz="1400" b="1" dirty="0">
                <a:solidFill>
                  <a:srgbClr val="0B1026"/>
                </a:solidFill>
              </a:rPr>
              <a:t>2.1 m dish</a:t>
            </a:r>
            <a:endParaRPr lang="en-US" sz="1400" dirty="0"/>
          </a:p>
        </p:txBody>
      </p:sp>
      <p:sp>
        <p:nvSpPr>
          <p:cNvPr id="6" name="Spacecraft body"/>
          <p:cNvSpPr/>
          <p:nvPr/>
        </p:nvSpPr>
        <p:spPr>
          <a:xfrm>
            <a:off x="1325880" y="2788920"/>
            <a:ext cx="1554480" cy="1325880"/>
          </a:xfrm>
          <a:prstGeom prst="roundRect">
            <a:avLst>
              <a:gd name="adj" fmla="val 6897"/>
            </a:avLst>
          </a:prstGeom>
          <a:solidFill>
            <a:schemeClr val="bg2"/>
          </a:solidFill>
          <a:ln w="19050">
            <a:solidFill>
              <a:srgbClr val="A9B8D6"/>
            </a:solidFill>
            <a:prstDash val="solid"/>
          </a:ln>
        </p:spPr>
      </p:sp>
      <p:sp>
        <p:nvSpPr>
          <p:cNvPr id="7" name="Text 5"/>
          <p:cNvSpPr txBox="1"/>
          <p:nvPr/>
        </p:nvSpPr>
        <p:spPr>
          <a:xfrm>
            <a:off x="1325880" y="2788920"/>
            <a:ext cx="1554480" cy="1325880"/>
          </a:xfrm>
          <a:prstGeom prst="rect">
            <a:avLst/>
          </a:prstGeom>
          <a:noFill/>
          <a:ln/>
        </p:spPr>
        <p:txBody>
          <a:bodyPr wrap="square" lIns="0" tIns="0" rIns="0" bIns="0" rtlCol="0" anchor="ctr"/>
          <a:lstStyle/>
          <a:p>
            <a:pPr algn="ctr" indent="0" marL="0">
              <a:buNone/>
            </a:pPr>
            <a:r>
              <a:rPr lang="en-US" sz="1300" b="1" dirty="0">
                <a:solidFill>
                  <a:schemeClr val="tx1"/>
                </a:solidFill>
              </a:rPr>
              <a:t>7 instruments</a:t>
            </a:r>
            <a:endParaRPr lang="en-US" sz="1300" dirty="0"/>
          </a:p>
          <a:p>
            <a:pPr algn="ctr" indent="0" marL="0">
              <a:buNone/>
            </a:pPr>
            <a:r>
              <a:rPr lang="en-US" sz="1300" b="1" dirty="0">
                <a:solidFill>
                  <a:schemeClr val="tx1"/>
                </a:solidFill>
              </a:rPr>
              <a:t>and computers</a:t>
            </a:r>
            <a:endParaRPr lang="en-US" sz="1300" dirty="0"/>
          </a:p>
        </p:txBody>
      </p:sp>
      <p:sp>
        <p:nvSpPr>
          <p:cNvPr id="8" name="RTG"/>
          <p:cNvSpPr/>
          <p:nvPr/>
        </p:nvSpPr>
        <p:spPr>
          <a:xfrm>
            <a:off x="2880360" y="3154680"/>
            <a:ext cx="1097280" cy="548640"/>
          </a:xfrm>
          <a:prstGeom prst="rect">
            <a:avLst/>
          </a:prstGeom>
          <a:solidFill>
            <a:schemeClr val="accent1"/>
          </a:solidFill>
          <a:ln w="12700">
            <a:solidFill>
              <a:schemeClr val="accent1"/>
            </a:solidFill>
            <a:prstDash val="solid"/>
          </a:ln>
        </p:spPr>
      </p:sp>
      <p:sp>
        <p:nvSpPr>
          <p:cNvPr id="9" name="Text 7"/>
          <p:cNvSpPr txBox="1"/>
          <p:nvPr/>
        </p:nvSpPr>
        <p:spPr>
          <a:xfrm>
            <a:off x="2880360" y="3154680"/>
            <a:ext cx="1097280" cy="548640"/>
          </a:xfrm>
          <a:prstGeom prst="rect">
            <a:avLst/>
          </a:prstGeom>
          <a:noFill/>
          <a:ln/>
        </p:spPr>
        <p:txBody>
          <a:bodyPr wrap="square" lIns="0" tIns="0" rIns="0" bIns="0" rtlCol="0" anchor="ctr"/>
          <a:lstStyle/>
          <a:p>
            <a:pPr algn="ctr" indent="0" marL="0">
              <a:buNone/>
            </a:pPr>
            <a:r>
              <a:rPr lang="en-US" sz="1400" b="1" dirty="0">
                <a:solidFill>
                  <a:srgbClr val="0B1026"/>
                </a:solidFill>
              </a:rPr>
              <a:t>RTG</a:t>
            </a:r>
            <a:endParaRPr lang="en-US" sz="1400" dirty="0"/>
          </a:p>
        </p:txBody>
      </p:sp>
      <p:sp>
        <p:nvSpPr>
          <p:cNvPr id="10" name="Text 8"/>
          <p:cNvSpPr txBox="1"/>
          <p:nvPr/>
        </p:nvSpPr>
        <p:spPr>
          <a:xfrm>
            <a:off x="2926080" y="3749040"/>
            <a:ext cx="1463040" cy="457200"/>
          </a:xfrm>
          <a:prstGeom prst="rect">
            <a:avLst/>
          </a:prstGeom>
          <a:noFill/>
          <a:ln/>
        </p:spPr>
        <p:txBody>
          <a:bodyPr wrap="square" lIns="0" tIns="0" rIns="0" bIns="0" rtlCol="0" anchor="t"/>
          <a:lstStyle/>
          <a:p>
            <a:pPr algn="ctr" indent="0" marL="0">
              <a:buNone/>
            </a:pPr>
            <a:r>
              <a:rPr lang="en-US" sz="1200" dirty="0">
                <a:solidFill>
                  <a:schemeClr val="tx2"/>
                </a:solidFill>
              </a:rPr>
              <a:t>plutonium power source</a:t>
            </a:r>
            <a:endParaRPr lang="en-US" sz="1200" dirty="0"/>
          </a:p>
        </p:txBody>
      </p:sp>
      <p:sp>
        <p:nvSpPr>
          <p:cNvPr id="11" name="Text 9"/>
          <p:cNvSpPr txBox="1"/>
          <p:nvPr/>
        </p:nvSpPr>
        <p:spPr>
          <a:xfrm>
            <a:off x="457200" y="4297680"/>
            <a:ext cx="3931920" cy="274320"/>
          </a:xfrm>
          <a:prstGeom prst="rect">
            <a:avLst/>
          </a:prstGeom>
          <a:noFill/>
          <a:ln/>
        </p:spPr>
        <p:txBody>
          <a:bodyPr wrap="square" lIns="0" tIns="0" rIns="0" bIns="0" rtlCol="0" anchor="t"/>
          <a:lstStyle/>
          <a:p>
            <a:pPr indent="0" marL="0">
              <a:buNone/>
            </a:pPr>
            <a:r>
              <a:rPr lang="en-US" sz="1400" b="1" dirty="0">
                <a:solidFill>
                  <a:schemeClr val="accent1"/>
                </a:solidFill>
              </a:rPr>
              <a:t>Mass: 478 kg at launch</a:t>
            </a:r>
            <a:endParaRPr lang="en-US" sz="1400" dirty="0"/>
          </a:p>
        </p:txBody>
      </p:sp>
      <p:sp>
        <p:nvSpPr>
          <p:cNvPr id="12" name="Instrument row"/>
          <p:cNvSpPr/>
          <p:nvPr/>
        </p:nvSpPr>
        <p:spPr>
          <a:xfrm>
            <a:off x="4754880" y="1645920"/>
            <a:ext cx="3931920" cy="365760"/>
          </a:xfrm>
          <a:prstGeom prst="roundRect">
            <a:avLst>
              <a:gd name="adj" fmla="val 20000"/>
            </a:avLst>
          </a:prstGeom>
          <a:solidFill>
            <a:schemeClr val="bg2"/>
          </a:solidFill>
          <a:ln w="12700">
            <a:solidFill>
              <a:schemeClr val="bg2"/>
            </a:solidFill>
            <a:prstDash val="solid"/>
          </a:ln>
        </p:spPr>
      </p:sp>
      <p:sp>
        <p:nvSpPr>
          <p:cNvPr id="13" name="Text 11"/>
          <p:cNvSpPr txBox="1"/>
          <p:nvPr/>
        </p:nvSpPr>
        <p:spPr>
          <a:xfrm>
            <a:off x="4892040" y="1645920"/>
            <a:ext cx="914400" cy="365760"/>
          </a:xfrm>
          <a:prstGeom prst="rect">
            <a:avLst/>
          </a:prstGeom>
          <a:noFill/>
          <a:ln/>
        </p:spPr>
        <p:txBody>
          <a:bodyPr wrap="square" lIns="0" tIns="0" rIns="0" bIns="0" rtlCol="0" anchor="ctr"/>
          <a:lstStyle/>
          <a:p>
            <a:pPr indent="0" marL="0">
              <a:buNone/>
            </a:pPr>
            <a:r>
              <a:rPr lang="en-US" sz="1400" b="1" dirty="0">
                <a:solidFill>
                  <a:schemeClr val="accent1"/>
                </a:solidFill>
              </a:rPr>
              <a:t>LORRI</a:t>
            </a:r>
            <a:endParaRPr lang="en-US" sz="1400" dirty="0"/>
          </a:p>
        </p:txBody>
      </p:sp>
      <p:sp>
        <p:nvSpPr>
          <p:cNvPr id="14" name="Text 12"/>
          <p:cNvSpPr txBox="1"/>
          <p:nvPr/>
        </p:nvSpPr>
        <p:spPr>
          <a:xfrm>
            <a:off x="5852160" y="1645920"/>
            <a:ext cx="2788920" cy="365760"/>
          </a:xfrm>
          <a:prstGeom prst="rect">
            <a:avLst/>
          </a:prstGeom>
          <a:noFill/>
          <a:ln/>
        </p:spPr>
        <p:txBody>
          <a:bodyPr wrap="square" lIns="0" tIns="0" rIns="0" bIns="0" rtlCol="0" anchor="ctr"/>
          <a:lstStyle/>
          <a:p>
            <a:pPr indent="0" marL="0">
              <a:buNone/>
            </a:pPr>
            <a:r>
              <a:rPr lang="en-US" sz="1300" dirty="0">
                <a:solidFill>
                  <a:schemeClr val="tx1"/>
                </a:solidFill>
              </a:rPr>
              <a:t>Telescopic camera</a:t>
            </a:r>
            <a:endParaRPr lang="en-US" sz="1300" dirty="0"/>
          </a:p>
        </p:txBody>
      </p:sp>
      <p:sp>
        <p:nvSpPr>
          <p:cNvPr id="15" name="Instrument row"/>
          <p:cNvSpPr/>
          <p:nvPr/>
        </p:nvSpPr>
        <p:spPr>
          <a:xfrm>
            <a:off x="4754880" y="2066544"/>
            <a:ext cx="3931920" cy="365760"/>
          </a:xfrm>
          <a:prstGeom prst="roundRect">
            <a:avLst>
              <a:gd name="adj" fmla="val 20000"/>
            </a:avLst>
          </a:prstGeom>
          <a:solidFill>
            <a:schemeClr val="bg2"/>
          </a:solidFill>
          <a:ln w="12700">
            <a:solidFill>
              <a:schemeClr val="bg2"/>
            </a:solidFill>
            <a:prstDash val="solid"/>
          </a:ln>
        </p:spPr>
      </p:sp>
      <p:sp>
        <p:nvSpPr>
          <p:cNvPr id="16" name="Text 14"/>
          <p:cNvSpPr txBox="1"/>
          <p:nvPr/>
        </p:nvSpPr>
        <p:spPr>
          <a:xfrm>
            <a:off x="4892040" y="2066544"/>
            <a:ext cx="914400" cy="365760"/>
          </a:xfrm>
          <a:prstGeom prst="rect">
            <a:avLst/>
          </a:prstGeom>
          <a:noFill/>
          <a:ln/>
        </p:spPr>
        <p:txBody>
          <a:bodyPr wrap="square" lIns="0" tIns="0" rIns="0" bIns="0" rtlCol="0" anchor="ctr"/>
          <a:lstStyle/>
          <a:p>
            <a:pPr indent="0" marL="0">
              <a:buNone/>
            </a:pPr>
            <a:r>
              <a:rPr lang="en-US" sz="1400" b="1" dirty="0">
                <a:solidFill>
                  <a:schemeClr val="accent1"/>
                </a:solidFill>
              </a:rPr>
              <a:t>Ralph</a:t>
            </a:r>
            <a:endParaRPr lang="en-US" sz="1400" dirty="0"/>
          </a:p>
        </p:txBody>
      </p:sp>
      <p:sp>
        <p:nvSpPr>
          <p:cNvPr id="17" name="Text 15"/>
          <p:cNvSpPr txBox="1"/>
          <p:nvPr/>
        </p:nvSpPr>
        <p:spPr>
          <a:xfrm>
            <a:off x="5852160" y="2066544"/>
            <a:ext cx="2788920" cy="365760"/>
          </a:xfrm>
          <a:prstGeom prst="rect">
            <a:avLst/>
          </a:prstGeom>
          <a:noFill/>
          <a:ln/>
        </p:spPr>
        <p:txBody>
          <a:bodyPr wrap="square" lIns="0" tIns="0" rIns="0" bIns="0" rtlCol="0" anchor="ctr"/>
          <a:lstStyle/>
          <a:p>
            <a:pPr indent="0" marL="0">
              <a:buNone/>
            </a:pPr>
            <a:r>
              <a:rPr lang="en-US" sz="1300" dirty="0">
                <a:solidFill>
                  <a:schemeClr val="tx1"/>
                </a:solidFill>
              </a:rPr>
              <a:t>Color imager, infrared mapper</a:t>
            </a:r>
            <a:endParaRPr lang="en-US" sz="1300" dirty="0"/>
          </a:p>
        </p:txBody>
      </p:sp>
      <p:sp>
        <p:nvSpPr>
          <p:cNvPr id="18" name="Instrument row"/>
          <p:cNvSpPr/>
          <p:nvPr/>
        </p:nvSpPr>
        <p:spPr>
          <a:xfrm>
            <a:off x="4754880" y="2487168"/>
            <a:ext cx="3931920" cy="365760"/>
          </a:xfrm>
          <a:prstGeom prst="roundRect">
            <a:avLst>
              <a:gd name="adj" fmla="val 20000"/>
            </a:avLst>
          </a:prstGeom>
          <a:solidFill>
            <a:schemeClr val="bg2"/>
          </a:solidFill>
          <a:ln w="12700">
            <a:solidFill>
              <a:schemeClr val="bg2"/>
            </a:solidFill>
            <a:prstDash val="solid"/>
          </a:ln>
        </p:spPr>
      </p:sp>
      <p:sp>
        <p:nvSpPr>
          <p:cNvPr id="19" name="Text 17"/>
          <p:cNvSpPr txBox="1"/>
          <p:nvPr/>
        </p:nvSpPr>
        <p:spPr>
          <a:xfrm>
            <a:off x="4892040" y="2487168"/>
            <a:ext cx="914400" cy="365760"/>
          </a:xfrm>
          <a:prstGeom prst="rect">
            <a:avLst/>
          </a:prstGeom>
          <a:noFill/>
          <a:ln/>
        </p:spPr>
        <p:txBody>
          <a:bodyPr wrap="square" lIns="0" tIns="0" rIns="0" bIns="0" rtlCol="0" anchor="ctr"/>
          <a:lstStyle/>
          <a:p>
            <a:pPr indent="0" marL="0">
              <a:buNone/>
            </a:pPr>
            <a:r>
              <a:rPr lang="en-US" sz="1400" b="1" dirty="0">
                <a:solidFill>
                  <a:schemeClr val="accent1"/>
                </a:solidFill>
              </a:rPr>
              <a:t>Alice</a:t>
            </a:r>
            <a:endParaRPr lang="en-US" sz="1400" dirty="0"/>
          </a:p>
        </p:txBody>
      </p:sp>
      <p:sp>
        <p:nvSpPr>
          <p:cNvPr id="20" name="Text 18"/>
          <p:cNvSpPr txBox="1"/>
          <p:nvPr/>
        </p:nvSpPr>
        <p:spPr>
          <a:xfrm>
            <a:off x="5852160" y="2487168"/>
            <a:ext cx="2788920" cy="365760"/>
          </a:xfrm>
          <a:prstGeom prst="rect">
            <a:avLst/>
          </a:prstGeom>
          <a:noFill/>
          <a:ln/>
        </p:spPr>
        <p:txBody>
          <a:bodyPr wrap="square" lIns="0" tIns="0" rIns="0" bIns="0" rtlCol="0" anchor="ctr"/>
          <a:lstStyle/>
          <a:p>
            <a:pPr indent="0" marL="0">
              <a:buNone/>
            </a:pPr>
            <a:r>
              <a:rPr lang="en-US" sz="1300" dirty="0">
                <a:solidFill>
                  <a:schemeClr val="tx1"/>
                </a:solidFill>
              </a:rPr>
              <a:t>Ultraviolet atmosphere sensor</a:t>
            </a:r>
            <a:endParaRPr lang="en-US" sz="1300" dirty="0"/>
          </a:p>
        </p:txBody>
      </p:sp>
      <p:sp>
        <p:nvSpPr>
          <p:cNvPr id="21" name="Instrument row"/>
          <p:cNvSpPr/>
          <p:nvPr/>
        </p:nvSpPr>
        <p:spPr>
          <a:xfrm>
            <a:off x="4754880" y="2907792"/>
            <a:ext cx="3931920" cy="365760"/>
          </a:xfrm>
          <a:prstGeom prst="roundRect">
            <a:avLst>
              <a:gd name="adj" fmla="val 20000"/>
            </a:avLst>
          </a:prstGeom>
          <a:solidFill>
            <a:schemeClr val="bg2"/>
          </a:solidFill>
          <a:ln w="12700">
            <a:solidFill>
              <a:schemeClr val="bg2"/>
            </a:solidFill>
            <a:prstDash val="solid"/>
          </a:ln>
        </p:spPr>
      </p:sp>
      <p:sp>
        <p:nvSpPr>
          <p:cNvPr id="22" name="Text 20"/>
          <p:cNvSpPr txBox="1"/>
          <p:nvPr/>
        </p:nvSpPr>
        <p:spPr>
          <a:xfrm>
            <a:off x="4892040" y="2907792"/>
            <a:ext cx="914400" cy="365760"/>
          </a:xfrm>
          <a:prstGeom prst="rect">
            <a:avLst/>
          </a:prstGeom>
          <a:noFill/>
          <a:ln/>
        </p:spPr>
        <p:txBody>
          <a:bodyPr wrap="square" lIns="0" tIns="0" rIns="0" bIns="0" rtlCol="0" anchor="ctr"/>
          <a:lstStyle/>
          <a:p>
            <a:pPr indent="0" marL="0">
              <a:buNone/>
            </a:pPr>
            <a:r>
              <a:rPr lang="en-US" sz="1400" b="1" dirty="0">
                <a:solidFill>
                  <a:schemeClr val="accent1"/>
                </a:solidFill>
              </a:rPr>
              <a:t>REX</a:t>
            </a:r>
            <a:endParaRPr lang="en-US" sz="1400" dirty="0"/>
          </a:p>
        </p:txBody>
      </p:sp>
      <p:sp>
        <p:nvSpPr>
          <p:cNvPr id="23" name="Text 21"/>
          <p:cNvSpPr txBox="1"/>
          <p:nvPr/>
        </p:nvSpPr>
        <p:spPr>
          <a:xfrm>
            <a:off x="5852160" y="2907792"/>
            <a:ext cx="2788920" cy="365760"/>
          </a:xfrm>
          <a:prstGeom prst="rect">
            <a:avLst/>
          </a:prstGeom>
          <a:noFill/>
          <a:ln/>
        </p:spPr>
        <p:txBody>
          <a:bodyPr wrap="square" lIns="0" tIns="0" rIns="0" bIns="0" rtlCol="0" anchor="ctr"/>
          <a:lstStyle/>
          <a:p>
            <a:pPr indent="0" marL="0">
              <a:buNone/>
            </a:pPr>
            <a:r>
              <a:rPr lang="en-US" sz="1300" dirty="0">
                <a:solidFill>
                  <a:schemeClr val="tx1"/>
                </a:solidFill>
              </a:rPr>
              <a:t>Radio science, atmosphere probe</a:t>
            </a:r>
            <a:endParaRPr lang="en-US" sz="1300" dirty="0"/>
          </a:p>
        </p:txBody>
      </p:sp>
      <p:sp>
        <p:nvSpPr>
          <p:cNvPr id="24" name="Instrument row"/>
          <p:cNvSpPr/>
          <p:nvPr/>
        </p:nvSpPr>
        <p:spPr>
          <a:xfrm>
            <a:off x="4754880" y="3328416"/>
            <a:ext cx="3931920" cy="365760"/>
          </a:xfrm>
          <a:prstGeom prst="roundRect">
            <a:avLst>
              <a:gd name="adj" fmla="val 20000"/>
            </a:avLst>
          </a:prstGeom>
          <a:solidFill>
            <a:schemeClr val="bg2"/>
          </a:solidFill>
          <a:ln w="12700">
            <a:solidFill>
              <a:schemeClr val="bg2"/>
            </a:solidFill>
            <a:prstDash val="solid"/>
          </a:ln>
        </p:spPr>
      </p:sp>
      <p:sp>
        <p:nvSpPr>
          <p:cNvPr id="25" name="Text 23"/>
          <p:cNvSpPr txBox="1"/>
          <p:nvPr/>
        </p:nvSpPr>
        <p:spPr>
          <a:xfrm>
            <a:off x="4892040" y="3328416"/>
            <a:ext cx="914400" cy="365760"/>
          </a:xfrm>
          <a:prstGeom prst="rect">
            <a:avLst/>
          </a:prstGeom>
          <a:noFill/>
          <a:ln/>
        </p:spPr>
        <p:txBody>
          <a:bodyPr wrap="square" lIns="0" tIns="0" rIns="0" bIns="0" rtlCol="0" anchor="ctr"/>
          <a:lstStyle/>
          <a:p>
            <a:pPr indent="0" marL="0">
              <a:buNone/>
            </a:pPr>
            <a:r>
              <a:rPr lang="en-US" sz="1400" b="1" dirty="0">
                <a:solidFill>
                  <a:schemeClr val="accent1"/>
                </a:solidFill>
              </a:rPr>
              <a:t>SWAP</a:t>
            </a:r>
            <a:endParaRPr lang="en-US" sz="1400" dirty="0"/>
          </a:p>
        </p:txBody>
      </p:sp>
      <p:sp>
        <p:nvSpPr>
          <p:cNvPr id="26" name="Text 24"/>
          <p:cNvSpPr txBox="1"/>
          <p:nvPr/>
        </p:nvSpPr>
        <p:spPr>
          <a:xfrm>
            <a:off x="5852160" y="3328416"/>
            <a:ext cx="2788920" cy="365760"/>
          </a:xfrm>
          <a:prstGeom prst="rect">
            <a:avLst/>
          </a:prstGeom>
          <a:noFill/>
          <a:ln/>
        </p:spPr>
        <p:txBody>
          <a:bodyPr wrap="square" lIns="0" tIns="0" rIns="0" bIns="0" rtlCol="0" anchor="ctr"/>
          <a:lstStyle/>
          <a:p>
            <a:pPr indent="0" marL="0">
              <a:buNone/>
            </a:pPr>
            <a:r>
              <a:rPr lang="en-US" sz="1300" dirty="0">
                <a:solidFill>
                  <a:schemeClr val="tx1"/>
                </a:solidFill>
              </a:rPr>
              <a:t>Solar wind detector</a:t>
            </a:r>
            <a:endParaRPr lang="en-US" sz="1300" dirty="0"/>
          </a:p>
        </p:txBody>
      </p:sp>
      <p:sp>
        <p:nvSpPr>
          <p:cNvPr id="27" name="Instrument row"/>
          <p:cNvSpPr/>
          <p:nvPr/>
        </p:nvSpPr>
        <p:spPr>
          <a:xfrm>
            <a:off x="4754880" y="3749040"/>
            <a:ext cx="3931920" cy="365760"/>
          </a:xfrm>
          <a:prstGeom prst="roundRect">
            <a:avLst>
              <a:gd name="adj" fmla="val 20000"/>
            </a:avLst>
          </a:prstGeom>
          <a:solidFill>
            <a:schemeClr val="bg2"/>
          </a:solidFill>
          <a:ln w="12700">
            <a:solidFill>
              <a:schemeClr val="bg2"/>
            </a:solidFill>
            <a:prstDash val="solid"/>
          </a:ln>
        </p:spPr>
      </p:sp>
      <p:sp>
        <p:nvSpPr>
          <p:cNvPr id="28" name="Text 26"/>
          <p:cNvSpPr txBox="1"/>
          <p:nvPr/>
        </p:nvSpPr>
        <p:spPr>
          <a:xfrm>
            <a:off x="4892040" y="3749040"/>
            <a:ext cx="914400" cy="365760"/>
          </a:xfrm>
          <a:prstGeom prst="rect">
            <a:avLst/>
          </a:prstGeom>
          <a:noFill/>
          <a:ln/>
        </p:spPr>
        <p:txBody>
          <a:bodyPr wrap="square" lIns="0" tIns="0" rIns="0" bIns="0" rtlCol="0" anchor="ctr"/>
          <a:lstStyle/>
          <a:p>
            <a:pPr indent="0" marL="0">
              <a:buNone/>
            </a:pPr>
            <a:r>
              <a:rPr lang="en-US" sz="1400" b="1" dirty="0">
                <a:solidFill>
                  <a:schemeClr val="accent1"/>
                </a:solidFill>
              </a:rPr>
              <a:t>PEPSSI</a:t>
            </a:r>
            <a:endParaRPr lang="en-US" sz="1400" dirty="0"/>
          </a:p>
        </p:txBody>
      </p:sp>
      <p:sp>
        <p:nvSpPr>
          <p:cNvPr id="29" name="Text 27"/>
          <p:cNvSpPr txBox="1"/>
          <p:nvPr/>
        </p:nvSpPr>
        <p:spPr>
          <a:xfrm>
            <a:off x="5852160" y="3749040"/>
            <a:ext cx="2788920" cy="365760"/>
          </a:xfrm>
          <a:prstGeom prst="rect">
            <a:avLst/>
          </a:prstGeom>
          <a:noFill/>
          <a:ln/>
        </p:spPr>
        <p:txBody>
          <a:bodyPr wrap="square" lIns="0" tIns="0" rIns="0" bIns="0" rtlCol="0" anchor="ctr"/>
          <a:lstStyle/>
          <a:p>
            <a:pPr indent="0" marL="0">
              <a:buNone/>
            </a:pPr>
            <a:r>
              <a:rPr lang="en-US" sz="1300" dirty="0">
                <a:solidFill>
                  <a:schemeClr val="tx1"/>
                </a:solidFill>
              </a:rPr>
              <a:t>Energetic particle detector</a:t>
            </a:r>
            <a:endParaRPr lang="en-US" sz="1300" dirty="0"/>
          </a:p>
        </p:txBody>
      </p:sp>
      <p:sp>
        <p:nvSpPr>
          <p:cNvPr id="30" name="Instrument row"/>
          <p:cNvSpPr/>
          <p:nvPr/>
        </p:nvSpPr>
        <p:spPr>
          <a:xfrm>
            <a:off x="4754880" y="4169664"/>
            <a:ext cx="3931920" cy="365760"/>
          </a:xfrm>
          <a:prstGeom prst="roundRect">
            <a:avLst>
              <a:gd name="adj" fmla="val 20000"/>
            </a:avLst>
          </a:prstGeom>
          <a:solidFill>
            <a:schemeClr val="bg2"/>
          </a:solidFill>
          <a:ln w="12700">
            <a:solidFill>
              <a:schemeClr val="bg2"/>
            </a:solidFill>
            <a:prstDash val="solid"/>
          </a:ln>
        </p:spPr>
      </p:sp>
      <p:sp>
        <p:nvSpPr>
          <p:cNvPr id="31" name="Text 29"/>
          <p:cNvSpPr txBox="1"/>
          <p:nvPr/>
        </p:nvSpPr>
        <p:spPr>
          <a:xfrm>
            <a:off x="4892040" y="4169664"/>
            <a:ext cx="914400" cy="365760"/>
          </a:xfrm>
          <a:prstGeom prst="rect">
            <a:avLst/>
          </a:prstGeom>
          <a:noFill/>
          <a:ln/>
        </p:spPr>
        <p:txBody>
          <a:bodyPr wrap="square" lIns="0" tIns="0" rIns="0" bIns="0" rtlCol="0" anchor="ctr"/>
          <a:lstStyle/>
          <a:p>
            <a:pPr indent="0" marL="0">
              <a:buNone/>
            </a:pPr>
            <a:r>
              <a:rPr lang="en-US" sz="1400" b="1" dirty="0">
                <a:solidFill>
                  <a:schemeClr val="accent1"/>
                </a:solidFill>
              </a:rPr>
              <a:t>SDC</a:t>
            </a:r>
            <a:endParaRPr lang="en-US" sz="1400" dirty="0"/>
          </a:p>
        </p:txBody>
      </p:sp>
      <p:sp>
        <p:nvSpPr>
          <p:cNvPr id="32" name="Text 30"/>
          <p:cNvSpPr txBox="1"/>
          <p:nvPr/>
        </p:nvSpPr>
        <p:spPr>
          <a:xfrm>
            <a:off x="5852160" y="4169664"/>
            <a:ext cx="2788920" cy="365760"/>
          </a:xfrm>
          <a:prstGeom prst="rect">
            <a:avLst/>
          </a:prstGeom>
          <a:noFill/>
          <a:ln/>
        </p:spPr>
        <p:txBody>
          <a:bodyPr wrap="square" lIns="0" tIns="0" rIns="0" bIns="0" rtlCol="0" anchor="ctr"/>
          <a:lstStyle/>
          <a:p>
            <a:pPr indent="0" marL="0">
              <a:buNone/>
            </a:pPr>
            <a:r>
              <a:rPr lang="en-US" sz="1300" dirty="0">
                <a:solidFill>
                  <a:schemeClr val="tx1"/>
                </a:solidFill>
              </a:rPr>
              <a:t>Student-built dust counter</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9B8D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label"/>
          <p:cNvSpPr txBox="1"/>
          <p:nvPr/>
        </p:nvSpPr>
        <p:spPr>
          <a:xfrm>
            <a:off x="457200" y="256032"/>
            <a:ext cx="5486400" cy="246888"/>
          </a:xfrm>
          <a:prstGeom prst="rect">
            <a:avLst/>
          </a:prstGeom>
          <a:noFill/>
          <a:ln/>
        </p:spPr>
        <p:txBody>
          <a:bodyPr wrap="square" lIns="0" tIns="0" rIns="0" bIns="0" rtlCol="0" anchor="ctr"/>
          <a:lstStyle/>
          <a:p>
            <a:pPr indent="0" marL="0">
              <a:buNone/>
            </a:pPr>
            <a:r>
              <a:rPr lang="en-US" sz="1200" b="1" spc="300" kern="0" dirty="0">
                <a:solidFill>
                  <a:schemeClr val="accent1"/>
                </a:solidFill>
              </a:rPr>
              <a:t>THE SPACECRAFT</a:t>
            </a:r>
            <a:endParaRPr lang="en-US" sz="1200" dirty="0"/>
          </a:p>
        </p:txBody>
      </p:sp>
      <p:sp>
        <p:nvSpPr>
          <p:cNvPr id="3" name="Text 0"/>
          <p:cNvSpPr/>
          <p:nvPr>
            <p:ph idx="100" type="title" hasCustomPrompt="1"/>
          </p:nvPr>
        </p:nvSpPr>
        <p:spPr>
          <a:xfrm>
            <a:off x="457200" y="502920"/>
            <a:ext cx="8229600" cy="1005840"/>
          </a:xfrm>
          <a:prstGeom prst="rect">
            <a:avLst/>
          </a:prstGeom>
          <a:noFill/>
          <a:ln/>
        </p:spPr>
        <p:txBody>
          <a:bodyPr wrap="square" lIns="0" tIns="0" rIns="0" bIns="0" rtlCol="0" anchor="t"/>
          <a:lstStyle/>
          <a:p>
            <a:pPr algn="l" indent="0" marL="0">
              <a:buNone/>
            </a:pPr>
            <a:r>
              <a:rPr lang="en-US" sz="3200" b="1" dirty="0">
                <a:solidFill>
                  <a:schemeClr val="tx1"/>
                </a:solidFill>
              </a:rPr>
              <a:t>It ran on plutonium and sent data at about 1 kilobit per second</a:t>
            </a:r>
            <a:endParaRPr lang="en-US" sz="3200" dirty="0"/>
          </a:p>
        </p:txBody>
      </p:sp>
      <p:sp>
        <p:nvSpPr>
          <p:cNvPr id="4" name="Column card"/>
          <p:cNvSpPr/>
          <p:nvPr/>
        </p:nvSpPr>
        <p:spPr>
          <a:xfrm>
            <a:off x="457200" y="1600200"/>
            <a:ext cx="2560320" cy="3017520"/>
          </a:xfrm>
          <a:prstGeom prst="roundRect">
            <a:avLst>
              <a:gd name="adj" fmla="val 2857"/>
            </a:avLst>
          </a:prstGeom>
          <a:solidFill>
            <a:schemeClr val="bg2"/>
          </a:solidFill>
          <a:ln w="12700">
            <a:solidFill>
              <a:schemeClr val="bg2"/>
            </a:solidFill>
            <a:prstDash val="solid"/>
          </a:ln>
        </p:spPr>
      </p:sp>
      <p:sp>
        <p:nvSpPr>
          <p:cNvPr id="5" name="Icon badge"/>
          <p:cNvSpPr/>
          <p:nvPr/>
        </p:nvSpPr>
        <p:spPr>
          <a:xfrm>
            <a:off x="640080" y="1755648"/>
            <a:ext cx="502920" cy="502920"/>
          </a:xfrm>
          <a:prstGeom prst="ellipse">
            <a:avLst/>
          </a:prstGeom>
          <a:solidFill>
            <a:schemeClr val="accent1"/>
          </a:solidFill>
          <a:ln w="12700">
            <a:solidFill>
              <a:schemeClr val="accent1"/>
            </a:solidFill>
            <a:prstDash val="solid"/>
          </a:ln>
        </p:spPr>
      </p:sp>
      <p:pic>
        <p:nvPicPr>
          <p:cNvPr id="6" name="Image 0" descr="icon">    </p:cNvPr>
          <p:cNvPicPr>
            <a:picLocks noChangeAspect="1"/>
          </p:cNvPicPr>
          <p:nvPr/>
        </p:nvPicPr>
        <p:blipFill>
          <a:blip r:embed="rId1"/>
          <a:stretch>
            <a:fillRect/>
          </a:stretch>
        </p:blipFill>
        <p:spPr>
          <a:xfrm>
            <a:off x="765810" y="1881378"/>
            <a:ext cx="251460" cy="251460"/>
          </a:xfrm>
          <a:prstGeom prst="rect">
            <a:avLst/>
          </a:prstGeom>
        </p:spPr>
      </p:pic>
      <p:sp>
        <p:nvSpPr>
          <p:cNvPr id="7" name="Text 4"/>
          <p:cNvSpPr txBox="1"/>
          <p:nvPr/>
        </p:nvSpPr>
        <p:spPr>
          <a:xfrm>
            <a:off x="1280160" y="1755648"/>
            <a:ext cx="1645920" cy="502920"/>
          </a:xfrm>
          <a:prstGeom prst="rect">
            <a:avLst/>
          </a:prstGeom>
          <a:noFill/>
          <a:ln/>
        </p:spPr>
        <p:txBody>
          <a:bodyPr wrap="square" lIns="0" tIns="0" rIns="0" bIns="0" rtlCol="0" anchor="ctr"/>
          <a:lstStyle/>
          <a:p>
            <a:pPr indent="0" marL="0">
              <a:buNone/>
            </a:pPr>
            <a:r>
              <a:rPr lang="en-US" sz="1600" b="1" dirty="0">
                <a:solidFill>
                  <a:schemeClr val="tx1"/>
                </a:solidFill>
              </a:rPr>
              <a:t>Energy source</a:t>
            </a:r>
            <a:endParaRPr lang="en-US" sz="1600" dirty="0"/>
          </a:p>
        </p:txBody>
      </p:sp>
      <p:sp>
        <p:nvSpPr>
          <p:cNvPr id="8" name="Text 5"/>
          <p:cNvSpPr txBox="1"/>
          <p:nvPr/>
        </p:nvSpPr>
        <p:spPr>
          <a:xfrm>
            <a:off x="640080" y="2423160"/>
            <a:ext cx="224028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One RTG turns heat from plutonium-238 into electricity</a:t>
            </a:r>
            <a:endParaRPr lang="en-US" sz="1400" dirty="0"/>
          </a:p>
          <a:p>
            <a:pPr marL="342900" indent="-342900">
              <a:spcAft>
                <a:spcPts val="800"/>
              </a:spcAft>
              <a:buSzPct val="100000"/>
              <a:buChar char="•"/>
            </a:pPr>
            <a:r>
              <a:rPr lang="en-US" sz="1400" dirty="0">
                <a:solidFill>
                  <a:schemeClr val="tx1"/>
                </a:solidFill>
              </a:rPr>
              <a:t>About 245 W at launch, about 200 W at Pluto</a:t>
            </a:r>
            <a:endParaRPr lang="en-US" sz="1400" dirty="0"/>
          </a:p>
          <a:p>
            <a:pPr marL="342900" indent="-342900">
              <a:spcAft>
                <a:spcPts val="800"/>
              </a:spcAft>
              <a:buSzPct val="100000"/>
              <a:buChar char="•"/>
            </a:pPr>
            <a:r>
              <a:rPr lang="en-US" sz="1400" dirty="0">
                <a:solidFill>
                  <a:schemeClr val="tx1"/>
                </a:solidFill>
              </a:rPr>
              <a:t>Sunlight at Pluto is far too weak for solar panels</a:t>
            </a:r>
            <a:endParaRPr lang="en-US" sz="1400" dirty="0"/>
          </a:p>
        </p:txBody>
      </p:sp>
      <p:sp>
        <p:nvSpPr>
          <p:cNvPr id="9" name="Column card"/>
          <p:cNvSpPr/>
          <p:nvPr/>
        </p:nvSpPr>
        <p:spPr>
          <a:xfrm>
            <a:off x="3291840" y="1600200"/>
            <a:ext cx="2560320" cy="3017520"/>
          </a:xfrm>
          <a:prstGeom prst="roundRect">
            <a:avLst>
              <a:gd name="adj" fmla="val 2857"/>
            </a:avLst>
          </a:prstGeom>
          <a:solidFill>
            <a:schemeClr val="bg2"/>
          </a:solidFill>
          <a:ln w="12700">
            <a:solidFill>
              <a:schemeClr val="bg2"/>
            </a:solidFill>
            <a:prstDash val="solid"/>
          </a:ln>
        </p:spPr>
      </p:sp>
      <p:sp>
        <p:nvSpPr>
          <p:cNvPr id="10" name="Icon badge"/>
          <p:cNvSpPr/>
          <p:nvPr/>
        </p:nvSpPr>
        <p:spPr>
          <a:xfrm>
            <a:off x="3474720" y="1755648"/>
            <a:ext cx="502920" cy="502920"/>
          </a:xfrm>
          <a:prstGeom prst="ellipse">
            <a:avLst/>
          </a:prstGeom>
          <a:solidFill>
            <a:schemeClr val="accent1"/>
          </a:solidFill>
          <a:ln w="12700">
            <a:solidFill>
              <a:schemeClr val="accent1"/>
            </a:solidFill>
            <a:prstDash val="solid"/>
          </a:ln>
        </p:spPr>
      </p:sp>
      <p:pic>
        <p:nvPicPr>
          <p:cNvPr id="11" name="Image 1" descr="icon">    </p:cNvPr>
          <p:cNvPicPr>
            <a:picLocks noChangeAspect="1"/>
          </p:cNvPicPr>
          <p:nvPr/>
        </p:nvPicPr>
        <p:blipFill>
          <a:blip r:embed="rId2"/>
          <a:stretch>
            <a:fillRect/>
          </a:stretch>
        </p:blipFill>
        <p:spPr>
          <a:xfrm>
            <a:off x="3600450" y="1881378"/>
            <a:ext cx="251460" cy="251460"/>
          </a:xfrm>
          <a:prstGeom prst="rect">
            <a:avLst/>
          </a:prstGeom>
        </p:spPr>
      </p:pic>
      <p:sp>
        <p:nvSpPr>
          <p:cNvPr id="12" name="Text 8"/>
          <p:cNvSpPr txBox="1"/>
          <p:nvPr/>
        </p:nvSpPr>
        <p:spPr>
          <a:xfrm>
            <a:off x="4114800" y="1755648"/>
            <a:ext cx="1645920" cy="502920"/>
          </a:xfrm>
          <a:prstGeom prst="rect">
            <a:avLst/>
          </a:prstGeom>
          <a:noFill/>
          <a:ln/>
        </p:spPr>
        <p:txBody>
          <a:bodyPr wrap="square" lIns="0" tIns="0" rIns="0" bIns="0" rtlCol="0" anchor="ctr"/>
          <a:lstStyle/>
          <a:p>
            <a:pPr indent="0" marL="0">
              <a:buNone/>
            </a:pPr>
            <a:r>
              <a:rPr lang="en-US" sz="1600" b="1" dirty="0">
                <a:solidFill>
                  <a:schemeClr val="tx1"/>
                </a:solidFill>
              </a:rPr>
              <a:t>Communication</a:t>
            </a:r>
            <a:endParaRPr lang="en-US" sz="1600" dirty="0"/>
          </a:p>
        </p:txBody>
      </p:sp>
      <p:sp>
        <p:nvSpPr>
          <p:cNvPr id="13" name="Text 9"/>
          <p:cNvSpPr txBox="1"/>
          <p:nvPr/>
        </p:nvSpPr>
        <p:spPr>
          <a:xfrm>
            <a:off x="3474720" y="2423160"/>
            <a:ext cx="224028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2.1 m dish sends X-band radio to Earth</a:t>
            </a:r>
            <a:endParaRPr lang="en-US" sz="1400" dirty="0"/>
          </a:p>
          <a:p>
            <a:pPr marL="342900" indent="-342900">
              <a:spcAft>
                <a:spcPts val="800"/>
              </a:spcAft>
              <a:buSzPct val="100000"/>
              <a:buChar char="•"/>
            </a:pPr>
            <a:r>
              <a:rPr lang="en-US" sz="1400" dirty="0">
                <a:solidFill>
                  <a:schemeClr val="tx1"/>
                </a:solidFill>
              </a:rPr>
              <a:t>One-way signal takes about 4.5 hours</a:t>
            </a:r>
            <a:endParaRPr lang="en-US" sz="1400" dirty="0"/>
          </a:p>
          <a:p>
            <a:pPr marL="342900" indent="-342900">
              <a:spcAft>
                <a:spcPts val="800"/>
              </a:spcAft>
              <a:buSzPct val="100000"/>
              <a:buChar char="•"/>
            </a:pPr>
            <a:r>
              <a:rPr lang="en-US" sz="1400" dirty="0">
                <a:solidFill>
                  <a:schemeClr val="tx1"/>
                </a:solidFill>
              </a:rPr>
              <a:t>About 1 kilobit per second at Pluto</a:t>
            </a:r>
            <a:endParaRPr lang="en-US" sz="1400" dirty="0"/>
          </a:p>
        </p:txBody>
      </p:sp>
      <p:sp>
        <p:nvSpPr>
          <p:cNvPr id="14" name="Column card"/>
          <p:cNvSpPr/>
          <p:nvPr/>
        </p:nvSpPr>
        <p:spPr>
          <a:xfrm>
            <a:off x="6126480" y="1600200"/>
            <a:ext cx="2560320" cy="3017520"/>
          </a:xfrm>
          <a:prstGeom prst="roundRect">
            <a:avLst>
              <a:gd name="adj" fmla="val 2857"/>
            </a:avLst>
          </a:prstGeom>
          <a:solidFill>
            <a:schemeClr val="bg2"/>
          </a:solidFill>
          <a:ln w="12700">
            <a:solidFill>
              <a:schemeClr val="bg2"/>
            </a:solidFill>
            <a:prstDash val="solid"/>
          </a:ln>
        </p:spPr>
      </p:sp>
      <p:sp>
        <p:nvSpPr>
          <p:cNvPr id="15" name="Icon badge"/>
          <p:cNvSpPr/>
          <p:nvPr/>
        </p:nvSpPr>
        <p:spPr>
          <a:xfrm>
            <a:off x="6309360" y="1755648"/>
            <a:ext cx="502920" cy="502920"/>
          </a:xfrm>
          <a:prstGeom prst="ellipse">
            <a:avLst/>
          </a:prstGeom>
          <a:solidFill>
            <a:schemeClr val="accent1"/>
          </a:solidFill>
          <a:ln w="12700">
            <a:solidFill>
              <a:schemeClr val="accent1"/>
            </a:solidFill>
            <a:prstDash val="solid"/>
          </a:ln>
        </p:spPr>
      </p:sp>
      <p:pic>
        <p:nvPicPr>
          <p:cNvPr id="16" name="Image 2" descr="icon">    </p:cNvPr>
          <p:cNvPicPr>
            <a:picLocks noChangeAspect="1"/>
          </p:cNvPicPr>
          <p:nvPr/>
        </p:nvPicPr>
        <p:blipFill>
          <a:blip r:embed="rId3"/>
          <a:stretch>
            <a:fillRect/>
          </a:stretch>
        </p:blipFill>
        <p:spPr>
          <a:xfrm>
            <a:off x="6435090" y="1881378"/>
            <a:ext cx="251460" cy="251460"/>
          </a:xfrm>
          <a:prstGeom prst="rect">
            <a:avLst/>
          </a:prstGeom>
        </p:spPr>
      </p:pic>
      <p:sp>
        <p:nvSpPr>
          <p:cNvPr id="17" name="Text 12"/>
          <p:cNvSpPr txBox="1"/>
          <p:nvPr/>
        </p:nvSpPr>
        <p:spPr>
          <a:xfrm>
            <a:off x="6949440" y="1755648"/>
            <a:ext cx="1645920" cy="502920"/>
          </a:xfrm>
          <a:prstGeom prst="rect">
            <a:avLst/>
          </a:prstGeom>
          <a:noFill/>
          <a:ln/>
        </p:spPr>
        <p:txBody>
          <a:bodyPr wrap="square" lIns="0" tIns="0" rIns="0" bIns="0" rtlCol="0" anchor="ctr"/>
          <a:lstStyle/>
          <a:p>
            <a:pPr indent="0" marL="0">
              <a:buNone/>
            </a:pPr>
            <a:r>
              <a:rPr lang="en-US" sz="1600" b="1" dirty="0">
                <a:solidFill>
                  <a:schemeClr val="tx1"/>
                </a:solidFill>
              </a:rPr>
              <a:t>Information processing</a:t>
            </a:r>
            <a:endParaRPr lang="en-US" sz="1600" dirty="0"/>
          </a:p>
        </p:txBody>
      </p:sp>
      <p:sp>
        <p:nvSpPr>
          <p:cNvPr id="18" name="Text 13"/>
          <p:cNvSpPr txBox="1"/>
          <p:nvPr/>
        </p:nvSpPr>
        <p:spPr>
          <a:xfrm>
            <a:off x="6309360" y="2423160"/>
            <a:ext cx="224028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Two redundant 12 MHz radiation-hardened computers</a:t>
            </a:r>
            <a:endParaRPr lang="en-US" sz="1400" dirty="0"/>
          </a:p>
          <a:p>
            <a:pPr marL="342900" indent="-342900">
              <a:spcAft>
                <a:spcPts val="800"/>
              </a:spcAft>
              <a:buSzPct val="100000"/>
              <a:buChar char="•"/>
            </a:pPr>
            <a:r>
              <a:rPr lang="en-US" sz="1400" dirty="0">
                <a:solidFill>
                  <a:schemeClr val="tx1"/>
                </a:solidFill>
              </a:rPr>
              <a:t>Recorders store data until the dish points to Earth</a:t>
            </a:r>
            <a:endParaRPr lang="en-US" sz="1400" dirty="0"/>
          </a:p>
          <a:p>
            <a:pPr marL="342900" indent="-342900">
              <a:spcAft>
                <a:spcPts val="800"/>
              </a:spcAft>
              <a:buSzPct val="100000"/>
              <a:buChar char="•"/>
            </a:pPr>
            <a:r>
              <a:rPr lang="en-US" sz="1400" dirty="0">
                <a:solidFill>
                  <a:schemeClr val="tx1"/>
                </a:solidFill>
              </a:rPr>
              <a:t>Switched to its backup computer 10 days before the flyby</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9B8D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label"/>
          <p:cNvSpPr txBox="1"/>
          <p:nvPr/>
        </p:nvSpPr>
        <p:spPr>
          <a:xfrm>
            <a:off x="457200" y="256032"/>
            <a:ext cx="5486400" cy="246888"/>
          </a:xfrm>
          <a:prstGeom prst="rect">
            <a:avLst/>
          </a:prstGeom>
          <a:noFill/>
          <a:ln/>
        </p:spPr>
        <p:txBody>
          <a:bodyPr wrap="square" lIns="0" tIns="0" rIns="0" bIns="0" rtlCol="0" anchor="ctr"/>
          <a:lstStyle/>
          <a:p>
            <a:pPr indent="0" marL="0">
              <a:buNone/>
            </a:pPr>
            <a:r>
              <a:rPr lang="en-US" sz="1200" b="1" spc="300" kern="0" dirty="0">
                <a:solidFill>
                  <a:schemeClr val="accent1"/>
                </a:solidFill>
              </a:rPr>
              <a:t>THE JOURNEY</a:t>
            </a:r>
            <a:endParaRPr lang="en-US" sz="1200" dirty="0"/>
          </a:p>
        </p:txBody>
      </p:sp>
      <p:sp>
        <p:nvSpPr>
          <p:cNvPr id="3" name="Text 0"/>
          <p:cNvSpPr/>
          <p:nvPr>
            <p:ph idx="100" type="title" hasCustomPrompt="1"/>
          </p:nvPr>
        </p:nvSpPr>
        <p:spPr>
          <a:xfrm>
            <a:off x="457200" y="502920"/>
            <a:ext cx="8229600" cy="1005840"/>
          </a:xfrm>
          <a:prstGeom prst="rect">
            <a:avLst/>
          </a:prstGeom>
          <a:noFill/>
          <a:ln/>
        </p:spPr>
        <p:txBody>
          <a:bodyPr wrap="square" lIns="0" tIns="0" rIns="0" bIns="0" rtlCol="0" anchor="t"/>
          <a:lstStyle/>
          <a:p>
            <a:pPr algn="l" indent="0" marL="0">
              <a:buNone/>
            </a:pPr>
            <a:r>
              <a:rPr lang="en-US" sz="3200" b="1" dirty="0">
                <a:solidFill>
                  <a:schemeClr val="tx1"/>
                </a:solidFill>
              </a:rPr>
              <a:t>A Jupiter boost cut about three years off the trip to Pluto</a:t>
            </a:r>
            <a:endParaRPr lang="en-US" sz="3200" dirty="0"/>
          </a:p>
        </p:txBody>
      </p:sp>
      <p:graphicFrame>
        <p:nvGraphicFramePr>
          <p:cNvPr id="4" name="Chart 0" descr=""/>
          <p:cNvGraphicFramePr/>
          <p:nvPr/>
        </p:nvGraphicFramePr>
        <p:xfrm>
          <a:off x="457200" y="1600200"/>
          <a:ext cx="5120640" cy="3017520"/>
        </p:xfrm>
        <a:graphic xmlns:a="http://schemas.openxmlformats.org/drawingml/2006/main">
          <a:graphicData uri="http://schemas.openxmlformats.org/drawingml/2006/chart">
            <c:chart xmlns:c="http://schemas.openxmlformats.org/drawingml/2006/chart" r:id="rId1"/>
          </a:graphicData>
        </a:graphic>
      </p:graphicFrame>
      <p:sp>
        <p:nvSpPr>
          <p:cNvPr id="5" name="Milestone card"/>
          <p:cNvSpPr/>
          <p:nvPr/>
        </p:nvSpPr>
        <p:spPr>
          <a:xfrm>
            <a:off x="5852160" y="1600200"/>
            <a:ext cx="2834640" cy="658368"/>
          </a:xfrm>
          <a:prstGeom prst="roundRect">
            <a:avLst>
              <a:gd name="adj" fmla="val 11111"/>
            </a:avLst>
          </a:prstGeom>
          <a:solidFill>
            <a:schemeClr val="bg2"/>
          </a:solidFill>
          <a:ln w="12700">
            <a:solidFill>
              <a:schemeClr val="bg2"/>
            </a:solidFill>
            <a:prstDash val="solid"/>
          </a:ln>
        </p:spPr>
      </p:sp>
      <p:sp>
        <p:nvSpPr>
          <p:cNvPr id="6" name="Text 3"/>
          <p:cNvSpPr txBox="1"/>
          <p:nvPr/>
        </p:nvSpPr>
        <p:spPr>
          <a:xfrm>
            <a:off x="5989320" y="1655064"/>
            <a:ext cx="2560320" cy="246888"/>
          </a:xfrm>
          <a:prstGeom prst="rect">
            <a:avLst/>
          </a:prstGeom>
          <a:noFill/>
          <a:ln/>
        </p:spPr>
        <p:txBody>
          <a:bodyPr wrap="square" lIns="0" tIns="0" rIns="0" bIns="0" rtlCol="0" anchor="t"/>
          <a:lstStyle/>
          <a:p>
            <a:pPr indent="0" marL="0">
              <a:buNone/>
            </a:pPr>
            <a:r>
              <a:rPr lang="en-US" sz="1400" b="1" dirty="0">
                <a:solidFill>
                  <a:schemeClr val="accent1"/>
                </a:solidFill>
              </a:rPr>
              <a:t>Launch</a:t>
            </a:r>
            <a:endParaRPr lang="en-US" sz="1400" dirty="0"/>
          </a:p>
        </p:txBody>
      </p:sp>
      <p:sp>
        <p:nvSpPr>
          <p:cNvPr id="7" name="Text 4"/>
          <p:cNvSpPr txBox="1"/>
          <p:nvPr/>
        </p:nvSpPr>
        <p:spPr>
          <a:xfrm>
            <a:off x="5989320" y="1901952"/>
            <a:ext cx="2606040" cy="320040"/>
          </a:xfrm>
          <a:prstGeom prst="rect">
            <a:avLst/>
          </a:prstGeom>
          <a:noFill/>
          <a:ln/>
        </p:spPr>
        <p:txBody>
          <a:bodyPr wrap="square" lIns="0" tIns="0" rIns="0" bIns="0" rtlCol="0" anchor="t"/>
          <a:lstStyle/>
          <a:p>
            <a:pPr indent="0" marL="0">
              <a:buNone/>
            </a:pPr>
            <a:r>
              <a:rPr lang="en-US" sz="1200" dirty="0">
                <a:solidFill>
                  <a:schemeClr val="tx1"/>
                </a:solidFill>
              </a:rPr>
              <a:t>About 58,000 km/h leaving Earth</a:t>
            </a:r>
            <a:endParaRPr lang="en-US" sz="1200" dirty="0"/>
          </a:p>
        </p:txBody>
      </p:sp>
      <p:sp>
        <p:nvSpPr>
          <p:cNvPr id="8" name="Milestone card"/>
          <p:cNvSpPr/>
          <p:nvPr/>
        </p:nvSpPr>
        <p:spPr>
          <a:xfrm>
            <a:off x="5852160" y="2359152"/>
            <a:ext cx="2834640" cy="658368"/>
          </a:xfrm>
          <a:prstGeom prst="roundRect">
            <a:avLst>
              <a:gd name="adj" fmla="val 11111"/>
            </a:avLst>
          </a:prstGeom>
          <a:solidFill>
            <a:schemeClr val="bg2"/>
          </a:solidFill>
          <a:ln w="12700">
            <a:solidFill>
              <a:schemeClr val="bg2"/>
            </a:solidFill>
            <a:prstDash val="solid"/>
          </a:ln>
        </p:spPr>
      </p:sp>
      <p:sp>
        <p:nvSpPr>
          <p:cNvPr id="9" name="Text 6"/>
          <p:cNvSpPr txBox="1"/>
          <p:nvPr/>
        </p:nvSpPr>
        <p:spPr>
          <a:xfrm>
            <a:off x="5989320" y="2414016"/>
            <a:ext cx="2560320" cy="246888"/>
          </a:xfrm>
          <a:prstGeom prst="rect">
            <a:avLst/>
          </a:prstGeom>
          <a:noFill/>
          <a:ln/>
        </p:spPr>
        <p:txBody>
          <a:bodyPr wrap="square" lIns="0" tIns="0" rIns="0" bIns="0" rtlCol="0" anchor="t"/>
          <a:lstStyle/>
          <a:p>
            <a:pPr indent="0" marL="0">
              <a:buNone/>
            </a:pPr>
            <a:r>
              <a:rPr lang="en-US" sz="1400" b="1" dirty="0">
                <a:solidFill>
                  <a:schemeClr val="accent1"/>
                </a:solidFill>
              </a:rPr>
              <a:t>Jupiter</a:t>
            </a:r>
            <a:endParaRPr lang="en-US" sz="1400" dirty="0"/>
          </a:p>
        </p:txBody>
      </p:sp>
      <p:sp>
        <p:nvSpPr>
          <p:cNvPr id="10" name="Text 7"/>
          <p:cNvSpPr txBox="1"/>
          <p:nvPr/>
        </p:nvSpPr>
        <p:spPr>
          <a:xfrm>
            <a:off x="5989320" y="2660904"/>
            <a:ext cx="2606040" cy="320040"/>
          </a:xfrm>
          <a:prstGeom prst="rect">
            <a:avLst/>
          </a:prstGeom>
          <a:noFill/>
          <a:ln/>
        </p:spPr>
        <p:txBody>
          <a:bodyPr wrap="square" lIns="0" tIns="0" rIns="0" bIns="0" rtlCol="0" anchor="t"/>
          <a:lstStyle/>
          <a:p>
            <a:pPr indent="0" marL="0">
              <a:buNone/>
            </a:pPr>
            <a:r>
              <a:rPr lang="en-US" sz="1200" dirty="0">
                <a:solidFill>
                  <a:schemeClr val="tx1"/>
                </a:solidFill>
              </a:rPr>
              <a:t>Gravity assist, Feb 28, 2007</a:t>
            </a:r>
            <a:endParaRPr lang="en-US" sz="1200" dirty="0"/>
          </a:p>
        </p:txBody>
      </p:sp>
      <p:sp>
        <p:nvSpPr>
          <p:cNvPr id="11" name="Milestone card"/>
          <p:cNvSpPr/>
          <p:nvPr/>
        </p:nvSpPr>
        <p:spPr>
          <a:xfrm>
            <a:off x="5852160" y="3118104"/>
            <a:ext cx="2834640" cy="658368"/>
          </a:xfrm>
          <a:prstGeom prst="roundRect">
            <a:avLst>
              <a:gd name="adj" fmla="val 11111"/>
            </a:avLst>
          </a:prstGeom>
          <a:solidFill>
            <a:schemeClr val="bg2"/>
          </a:solidFill>
          <a:ln w="12700">
            <a:solidFill>
              <a:schemeClr val="bg2"/>
            </a:solidFill>
            <a:prstDash val="solid"/>
          </a:ln>
        </p:spPr>
      </p:sp>
      <p:sp>
        <p:nvSpPr>
          <p:cNvPr id="12" name="Text 9"/>
          <p:cNvSpPr txBox="1"/>
          <p:nvPr/>
        </p:nvSpPr>
        <p:spPr>
          <a:xfrm>
            <a:off x="5989320" y="3172968"/>
            <a:ext cx="2560320" cy="246888"/>
          </a:xfrm>
          <a:prstGeom prst="rect">
            <a:avLst/>
          </a:prstGeom>
          <a:noFill/>
          <a:ln/>
        </p:spPr>
        <p:txBody>
          <a:bodyPr wrap="square" lIns="0" tIns="0" rIns="0" bIns="0" rtlCol="0" anchor="t"/>
          <a:lstStyle/>
          <a:p>
            <a:pPr indent="0" marL="0">
              <a:buNone/>
            </a:pPr>
            <a:r>
              <a:rPr lang="en-US" sz="1400" b="1" dirty="0">
                <a:solidFill>
                  <a:schemeClr val="accent1"/>
                </a:solidFill>
              </a:rPr>
              <a:t>Pluto</a:t>
            </a:r>
            <a:endParaRPr lang="en-US" sz="1400" dirty="0"/>
          </a:p>
        </p:txBody>
      </p:sp>
      <p:sp>
        <p:nvSpPr>
          <p:cNvPr id="13" name="Text 10"/>
          <p:cNvSpPr txBox="1"/>
          <p:nvPr/>
        </p:nvSpPr>
        <p:spPr>
          <a:xfrm>
            <a:off x="5989320" y="3419856"/>
            <a:ext cx="2606040" cy="320040"/>
          </a:xfrm>
          <a:prstGeom prst="rect">
            <a:avLst/>
          </a:prstGeom>
          <a:noFill/>
          <a:ln/>
        </p:spPr>
        <p:txBody>
          <a:bodyPr wrap="square" lIns="0" tIns="0" rIns="0" bIns="0" rtlCol="0" anchor="t"/>
          <a:lstStyle/>
          <a:p>
            <a:pPr indent="0" marL="0">
              <a:buNone/>
            </a:pPr>
            <a:r>
              <a:rPr lang="en-US" sz="1200" dirty="0">
                <a:solidFill>
                  <a:schemeClr val="tx1"/>
                </a:solidFill>
              </a:rPr>
              <a:t>Closest approach Jul 14, 2015</a:t>
            </a:r>
            <a:endParaRPr lang="en-US" sz="1200" dirty="0"/>
          </a:p>
        </p:txBody>
      </p:sp>
      <p:sp>
        <p:nvSpPr>
          <p:cNvPr id="14" name="Milestone card"/>
          <p:cNvSpPr/>
          <p:nvPr/>
        </p:nvSpPr>
        <p:spPr>
          <a:xfrm>
            <a:off x="5852160" y="3877056"/>
            <a:ext cx="2834640" cy="658368"/>
          </a:xfrm>
          <a:prstGeom prst="roundRect">
            <a:avLst>
              <a:gd name="adj" fmla="val 11111"/>
            </a:avLst>
          </a:prstGeom>
          <a:solidFill>
            <a:schemeClr val="bg2"/>
          </a:solidFill>
          <a:ln w="12700">
            <a:solidFill>
              <a:schemeClr val="bg2"/>
            </a:solidFill>
            <a:prstDash val="solid"/>
          </a:ln>
        </p:spPr>
      </p:sp>
      <p:sp>
        <p:nvSpPr>
          <p:cNvPr id="15" name="Text 12"/>
          <p:cNvSpPr txBox="1"/>
          <p:nvPr/>
        </p:nvSpPr>
        <p:spPr>
          <a:xfrm>
            <a:off x="5989320" y="3931920"/>
            <a:ext cx="2560320" cy="246888"/>
          </a:xfrm>
          <a:prstGeom prst="rect">
            <a:avLst/>
          </a:prstGeom>
          <a:noFill/>
          <a:ln/>
        </p:spPr>
        <p:txBody>
          <a:bodyPr wrap="square" lIns="0" tIns="0" rIns="0" bIns="0" rtlCol="0" anchor="t"/>
          <a:lstStyle/>
          <a:p>
            <a:pPr indent="0" marL="0">
              <a:buNone/>
            </a:pPr>
            <a:r>
              <a:rPr lang="en-US" sz="1400" b="1" dirty="0">
                <a:solidFill>
                  <a:schemeClr val="accent1"/>
                </a:solidFill>
              </a:rPr>
              <a:t>Arrokoth</a:t>
            </a:r>
            <a:endParaRPr lang="en-US" sz="1400" dirty="0"/>
          </a:p>
        </p:txBody>
      </p:sp>
      <p:sp>
        <p:nvSpPr>
          <p:cNvPr id="16" name="Text 13"/>
          <p:cNvSpPr txBox="1"/>
          <p:nvPr/>
        </p:nvSpPr>
        <p:spPr>
          <a:xfrm>
            <a:off x="5989320" y="4178808"/>
            <a:ext cx="2606040" cy="320040"/>
          </a:xfrm>
          <a:prstGeom prst="rect">
            <a:avLst/>
          </a:prstGeom>
          <a:noFill/>
          <a:ln/>
        </p:spPr>
        <p:txBody>
          <a:bodyPr wrap="square" lIns="0" tIns="0" rIns="0" bIns="0" rtlCol="0" anchor="t"/>
          <a:lstStyle/>
          <a:p>
            <a:pPr indent="0" marL="0">
              <a:buNone/>
            </a:pPr>
            <a:r>
              <a:rPr lang="en-US" sz="1200" dirty="0">
                <a:solidFill>
                  <a:schemeClr val="tx1"/>
                </a:solidFill>
              </a:rPr>
              <a:t>Extended mission flyby, Jan 1, 2019</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9B8D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ection label"/>
          <p:cNvSpPr txBox="1"/>
          <p:nvPr/>
        </p:nvSpPr>
        <p:spPr>
          <a:xfrm>
            <a:off x="457200" y="256032"/>
            <a:ext cx="5486400" cy="246888"/>
          </a:xfrm>
          <a:prstGeom prst="rect">
            <a:avLst/>
          </a:prstGeom>
          <a:noFill/>
          <a:ln/>
        </p:spPr>
        <p:txBody>
          <a:bodyPr wrap="square" lIns="0" tIns="0" rIns="0" bIns="0" rtlCol="0" anchor="ctr"/>
          <a:lstStyle/>
          <a:p>
            <a:pPr indent="0" marL="0">
              <a:buNone/>
            </a:pPr>
            <a:r>
              <a:rPr lang="en-US" sz="1200" b="1" spc="300" kern="0" dirty="0">
                <a:solidFill>
                  <a:schemeClr val="accent1"/>
                </a:solidFill>
              </a:rPr>
              <a:t>THE JOURNEY</a:t>
            </a:r>
            <a:endParaRPr lang="en-US" sz="1200" dirty="0"/>
          </a:p>
        </p:txBody>
      </p:sp>
      <p:sp>
        <p:nvSpPr>
          <p:cNvPr id="3" name="Text 0"/>
          <p:cNvSpPr/>
          <p:nvPr>
            <p:ph idx="100" type="title" hasCustomPrompt="1"/>
          </p:nvPr>
        </p:nvSpPr>
        <p:spPr>
          <a:xfrm>
            <a:off x="457200" y="502920"/>
            <a:ext cx="8229600" cy="1005840"/>
          </a:xfrm>
          <a:prstGeom prst="rect">
            <a:avLst/>
          </a:prstGeom>
          <a:noFill/>
          <a:ln/>
        </p:spPr>
        <p:txBody>
          <a:bodyPr wrap="square" lIns="0" tIns="0" rIns="0" bIns="0" rtlCol="0" anchor="t"/>
          <a:lstStyle/>
          <a:p>
            <a:pPr algn="l" indent="0" marL="0">
              <a:buNone/>
            </a:pPr>
            <a:r>
              <a:rPr lang="en-US" sz="3200" b="1" dirty="0">
                <a:solidFill>
                  <a:schemeClr val="tx1"/>
                </a:solidFill>
              </a:rPr>
              <a:t>Pluto turned out to be geologically active, not a frozen relic</a:t>
            </a:r>
            <a:endParaRPr lang="en-US" sz="3200" dirty="0"/>
          </a:p>
        </p:txBody>
      </p:sp>
      <p:sp>
        <p:nvSpPr>
          <p:cNvPr id="4" name="Earth"/>
          <p:cNvSpPr/>
          <p:nvPr/>
        </p:nvSpPr>
        <p:spPr>
          <a:xfrm>
            <a:off x="548640" y="1645920"/>
            <a:ext cx="2011680" cy="2011680"/>
          </a:xfrm>
          <a:prstGeom prst="ellipse">
            <a:avLst/>
          </a:prstGeom>
          <a:solidFill>
            <a:schemeClr val="accent2"/>
          </a:solidFill>
          <a:ln w="12700">
            <a:solidFill>
              <a:schemeClr val="accent2"/>
            </a:solidFill>
            <a:prstDash val="solid"/>
          </a:ln>
        </p:spPr>
      </p:sp>
      <p:sp>
        <p:nvSpPr>
          <p:cNvPr id="5" name="Text 3"/>
          <p:cNvSpPr txBox="1"/>
          <p:nvPr/>
        </p:nvSpPr>
        <p:spPr>
          <a:xfrm>
            <a:off x="548640" y="1645920"/>
            <a:ext cx="2011680" cy="2011680"/>
          </a:xfrm>
          <a:prstGeom prst="rect">
            <a:avLst/>
          </a:prstGeom>
          <a:noFill/>
          <a:ln/>
        </p:spPr>
        <p:txBody>
          <a:bodyPr wrap="square" lIns="0" tIns="0" rIns="0" bIns="0" rtlCol="0" anchor="ctr"/>
          <a:lstStyle/>
          <a:p>
            <a:pPr algn="ctr" indent="0" marL="0">
              <a:buNone/>
            </a:pPr>
            <a:r>
              <a:rPr lang="en-US" sz="1400" b="1" dirty="0">
                <a:solidFill>
                  <a:srgbClr val="0B1026"/>
                </a:solidFill>
              </a:rPr>
              <a:t>Earth</a:t>
            </a:r>
            <a:endParaRPr lang="en-US" sz="1400" dirty="0"/>
          </a:p>
          <a:p>
            <a:pPr algn="ctr" indent="0" marL="0">
              <a:buNone/>
            </a:pPr>
            <a:r>
              <a:rPr lang="en-US" sz="1400" b="1" dirty="0">
                <a:solidFill>
                  <a:srgbClr val="0B1026"/>
                </a:solidFill>
              </a:rPr>
              <a:t>12,742 km</a:t>
            </a:r>
            <a:endParaRPr lang="en-US" sz="1400" dirty="0"/>
          </a:p>
        </p:txBody>
      </p:sp>
      <p:sp>
        <p:nvSpPr>
          <p:cNvPr id="6" name="Pluto"/>
          <p:cNvSpPr/>
          <p:nvPr/>
        </p:nvSpPr>
        <p:spPr>
          <a:xfrm>
            <a:off x="2788920" y="3154680"/>
            <a:ext cx="374904" cy="374904"/>
          </a:xfrm>
          <a:prstGeom prst="ellipse">
            <a:avLst/>
          </a:prstGeom>
          <a:solidFill>
            <a:schemeClr val="accent1"/>
          </a:solidFill>
          <a:ln w="12700">
            <a:solidFill>
              <a:schemeClr val="accent1"/>
            </a:solidFill>
            <a:prstDash val="solid"/>
          </a:ln>
        </p:spPr>
      </p:sp>
      <p:sp>
        <p:nvSpPr>
          <p:cNvPr id="7" name="Text 5"/>
          <p:cNvSpPr txBox="1"/>
          <p:nvPr/>
        </p:nvSpPr>
        <p:spPr>
          <a:xfrm>
            <a:off x="2606040" y="3566160"/>
            <a:ext cx="777240" cy="457200"/>
          </a:xfrm>
          <a:prstGeom prst="rect">
            <a:avLst/>
          </a:prstGeom>
          <a:noFill/>
          <a:ln/>
        </p:spPr>
        <p:txBody>
          <a:bodyPr wrap="square" lIns="0" tIns="0" rIns="0" bIns="0" rtlCol="0" anchor="t"/>
          <a:lstStyle/>
          <a:p>
            <a:pPr algn="ctr" indent="0" marL="0">
              <a:buNone/>
            </a:pPr>
            <a:r>
              <a:rPr lang="en-US" sz="1200" b="1" dirty="0">
                <a:solidFill>
                  <a:schemeClr val="accent1"/>
                </a:solidFill>
              </a:rPr>
              <a:t>Pluto</a:t>
            </a:r>
            <a:endParaRPr lang="en-US" sz="1200" dirty="0"/>
          </a:p>
          <a:p>
            <a:pPr algn="ctr" indent="0" marL="0">
              <a:buNone/>
            </a:pPr>
            <a:r>
              <a:rPr lang="en-US" sz="1200" b="1" dirty="0">
                <a:solidFill>
                  <a:schemeClr val="accent1"/>
                </a:solidFill>
              </a:rPr>
              <a:t>2,377 km</a:t>
            </a:r>
            <a:endParaRPr lang="en-US" sz="1200" dirty="0"/>
          </a:p>
        </p:txBody>
      </p:sp>
      <p:sp>
        <p:nvSpPr>
          <p:cNvPr id="8" name="Text 6"/>
          <p:cNvSpPr txBox="1"/>
          <p:nvPr/>
        </p:nvSpPr>
        <p:spPr>
          <a:xfrm>
            <a:off x="457200" y="4160520"/>
            <a:ext cx="3108960" cy="457200"/>
          </a:xfrm>
          <a:prstGeom prst="rect">
            <a:avLst/>
          </a:prstGeom>
          <a:noFill/>
          <a:ln/>
        </p:spPr>
        <p:txBody>
          <a:bodyPr wrap="square" lIns="0" tIns="0" rIns="0" bIns="0" rtlCol="0" anchor="t"/>
          <a:lstStyle/>
          <a:p>
            <a:pPr indent="0" marL="0">
              <a:buNone/>
            </a:pPr>
            <a:r>
              <a:rPr lang="en-US" sz="1200" dirty="0">
                <a:solidFill>
                  <a:schemeClr val="tx2"/>
                </a:solidFill>
              </a:rPr>
              <a:t>Pluto is about one fifth of Earth's width</a:t>
            </a:r>
            <a:endParaRPr lang="en-US" sz="1200" dirty="0"/>
          </a:p>
        </p:txBody>
      </p:sp>
      <p:sp>
        <p:nvSpPr>
          <p:cNvPr id="9" name="Discovery card"/>
          <p:cNvSpPr/>
          <p:nvPr/>
        </p:nvSpPr>
        <p:spPr>
          <a:xfrm>
            <a:off x="3840480" y="1600200"/>
            <a:ext cx="2377440" cy="1417320"/>
          </a:xfrm>
          <a:prstGeom prst="roundRect">
            <a:avLst>
              <a:gd name="adj" fmla="val 5161"/>
            </a:avLst>
          </a:prstGeom>
          <a:solidFill>
            <a:schemeClr val="bg2"/>
          </a:solidFill>
          <a:ln w="12700">
            <a:solidFill>
              <a:schemeClr val="bg2"/>
            </a:solidFill>
            <a:prstDash val="solid"/>
          </a:ln>
        </p:spPr>
      </p:sp>
      <p:sp>
        <p:nvSpPr>
          <p:cNvPr id="10" name="Text 8"/>
          <p:cNvSpPr txBox="1"/>
          <p:nvPr/>
        </p:nvSpPr>
        <p:spPr>
          <a:xfrm>
            <a:off x="3977640" y="1709928"/>
            <a:ext cx="2103120" cy="50292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12,500 km</a:t>
            </a:r>
            <a:endParaRPr lang="en-US" sz="2400" dirty="0"/>
          </a:p>
        </p:txBody>
      </p:sp>
      <p:sp>
        <p:nvSpPr>
          <p:cNvPr id="11" name="Text 9"/>
          <p:cNvSpPr txBox="1"/>
          <p:nvPr/>
        </p:nvSpPr>
        <p:spPr>
          <a:xfrm>
            <a:off x="3977640" y="2286000"/>
            <a:ext cx="2103120" cy="685800"/>
          </a:xfrm>
          <a:prstGeom prst="rect">
            <a:avLst/>
          </a:prstGeom>
          <a:noFill/>
          <a:ln/>
        </p:spPr>
        <p:txBody>
          <a:bodyPr wrap="square" lIns="0" tIns="0" rIns="0" bIns="0" rtlCol="0" anchor="t"/>
          <a:lstStyle/>
          <a:p>
            <a:pPr indent="0" marL="0">
              <a:buNone/>
            </a:pPr>
            <a:r>
              <a:rPr lang="en-US" sz="1300" dirty="0">
                <a:solidFill>
                  <a:schemeClr val="tx1"/>
                </a:solidFill>
              </a:rPr>
              <a:t>closest approach to Pluto's surface</a:t>
            </a:r>
            <a:endParaRPr lang="en-US" sz="1300" dirty="0"/>
          </a:p>
        </p:txBody>
      </p:sp>
      <p:sp>
        <p:nvSpPr>
          <p:cNvPr id="12" name="Discovery card"/>
          <p:cNvSpPr/>
          <p:nvPr/>
        </p:nvSpPr>
        <p:spPr>
          <a:xfrm>
            <a:off x="6309360" y="1600200"/>
            <a:ext cx="2377440" cy="1417320"/>
          </a:xfrm>
          <a:prstGeom prst="roundRect">
            <a:avLst>
              <a:gd name="adj" fmla="val 5161"/>
            </a:avLst>
          </a:prstGeom>
          <a:solidFill>
            <a:schemeClr val="bg2"/>
          </a:solidFill>
          <a:ln w="12700">
            <a:solidFill>
              <a:schemeClr val="bg2"/>
            </a:solidFill>
            <a:prstDash val="solid"/>
          </a:ln>
        </p:spPr>
      </p:sp>
      <p:sp>
        <p:nvSpPr>
          <p:cNvPr id="13" name="Text 11"/>
          <p:cNvSpPr txBox="1"/>
          <p:nvPr/>
        </p:nvSpPr>
        <p:spPr>
          <a:xfrm>
            <a:off x="6446520" y="1709928"/>
            <a:ext cx="2103120" cy="50292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3,500 m</a:t>
            </a:r>
            <a:endParaRPr lang="en-US" sz="2400" dirty="0"/>
          </a:p>
        </p:txBody>
      </p:sp>
      <p:sp>
        <p:nvSpPr>
          <p:cNvPr id="14" name="Text 12"/>
          <p:cNvSpPr txBox="1"/>
          <p:nvPr/>
        </p:nvSpPr>
        <p:spPr>
          <a:xfrm>
            <a:off x="6446520" y="2286000"/>
            <a:ext cx="2103120" cy="685800"/>
          </a:xfrm>
          <a:prstGeom prst="rect">
            <a:avLst/>
          </a:prstGeom>
          <a:noFill/>
          <a:ln/>
        </p:spPr>
        <p:txBody>
          <a:bodyPr wrap="square" lIns="0" tIns="0" rIns="0" bIns="0" rtlCol="0" anchor="t"/>
          <a:lstStyle/>
          <a:p>
            <a:pPr indent="0" marL="0">
              <a:buNone/>
            </a:pPr>
            <a:r>
              <a:rPr lang="en-US" sz="1300" dirty="0">
                <a:solidFill>
                  <a:schemeClr val="tx1"/>
                </a:solidFill>
              </a:rPr>
              <a:t>height of water-ice mountains</a:t>
            </a:r>
            <a:endParaRPr lang="en-US" sz="1300" dirty="0"/>
          </a:p>
        </p:txBody>
      </p:sp>
      <p:sp>
        <p:nvSpPr>
          <p:cNvPr id="15" name="Discovery card"/>
          <p:cNvSpPr/>
          <p:nvPr/>
        </p:nvSpPr>
        <p:spPr>
          <a:xfrm>
            <a:off x="3840480" y="3154680"/>
            <a:ext cx="2377440" cy="1417320"/>
          </a:xfrm>
          <a:prstGeom prst="roundRect">
            <a:avLst>
              <a:gd name="adj" fmla="val 5161"/>
            </a:avLst>
          </a:prstGeom>
          <a:solidFill>
            <a:schemeClr val="bg2"/>
          </a:solidFill>
          <a:ln w="12700">
            <a:solidFill>
              <a:schemeClr val="bg2"/>
            </a:solidFill>
            <a:prstDash val="solid"/>
          </a:ln>
        </p:spPr>
      </p:sp>
      <p:sp>
        <p:nvSpPr>
          <p:cNvPr id="16" name="Text 14"/>
          <p:cNvSpPr txBox="1"/>
          <p:nvPr/>
        </p:nvSpPr>
        <p:spPr>
          <a:xfrm>
            <a:off x="3977640" y="3264408"/>
            <a:ext cx="2103120" cy="50292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5 moons</a:t>
            </a:r>
            <a:endParaRPr lang="en-US" sz="2400" dirty="0"/>
          </a:p>
        </p:txBody>
      </p:sp>
      <p:sp>
        <p:nvSpPr>
          <p:cNvPr id="17" name="Text 15"/>
          <p:cNvSpPr txBox="1"/>
          <p:nvPr/>
        </p:nvSpPr>
        <p:spPr>
          <a:xfrm>
            <a:off x="3977640" y="3840480"/>
            <a:ext cx="2103120" cy="685800"/>
          </a:xfrm>
          <a:prstGeom prst="rect">
            <a:avLst/>
          </a:prstGeom>
          <a:noFill/>
          <a:ln/>
        </p:spPr>
        <p:txBody>
          <a:bodyPr wrap="square" lIns="0" tIns="0" rIns="0" bIns="0" rtlCol="0" anchor="t"/>
          <a:lstStyle/>
          <a:p>
            <a:pPr indent="0" marL="0">
              <a:buNone/>
            </a:pPr>
            <a:r>
              <a:rPr lang="en-US" sz="1300" dirty="0">
                <a:solidFill>
                  <a:schemeClr val="tx1"/>
                </a:solidFill>
              </a:rPr>
              <a:t>Charon, Styx, Nix, Kerberos, Hydra</a:t>
            </a:r>
            <a:endParaRPr lang="en-US" sz="1300" dirty="0"/>
          </a:p>
        </p:txBody>
      </p:sp>
      <p:sp>
        <p:nvSpPr>
          <p:cNvPr id="18" name="Discovery card"/>
          <p:cNvSpPr/>
          <p:nvPr/>
        </p:nvSpPr>
        <p:spPr>
          <a:xfrm>
            <a:off x="6309360" y="3154680"/>
            <a:ext cx="2377440" cy="1417320"/>
          </a:xfrm>
          <a:prstGeom prst="roundRect">
            <a:avLst>
              <a:gd name="adj" fmla="val 5161"/>
            </a:avLst>
          </a:prstGeom>
          <a:solidFill>
            <a:schemeClr val="bg2"/>
          </a:solidFill>
          <a:ln w="12700">
            <a:solidFill>
              <a:schemeClr val="bg2"/>
            </a:solidFill>
            <a:prstDash val="solid"/>
          </a:ln>
        </p:spPr>
      </p:sp>
      <p:sp>
        <p:nvSpPr>
          <p:cNvPr id="19" name="Text 17"/>
          <p:cNvSpPr txBox="1"/>
          <p:nvPr/>
        </p:nvSpPr>
        <p:spPr>
          <a:xfrm>
            <a:off x="6446520" y="3264408"/>
            <a:ext cx="2103120" cy="50292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Glaciers</a:t>
            </a:r>
            <a:endParaRPr lang="en-US" sz="2400" dirty="0"/>
          </a:p>
        </p:txBody>
      </p:sp>
      <p:sp>
        <p:nvSpPr>
          <p:cNvPr id="20" name="Text 18"/>
          <p:cNvSpPr txBox="1"/>
          <p:nvPr/>
        </p:nvSpPr>
        <p:spPr>
          <a:xfrm>
            <a:off x="6446520" y="3840480"/>
            <a:ext cx="2103120" cy="685800"/>
          </a:xfrm>
          <a:prstGeom prst="rect">
            <a:avLst/>
          </a:prstGeom>
          <a:noFill/>
          <a:ln/>
        </p:spPr>
        <p:txBody>
          <a:bodyPr wrap="square" lIns="0" tIns="0" rIns="0" bIns="0" rtlCol="0" anchor="t"/>
          <a:lstStyle/>
          <a:p>
            <a:pPr indent="0" marL="0">
              <a:buNone/>
            </a:pPr>
            <a:r>
              <a:rPr lang="en-US" sz="1300" dirty="0">
                <a:solidFill>
                  <a:schemeClr val="tx1"/>
                </a:solidFill>
              </a:rPr>
              <a:t>nitrogen ice flows in the heart-shaped Sputnik Planitia</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9B8D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ection label"/>
          <p:cNvSpPr txBox="1"/>
          <p:nvPr/>
        </p:nvSpPr>
        <p:spPr>
          <a:xfrm>
            <a:off x="457200" y="256032"/>
            <a:ext cx="5486400" cy="246888"/>
          </a:xfrm>
          <a:prstGeom prst="rect">
            <a:avLst/>
          </a:prstGeom>
          <a:noFill/>
          <a:ln/>
        </p:spPr>
        <p:txBody>
          <a:bodyPr wrap="square" lIns="0" tIns="0" rIns="0" bIns="0" rtlCol="0" anchor="ctr"/>
          <a:lstStyle/>
          <a:p>
            <a:pPr indent="0" marL="0">
              <a:buNone/>
            </a:pPr>
            <a:r>
              <a:rPr lang="en-US" sz="1200" b="1" spc="300" kern="0" dirty="0">
                <a:solidFill>
                  <a:schemeClr val="accent1"/>
                </a:solidFill>
              </a:rPr>
              <a:t>IMPACT</a:t>
            </a:r>
            <a:endParaRPr lang="en-US" sz="1200" dirty="0"/>
          </a:p>
        </p:txBody>
      </p:sp>
      <p:sp>
        <p:nvSpPr>
          <p:cNvPr id="3" name="Text 0"/>
          <p:cNvSpPr/>
          <p:nvPr>
            <p:ph idx="100" type="title" hasCustomPrompt="1"/>
          </p:nvPr>
        </p:nvSpPr>
        <p:spPr>
          <a:xfrm>
            <a:off x="457200" y="502920"/>
            <a:ext cx="8229600" cy="1005840"/>
          </a:xfrm>
          <a:prstGeom prst="rect">
            <a:avLst/>
          </a:prstGeom>
          <a:noFill/>
          <a:ln/>
        </p:spPr>
        <p:txBody>
          <a:bodyPr wrap="square" lIns="0" tIns="0" rIns="0" bIns="0" rtlCol="0" anchor="t"/>
          <a:lstStyle/>
          <a:p>
            <a:pPr algn="l" indent="0" marL="0">
              <a:buNone/>
            </a:pPr>
            <a:r>
              <a:rPr lang="en-US" sz="3200" b="1" dirty="0">
                <a:solidFill>
                  <a:schemeClr val="tx1"/>
                </a:solidFill>
              </a:rPr>
              <a:t>The flyby went live worldwide; the full data took 16 months to arrive</a:t>
            </a:r>
            <a:endParaRPr lang="en-US" sz="3200" dirty="0"/>
          </a:p>
        </p:txBody>
      </p:sp>
      <p:sp>
        <p:nvSpPr>
          <p:cNvPr id="4" name="Flyby card"/>
          <p:cNvSpPr/>
          <p:nvPr/>
        </p:nvSpPr>
        <p:spPr>
          <a:xfrm>
            <a:off x="457200" y="1600200"/>
            <a:ext cx="4023360" cy="3017520"/>
          </a:xfrm>
          <a:prstGeom prst="roundRect">
            <a:avLst>
              <a:gd name="adj" fmla="val 2424"/>
            </a:avLst>
          </a:prstGeom>
          <a:solidFill>
            <a:schemeClr val="bg2"/>
          </a:solidFill>
          <a:ln w="12700">
            <a:solidFill>
              <a:schemeClr val="bg2"/>
            </a:solidFill>
            <a:prstDash val="solid"/>
          </a:ln>
        </p:spPr>
      </p:sp>
      <p:sp>
        <p:nvSpPr>
          <p:cNvPr id="5" name="Text 3"/>
          <p:cNvSpPr txBox="1"/>
          <p:nvPr/>
        </p:nvSpPr>
        <p:spPr>
          <a:xfrm>
            <a:off x="640080" y="1737360"/>
            <a:ext cx="3657600" cy="320040"/>
          </a:xfrm>
          <a:prstGeom prst="rect">
            <a:avLst/>
          </a:prstGeom>
          <a:noFill/>
          <a:ln/>
        </p:spPr>
        <p:txBody>
          <a:bodyPr wrap="square" lIns="0" tIns="0" rIns="0" bIns="0" rtlCol="0" anchor="t"/>
          <a:lstStyle/>
          <a:p>
            <a:pPr indent="0" marL="0">
              <a:buNone/>
            </a:pPr>
            <a:r>
              <a:rPr lang="en-US" sz="1800" b="1" dirty="0">
                <a:solidFill>
                  <a:schemeClr val="tx1"/>
                </a:solidFill>
              </a:rPr>
              <a:t>Flyby day, Jul 14, 2015</a:t>
            </a:r>
            <a:endParaRPr lang="en-US" sz="1800" dirty="0"/>
          </a:p>
        </p:txBody>
      </p:sp>
      <p:sp>
        <p:nvSpPr>
          <p:cNvPr id="6" name="Beat marker"/>
          <p:cNvSpPr/>
          <p:nvPr/>
        </p:nvSpPr>
        <p:spPr>
          <a:xfrm>
            <a:off x="658368" y="2286000"/>
            <a:ext cx="182880" cy="182880"/>
          </a:xfrm>
          <a:prstGeom prst="ellipse">
            <a:avLst/>
          </a:prstGeom>
          <a:solidFill>
            <a:schemeClr val="accent1"/>
          </a:solidFill>
          <a:ln w="12700">
            <a:solidFill>
              <a:schemeClr val="accent1"/>
            </a:solidFill>
            <a:prstDash val="solid"/>
          </a:ln>
        </p:spPr>
      </p:sp>
      <p:sp>
        <p:nvSpPr>
          <p:cNvPr id="7" name="Text 5"/>
          <p:cNvSpPr txBox="1"/>
          <p:nvPr/>
        </p:nvSpPr>
        <p:spPr>
          <a:xfrm>
            <a:off x="1005840" y="2240280"/>
            <a:ext cx="3291840" cy="274320"/>
          </a:xfrm>
          <a:prstGeom prst="rect">
            <a:avLst/>
          </a:prstGeom>
          <a:noFill/>
          <a:ln/>
        </p:spPr>
        <p:txBody>
          <a:bodyPr wrap="square" lIns="0" tIns="0" rIns="0" bIns="0" rtlCol="0" anchor="t"/>
          <a:lstStyle/>
          <a:p>
            <a:pPr indent="0" marL="0">
              <a:buNone/>
            </a:pPr>
            <a:r>
              <a:rPr lang="en-US" sz="1400" b="1" dirty="0">
                <a:solidFill>
                  <a:schemeClr val="accent1"/>
                </a:solidFill>
              </a:rPr>
              <a:t>7:49 a.m. EDT</a:t>
            </a:r>
            <a:endParaRPr lang="en-US" sz="1400" dirty="0"/>
          </a:p>
        </p:txBody>
      </p:sp>
      <p:sp>
        <p:nvSpPr>
          <p:cNvPr id="8" name="Text 6"/>
          <p:cNvSpPr txBox="1"/>
          <p:nvPr/>
        </p:nvSpPr>
        <p:spPr>
          <a:xfrm>
            <a:off x="1005840" y="2514600"/>
            <a:ext cx="3291840" cy="457200"/>
          </a:xfrm>
          <a:prstGeom prst="rect">
            <a:avLst/>
          </a:prstGeom>
          <a:noFill/>
          <a:ln/>
        </p:spPr>
        <p:txBody>
          <a:bodyPr wrap="square" lIns="0" tIns="0" rIns="0" bIns="0" rtlCol="0" anchor="t"/>
          <a:lstStyle/>
          <a:p>
            <a:pPr indent="0" marL="0">
              <a:buNone/>
            </a:pPr>
            <a:r>
              <a:rPr lang="en-US" sz="1300" dirty="0">
                <a:solidFill>
                  <a:schemeClr val="tx1"/>
                </a:solidFill>
              </a:rPr>
              <a:t>Closest approach, 12,500 km above Pluto</a:t>
            </a:r>
            <a:endParaRPr lang="en-US" sz="1300" dirty="0"/>
          </a:p>
        </p:txBody>
      </p:sp>
      <p:sp>
        <p:nvSpPr>
          <p:cNvPr id="9" name="Beat marker"/>
          <p:cNvSpPr/>
          <p:nvPr/>
        </p:nvSpPr>
        <p:spPr>
          <a:xfrm>
            <a:off x="658368" y="3063240"/>
            <a:ext cx="182880" cy="182880"/>
          </a:xfrm>
          <a:prstGeom prst="ellipse">
            <a:avLst/>
          </a:prstGeom>
          <a:solidFill>
            <a:schemeClr val="accent1"/>
          </a:solidFill>
          <a:ln w="12700">
            <a:solidFill>
              <a:schemeClr val="accent1"/>
            </a:solidFill>
            <a:prstDash val="solid"/>
          </a:ln>
        </p:spPr>
      </p:sp>
      <p:sp>
        <p:nvSpPr>
          <p:cNvPr id="10" name="Text 8"/>
          <p:cNvSpPr txBox="1"/>
          <p:nvPr/>
        </p:nvSpPr>
        <p:spPr>
          <a:xfrm>
            <a:off x="1005840" y="3017520"/>
            <a:ext cx="3291840" cy="274320"/>
          </a:xfrm>
          <a:prstGeom prst="rect">
            <a:avLst/>
          </a:prstGeom>
          <a:noFill/>
          <a:ln/>
        </p:spPr>
        <p:txBody>
          <a:bodyPr wrap="square" lIns="0" tIns="0" rIns="0" bIns="0" rtlCol="0" anchor="t"/>
          <a:lstStyle/>
          <a:p>
            <a:pPr indent="0" marL="0">
              <a:buNone/>
            </a:pPr>
            <a:r>
              <a:rPr lang="en-US" sz="1400" b="1" dirty="0">
                <a:solidFill>
                  <a:schemeClr val="accent1"/>
                </a:solidFill>
              </a:rPr>
              <a:t>8:53 p.m. EDT</a:t>
            </a:r>
            <a:endParaRPr lang="en-US" sz="1400" dirty="0"/>
          </a:p>
        </p:txBody>
      </p:sp>
      <p:sp>
        <p:nvSpPr>
          <p:cNvPr id="11" name="Text 9"/>
          <p:cNvSpPr txBox="1"/>
          <p:nvPr/>
        </p:nvSpPr>
        <p:spPr>
          <a:xfrm>
            <a:off x="1005840" y="3291840"/>
            <a:ext cx="3291840" cy="457200"/>
          </a:xfrm>
          <a:prstGeom prst="rect">
            <a:avLst/>
          </a:prstGeom>
          <a:noFill/>
          <a:ln/>
        </p:spPr>
        <p:txBody>
          <a:bodyPr wrap="square" lIns="0" tIns="0" rIns="0" bIns="0" rtlCol="0" anchor="t"/>
          <a:lstStyle/>
          <a:p>
            <a:pPr indent="0" marL="0">
              <a:buNone/>
            </a:pPr>
            <a:r>
              <a:rPr lang="en-US" sz="1300" dirty="0">
                <a:solidFill>
                  <a:schemeClr val="tx1"/>
                </a:solidFill>
              </a:rPr>
              <a:t>Spacecraft phoned home: healthy, data stored</a:t>
            </a:r>
            <a:endParaRPr lang="en-US" sz="1300" dirty="0"/>
          </a:p>
        </p:txBody>
      </p:sp>
      <p:sp>
        <p:nvSpPr>
          <p:cNvPr id="12" name="Beat marker"/>
          <p:cNvSpPr/>
          <p:nvPr/>
        </p:nvSpPr>
        <p:spPr>
          <a:xfrm>
            <a:off x="658368" y="3840480"/>
            <a:ext cx="182880" cy="182880"/>
          </a:xfrm>
          <a:prstGeom prst="ellipse">
            <a:avLst/>
          </a:prstGeom>
          <a:solidFill>
            <a:schemeClr val="accent1"/>
          </a:solidFill>
          <a:ln w="12700">
            <a:solidFill>
              <a:schemeClr val="accent1"/>
            </a:solidFill>
            <a:prstDash val="solid"/>
          </a:ln>
        </p:spPr>
      </p:sp>
      <p:sp>
        <p:nvSpPr>
          <p:cNvPr id="13" name="Text 11"/>
          <p:cNvSpPr txBox="1"/>
          <p:nvPr/>
        </p:nvSpPr>
        <p:spPr>
          <a:xfrm>
            <a:off x="1005840" y="3794760"/>
            <a:ext cx="3291840" cy="274320"/>
          </a:xfrm>
          <a:prstGeom prst="rect">
            <a:avLst/>
          </a:prstGeom>
          <a:noFill/>
          <a:ln/>
        </p:spPr>
        <p:txBody>
          <a:bodyPr wrap="square" lIns="0" tIns="0" rIns="0" bIns="0" rtlCol="0" anchor="t"/>
          <a:lstStyle/>
          <a:p>
            <a:pPr indent="0" marL="0">
              <a:buNone/>
            </a:pPr>
            <a:r>
              <a:rPr lang="en-US" sz="1400" b="1" dirty="0">
                <a:solidFill>
                  <a:schemeClr val="accent1"/>
                </a:solidFill>
              </a:rPr>
              <a:t>Oct 25, 2016</a:t>
            </a:r>
            <a:endParaRPr lang="en-US" sz="1400" dirty="0"/>
          </a:p>
        </p:txBody>
      </p:sp>
      <p:sp>
        <p:nvSpPr>
          <p:cNvPr id="14" name="Text 12"/>
          <p:cNvSpPr txBox="1"/>
          <p:nvPr/>
        </p:nvSpPr>
        <p:spPr>
          <a:xfrm>
            <a:off x="1005840" y="4069080"/>
            <a:ext cx="3291840" cy="457200"/>
          </a:xfrm>
          <a:prstGeom prst="rect">
            <a:avLst/>
          </a:prstGeom>
          <a:noFill/>
          <a:ln/>
        </p:spPr>
        <p:txBody>
          <a:bodyPr wrap="square" lIns="0" tIns="0" rIns="0" bIns="0" rtlCol="0" anchor="t"/>
          <a:lstStyle/>
          <a:p>
            <a:pPr indent="0" marL="0">
              <a:buNone/>
            </a:pPr>
            <a:r>
              <a:rPr lang="en-US" sz="1300" dirty="0">
                <a:solidFill>
                  <a:schemeClr val="tx1"/>
                </a:solidFill>
              </a:rPr>
              <a:t>Last of the flyby data reached Earth</a:t>
            </a:r>
            <a:endParaRPr lang="en-US" sz="1300" dirty="0"/>
          </a:p>
        </p:txBody>
      </p:sp>
      <p:sp>
        <p:nvSpPr>
          <p:cNvPr id="15" name="Media card"/>
          <p:cNvSpPr/>
          <p:nvPr/>
        </p:nvSpPr>
        <p:spPr>
          <a:xfrm>
            <a:off x="4663440" y="1600200"/>
            <a:ext cx="4023360" cy="3017520"/>
          </a:xfrm>
          <a:prstGeom prst="roundRect">
            <a:avLst>
              <a:gd name="adj" fmla="val 2424"/>
            </a:avLst>
          </a:prstGeom>
          <a:solidFill>
            <a:schemeClr val="bg2"/>
          </a:solidFill>
          <a:ln w="12700">
            <a:solidFill>
              <a:schemeClr val="bg2"/>
            </a:solidFill>
            <a:prstDash val="solid"/>
          </a:ln>
        </p:spPr>
      </p:sp>
      <p:sp>
        <p:nvSpPr>
          <p:cNvPr id="16" name="Text 14"/>
          <p:cNvSpPr txBox="1"/>
          <p:nvPr/>
        </p:nvSpPr>
        <p:spPr>
          <a:xfrm>
            <a:off x="4846320" y="1737360"/>
            <a:ext cx="3657600" cy="320040"/>
          </a:xfrm>
          <a:prstGeom prst="rect">
            <a:avLst/>
          </a:prstGeom>
          <a:noFill/>
          <a:ln/>
        </p:spPr>
        <p:txBody>
          <a:bodyPr wrap="square" lIns="0" tIns="0" rIns="0" bIns="0" rtlCol="0" anchor="t"/>
          <a:lstStyle/>
          <a:p>
            <a:pPr indent="0" marL="0">
              <a:buNone/>
            </a:pPr>
            <a:r>
              <a:rPr lang="en-US" sz="1800" b="1" dirty="0">
                <a:solidFill>
                  <a:schemeClr val="tx1"/>
                </a:solidFill>
              </a:rPr>
              <a:t>Public attention</a:t>
            </a:r>
            <a:endParaRPr lang="en-US" sz="1800" dirty="0"/>
          </a:p>
        </p:txBody>
      </p:sp>
      <p:sp>
        <p:nvSpPr>
          <p:cNvPr id="17" name="Text 15"/>
          <p:cNvSpPr txBox="1"/>
          <p:nvPr/>
        </p:nvSpPr>
        <p:spPr>
          <a:xfrm>
            <a:off x="4846320" y="2240280"/>
            <a:ext cx="3657600" cy="21945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NASA broadcast the flyby live while crowds watched at APL</a:t>
            </a:r>
            <a:endParaRPr lang="en-US" sz="1500" dirty="0"/>
          </a:p>
          <a:p>
            <a:pPr marL="342900" indent="-342900">
              <a:spcAft>
                <a:spcPts val="1000"/>
              </a:spcAft>
              <a:buSzPct val="100000"/>
              <a:buChar char="•"/>
            </a:pPr>
            <a:r>
              <a:rPr lang="en-US" sz="1500" dirty="0">
                <a:solidFill>
                  <a:schemeClr val="tx1"/>
                </a:solidFill>
              </a:rPr>
              <a:t>The heart-shaped Tombaugh Regio became the mission's best-known image</a:t>
            </a:r>
            <a:endParaRPr lang="en-US" sz="1500" dirty="0"/>
          </a:p>
          <a:p>
            <a:pPr marL="342900" indent="-342900">
              <a:spcAft>
                <a:spcPts val="1000"/>
              </a:spcAft>
              <a:buSzPct val="100000"/>
              <a:buChar char="•"/>
            </a:pPr>
            <a:r>
              <a:rPr lang="en-US" sz="1500" dirty="0">
                <a:solidFill>
                  <a:schemeClr val="tx1"/>
                </a:solidFill>
              </a:rPr>
              <a:t>Ashes of Pluto's discoverer, Clyde Tombaugh, rode aboard</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9B8D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ection label"/>
          <p:cNvSpPr txBox="1"/>
          <p:nvPr/>
        </p:nvSpPr>
        <p:spPr>
          <a:xfrm>
            <a:off x="457200" y="256032"/>
            <a:ext cx="5486400" cy="246888"/>
          </a:xfrm>
          <a:prstGeom prst="rect">
            <a:avLst/>
          </a:prstGeom>
          <a:noFill/>
          <a:ln/>
        </p:spPr>
        <p:txBody>
          <a:bodyPr wrap="square" lIns="0" tIns="0" rIns="0" bIns="0" rtlCol="0" anchor="ctr"/>
          <a:lstStyle/>
          <a:p>
            <a:pPr indent="0" marL="0">
              <a:buNone/>
            </a:pPr>
            <a:r>
              <a:rPr lang="en-US" sz="1200" b="1" spc="300" kern="0" dirty="0">
                <a:solidFill>
                  <a:schemeClr val="accent1"/>
                </a:solidFill>
              </a:rPr>
              <a:t>IMPACT</a:t>
            </a:r>
            <a:endParaRPr lang="en-US" sz="1200" dirty="0"/>
          </a:p>
        </p:txBody>
      </p:sp>
      <p:sp>
        <p:nvSpPr>
          <p:cNvPr id="3" name="Text 0"/>
          <p:cNvSpPr/>
          <p:nvPr>
            <p:ph idx="100" type="title" hasCustomPrompt="1"/>
          </p:nvPr>
        </p:nvSpPr>
        <p:spPr>
          <a:xfrm>
            <a:off x="457200" y="502920"/>
            <a:ext cx="8229600" cy="1005840"/>
          </a:xfrm>
          <a:prstGeom prst="rect">
            <a:avLst/>
          </a:prstGeom>
          <a:noFill/>
          <a:ln/>
        </p:spPr>
        <p:txBody>
          <a:bodyPr wrap="square" lIns="0" tIns="0" rIns="0" bIns="0" rtlCol="0" anchor="t"/>
          <a:lstStyle/>
          <a:p>
            <a:pPr algn="l" indent="0" marL="0">
              <a:buNone/>
            </a:pPr>
            <a:r>
              <a:rPr lang="en-US" sz="3200" b="1" dirty="0">
                <a:solidFill>
                  <a:schemeClr val="tx1"/>
                </a:solidFill>
              </a:rPr>
              <a:t>After Pluto, New Horizons flew past Arrokoth and kept going</a:t>
            </a:r>
            <a:endParaRPr lang="en-US" sz="3200" dirty="0"/>
          </a:p>
        </p:txBody>
      </p:sp>
      <p:sp>
        <p:nvSpPr>
          <p:cNvPr id="4" name="Arrokoth large lobe"/>
          <p:cNvSpPr/>
          <p:nvPr/>
        </p:nvSpPr>
        <p:spPr>
          <a:xfrm>
            <a:off x="640080" y="2011680"/>
            <a:ext cx="1920240" cy="1234440"/>
          </a:xfrm>
          <a:prstGeom prst="ellipse">
            <a:avLst/>
          </a:prstGeom>
          <a:solidFill>
            <a:schemeClr val="accent1"/>
          </a:solidFill>
          <a:ln w="25400">
            <a:solidFill>
              <a:srgbClr val="0B1026"/>
            </a:solidFill>
            <a:prstDash val="solid"/>
          </a:ln>
        </p:spPr>
      </p:sp>
      <p:sp>
        <p:nvSpPr>
          <p:cNvPr id="5" name="Arrokoth small lobe"/>
          <p:cNvSpPr/>
          <p:nvPr/>
        </p:nvSpPr>
        <p:spPr>
          <a:xfrm>
            <a:off x="2286000" y="2240280"/>
            <a:ext cx="1463040" cy="914400"/>
          </a:xfrm>
          <a:prstGeom prst="ellipse">
            <a:avLst/>
          </a:prstGeom>
          <a:solidFill>
            <a:schemeClr val="accent6"/>
          </a:solidFill>
          <a:ln w="25400">
            <a:solidFill>
              <a:srgbClr val="0B1026"/>
            </a:solidFill>
            <a:prstDash val="solid"/>
          </a:ln>
        </p:spPr>
      </p:sp>
      <p:sp>
        <p:nvSpPr>
          <p:cNvPr id="6" name="Text 4"/>
          <p:cNvSpPr txBox="1"/>
          <p:nvPr/>
        </p:nvSpPr>
        <p:spPr>
          <a:xfrm>
            <a:off x="548640" y="3520440"/>
            <a:ext cx="3383280" cy="548640"/>
          </a:xfrm>
          <a:prstGeom prst="rect">
            <a:avLst/>
          </a:prstGeom>
          <a:noFill/>
          <a:ln/>
        </p:spPr>
        <p:txBody>
          <a:bodyPr wrap="square" lIns="0" tIns="0" rIns="0" bIns="0" rtlCol="0" anchor="t"/>
          <a:lstStyle/>
          <a:p>
            <a:pPr indent="0" marL="0">
              <a:buNone/>
            </a:pPr>
            <a:r>
              <a:rPr lang="en-US" sz="1400" b="1" dirty="0">
                <a:solidFill>
                  <a:schemeClr val="accent1"/>
                </a:solidFill>
              </a:rPr>
              <a:t>Arrokoth: two lobes joined together, about 36 km long</a:t>
            </a:r>
            <a:endParaRPr lang="en-US" sz="1400" dirty="0"/>
          </a:p>
        </p:txBody>
      </p:sp>
      <p:sp>
        <p:nvSpPr>
          <p:cNvPr id="7" name="Text 5"/>
          <p:cNvSpPr txBox="1"/>
          <p:nvPr/>
        </p:nvSpPr>
        <p:spPr>
          <a:xfrm>
            <a:off x="548640" y="4069080"/>
            <a:ext cx="3383280" cy="502920"/>
          </a:xfrm>
          <a:prstGeom prst="rect">
            <a:avLst/>
          </a:prstGeom>
          <a:noFill/>
          <a:ln/>
        </p:spPr>
        <p:txBody>
          <a:bodyPr wrap="square" lIns="0" tIns="0" rIns="0" bIns="0" rtlCol="0" anchor="t"/>
          <a:lstStyle/>
          <a:p>
            <a:pPr indent="0" marL="0">
              <a:buNone/>
            </a:pPr>
            <a:r>
              <a:rPr lang="en-US" sz="1200" dirty="0">
                <a:solidFill>
                  <a:schemeClr val="tx2"/>
                </a:solidFill>
              </a:rPr>
              <a:t>Jan 1, 2019: the farthest object explored up close at the time</a:t>
            </a:r>
            <a:endParaRPr lang="en-US" sz="1200" dirty="0"/>
          </a:p>
        </p:txBody>
      </p:sp>
      <p:sp>
        <p:nvSpPr>
          <p:cNvPr id="8" name="Legacy row"/>
          <p:cNvSpPr/>
          <p:nvPr/>
        </p:nvSpPr>
        <p:spPr>
          <a:xfrm>
            <a:off x="4206240" y="1600200"/>
            <a:ext cx="4480560" cy="914400"/>
          </a:xfrm>
          <a:prstGeom prst="roundRect">
            <a:avLst>
              <a:gd name="adj" fmla="val 8000"/>
            </a:avLst>
          </a:prstGeom>
          <a:solidFill>
            <a:schemeClr val="bg2"/>
          </a:solidFill>
          <a:ln w="12700">
            <a:solidFill>
              <a:schemeClr val="bg2"/>
            </a:solidFill>
            <a:prstDash val="solid"/>
          </a:ln>
        </p:spPr>
      </p:sp>
      <p:sp>
        <p:nvSpPr>
          <p:cNvPr id="9" name="Icon badge"/>
          <p:cNvSpPr/>
          <p:nvPr/>
        </p:nvSpPr>
        <p:spPr>
          <a:xfrm>
            <a:off x="4343400" y="1801368"/>
            <a:ext cx="502920" cy="502920"/>
          </a:xfrm>
          <a:prstGeom prst="ellipse">
            <a:avLst/>
          </a:prstGeom>
          <a:solidFill>
            <a:schemeClr val="accent1"/>
          </a:solidFill>
          <a:ln w="12700">
            <a:solidFill>
              <a:schemeClr val="accent1"/>
            </a:solidFill>
            <a:prstDash val="solid"/>
          </a:ln>
        </p:spPr>
      </p:sp>
      <p:pic>
        <p:nvPicPr>
          <p:cNvPr id="10" name="Image 0" descr="icon">    </p:cNvPr>
          <p:cNvPicPr>
            <a:picLocks noChangeAspect="1"/>
          </p:cNvPicPr>
          <p:nvPr/>
        </p:nvPicPr>
        <p:blipFill>
          <a:blip r:embed="rId1"/>
          <a:stretch>
            <a:fillRect/>
          </a:stretch>
        </p:blipFill>
        <p:spPr>
          <a:xfrm>
            <a:off x="4469130" y="1927098"/>
            <a:ext cx="251460" cy="251460"/>
          </a:xfrm>
          <a:prstGeom prst="rect">
            <a:avLst/>
          </a:prstGeom>
        </p:spPr>
      </p:pic>
      <p:sp>
        <p:nvSpPr>
          <p:cNvPr id="11" name="Text 8"/>
          <p:cNvSpPr txBox="1"/>
          <p:nvPr/>
        </p:nvSpPr>
        <p:spPr>
          <a:xfrm>
            <a:off x="5029200" y="1600200"/>
            <a:ext cx="3566160" cy="914400"/>
          </a:xfrm>
          <a:prstGeom prst="rect">
            <a:avLst/>
          </a:prstGeom>
          <a:noFill/>
          <a:ln/>
        </p:spPr>
        <p:txBody>
          <a:bodyPr wrap="square" lIns="0" tIns="0" rIns="0" bIns="0" rtlCol="0" anchor="ctr"/>
          <a:lstStyle/>
          <a:p>
            <a:pPr indent="0" marL="0">
              <a:buNone/>
            </a:pPr>
            <a:r>
              <a:rPr lang="en-US" sz="1400" dirty="0">
                <a:solidFill>
                  <a:schemeClr val="tx1"/>
                </a:solidFill>
              </a:rPr>
              <a:t>Still operating after 20 years, studying dust and plasma at more than 60 AU from the Sun</a:t>
            </a:r>
            <a:endParaRPr lang="en-US" sz="1400" dirty="0"/>
          </a:p>
        </p:txBody>
      </p:sp>
      <p:sp>
        <p:nvSpPr>
          <p:cNvPr id="12" name="Legacy row"/>
          <p:cNvSpPr/>
          <p:nvPr/>
        </p:nvSpPr>
        <p:spPr>
          <a:xfrm>
            <a:off x="4206240" y="2624328"/>
            <a:ext cx="4480560" cy="914400"/>
          </a:xfrm>
          <a:prstGeom prst="roundRect">
            <a:avLst>
              <a:gd name="adj" fmla="val 8000"/>
            </a:avLst>
          </a:prstGeom>
          <a:solidFill>
            <a:schemeClr val="bg2"/>
          </a:solidFill>
          <a:ln w="12700">
            <a:solidFill>
              <a:schemeClr val="bg2"/>
            </a:solidFill>
            <a:prstDash val="solid"/>
          </a:ln>
        </p:spPr>
      </p:sp>
      <p:sp>
        <p:nvSpPr>
          <p:cNvPr id="13" name="Icon badge"/>
          <p:cNvSpPr/>
          <p:nvPr/>
        </p:nvSpPr>
        <p:spPr>
          <a:xfrm>
            <a:off x="4343400" y="2825496"/>
            <a:ext cx="502920" cy="502920"/>
          </a:xfrm>
          <a:prstGeom prst="ellipse">
            <a:avLst/>
          </a:prstGeom>
          <a:solidFill>
            <a:schemeClr val="accent1"/>
          </a:solidFill>
          <a:ln w="12700">
            <a:solidFill>
              <a:schemeClr val="accent1"/>
            </a:solidFill>
            <a:prstDash val="solid"/>
          </a:ln>
        </p:spPr>
      </p:sp>
      <p:pic>
        <p:nvPicPr>
          <p:cNvPr id="14" name="Image 1" descr="icon">    </p:cNvPr>
          <p:cNvPicPr>
            <a:picLocks noChangeAspect="1"/>
          </p:cNvPicPr>
          <p:nvPr/>
        </p:nvPicPr>
        <p:blipFill>
          <a:blip r:embed="rId2"/>
          <a:stretch>
            <a:fillRect/>
          </a:stretch>
        </p:blipFill>
        <p:spPr>
          <a:xfrm>
            <a:off x="4469130" y="2951226"/>
            <a:ext cx="251460" cy="251460"/>
          </a:xfrm>
          <a:prstGeom prst="rect">
            <a:avLst/>
          </a:prstGeom>
        </p:spPr>
      </p:pic>
      <p:sp>
        <p:nvSpPr>
          <p:cNvPr id="15" name="Text 11"/>
          <p:cNvSpPr txBox="1"/>
          <p:nvPr/>
        </p:nvSpPr>
        <p:spPr>
          <a:xfrm>
            <a:off x="5029200" y="2624328"/>
            <a:ext cx="3566160" cy="914400"/>
          </a:xfrm>
          <a:prstGeom prst="rect">
            <a:avLst/>
          </a:prstGeom>
          <a:noFill/>
          <a:ln/>
        </p:spPr>
        <p:txBody>
          <a:bodyPr wrap="square" lIns="0" tIns="0" rIns="0" bIns="0" rtlCol="0" anchor="ctr"/>
          <a:lstStyle/>
          <a:p>
            <a:pPr indent="0" marL="0">
              <a:buNone/>
            </a:pPr>
            <a:r>
              <a:rPr lang="en-US" sz="1400" dirty="0">
                <a:solidFill>
                  <a:schemeClr val="tx1"/>
                </a:solidFill>
              </a:rPr>
              <a:t>Showed that a plutonium-powered flyby spacecraft can work reliably for decades</a:t>
            </a:r>
            <a:endParaRPr lang="en-US" sz="1400" dirty="0"/>
          </a:p>
        </p:txBody>
      </p:sp>
      <p:sp>
        <p:nvSpPr>
          <p:cNvPr id="16" name="Legacy row"/>
          <p:cNvSpPr/>
          <p:nvPr/>
        </p:nvSpPr>
        <p:spPr>
          <a:xfrm>
            <a:off x="4206240" y="3648456"/>
            <a:ext cx="4480560" cy="914400"/>
          </a:xfrm>
          <a:prstGeom prst="roundRect">
            <a:avLst>
              <a:gd name="adj" fmla="val 8000"/>
            </a:avLst>
          </a:prstGeom>
          <a:solidFill>
            <a:schemeClr val="bg2"/>
          </a:solidFill>
          <a:ln w="12700">
            <a:solidFill>
              <a:schemeClr val="bg2"/>
            </a:solidFill>
            <a:prstDash val="solid"/>
          </a:ln>
        </p:spPr>
      </p:sp>
      <p:sp>
        <p:nvSpPr>
          <p:cNvPr id="17" name="Icon badge"/>
          <p:cNvSpPr/>
          <p:nvPr/>
        </p:nvSpPr>
        <p:spPr>
          <a:xfrm>
            <a:off x="4343400" y="3849624"/>
            <a:ext cx="502920" cy="502920"/>
          </a:xfrm>
          <a:prstGeom prst="ellipse">
            <a:avLst/>
          </a:prstGeom>
          <a:solidFill>
            <a:schemeClr val="accent1"/>
          </a:solidFill>
          <a:ln w="12700">
            <a:solidFill>
              <a:schemeClr val="accent1"/>
            </a:solidFill>
            <a:prstDash val="solid"/>
          </a:ln>
        </p:spPr>
      </p:sp>
      <p:pic>
        <p:nvPicPr>
          <p:cNvPr id="18" name="Image 2" descr="icon">    </p:cNvPr>
          <p:cNvPicPr>
            <a:picLocks noChangeAspect="1"/>
          </p:cNvPicPr>
          <p:nvPr/>
        </p:nvPicPr>
        <p:blipFill>
          <a:blip r:embed="rId3"/>
          <a:stretch>
            <a:fillRect/>
          </a:stretch>
        </p:blipFill>
        <p:spPr>
          <a:xfrm>
            <a:off x="4469130" y="3975354"/>
            <a:ext cx="251460" cy="251460"/>
          </a:xfrm>
          <a:prstGeom prst="rect">
            <a:avLst/>
          </a:prstGeom>
        </p:spPr>
      </p:pic>
      <p:sp>
        <p:nvSpPr>
          <p:cNvPr id="19" name="Text 14"/>
          <p:cNvSpPr txBox="1"/>
          <p:nvPr/>
        </p:nvSpPr>
        <p:spPr>
          <a:xfrm>
            <a:off x="5029200" y="3648456"/>
            <a:ext cx="3566160" cy="914400"/>
          </a:xfrm>
          <a:prstGeom prst="rect">
            <a:avLst/>
          </a:prstGeom>
          <a:noFill/>
          <a:ln/>
        </p:spPr>
        <p:txBody>
          <a:bodyPr wrap="square" lIns="0" tIns="0" rIns="0" bIns="0" rtlCol="0" anchor="ctr"/>
          <a:lstStyle/>
          <a:p>
            <a:pPr indent="0" marL="0">
              <a:buNone/>
            </a:pPr>
            <a:r>
              <a:rPr lang="en-US" sz="1400" dirty="0">
                <a:solidFill>
                  <a:schemeClr val="tx1"/>
                </a:solidFill>
              </a:rPr>
              <a:t>Same NASA New Frontiers program as Juno, OSIRIS-REx, and Dragonfly</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9B8D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ection label"/>
          <p:cNvSpPr txBox="1"/>
          <p:nvPr/>
        </p:nvSpPr>
        <p:spPr>
          <a:xfrm>
            <a:off x="457200" y="256032"/>
            <a:ext cx="5486400" cy="246888"/>
          </a:xfrm>
          <a:prstGeom prst="rect">
            <a:avLst/>
          </a:prstGeom>
          <a:noFill/>
          <a:ln/>
        </p:spPr>
        <p:txBody>
          <a:bodyPr wrap="square" lIns="0" tIns="0" rIns="0" bIns="0" rtlCol="0" anchor="ctr"/>
          <a:lstStyle/>
          <a:p>
            <a:pPr indent="0" marL="0">
              <a:buNone/>
            </a:pPr>
            <a:r>
              <a:rPr lang="en-US" sz="1200" b="1" spc="300" kern="0" dirty="0">
                <a:solidFill>
                  <a:schemeClr val="accent1"/>
                </a:solidFill>
              </a:rPr>
              <a:t>CONCLUSION</a:t>
            </a:r>
            <a:endParaRPr lang="en-US" sz="1200" dirty="0"/>
          </a:p>
        </p:txBody>
      </p:sp>
      <p:sp>
        <p:nvSpPr>
          <p:cNvPr id="3" name="Text 0"/>
          <p:cNvSpPr/>
          <p:nvPr>
            <p:ph idx="100" type="title" hasCustomPrompt="1"/>
          </p:nvPr>
        </p:nvSpPr>
        <p:spPr>
          <a:xfrm>
            <a:off x="457200" y="502920"/>
            <a:ext cx="8229600" cy="1005840"/>
          </a:xfrm>
          <a:prstGeom prst="rect">
            <a:avLst/>
          </a:prstGeom>
          <a:noFill/>
          <a:ln/>
        </p:spPr>
        <p:txBody>
          <a:bodyPr wrap="square" lIns="0" tIns="0" rIns="0" bIns="0" rtlCol="0" anchor="t"/>
          <a:lstStyle/>
          <a:p>
            <a:pPr algn="l" indent="0" marL="0">
              <a:buNone/>
            </a:pPr>
            <a:r>
              <a:rPr lang="en-US" sz="3200" b="1" dirty="0">
                <a:solidFill>
                  <a:schemeClr val="tx1"/>
                </a:solidFill>
              </a:rPr>
              <a:t>Conclusion</a:t>
            </a:r>
            <a:endParaRPr lang="en-US" sz="3200" dirty="0"/>
          </a:p>
        </p:txBody>
      </p:sp>
      <p:sp>
        <p:nvSpPr>
          <p:cNvPr id="4" name="Conclusion card"/>
          <p:cNvSpPr/>
          <p:nvPr/>
        </p:nvSpPr>
        <p:spPr>
          <a:xfrm>
            <a:off x="457200" y="1600200"/>
            <a:ext cx="2560320" cy="3017520"/>
          </a:xfrm>
          <a:prstGeom prst="roundRect">
            <a:avLst>
              <a:gd name="adj" fmla="val 2857"/>
            </a:avLst>
          </a:prstGeom>
          <a:solidFill>
            <a:schemeClr val="bg2"/>
          </a:solidFill>
          <a:ln w="12700">
            <a:solidFill>
              <a:schemeClr val="bg2"/>
            </a:solidFill>
            <a:prstDash val="solid"/>
          </a:ln>
        </p:spPr>
      </p:sp>
      <p:sp>
        <p:nvSpPr>
          <p:cNvPr id="5" name="Icon badge"/>
          <p:cNvSpPr/>
          <p:nvPr/>
        </p:nvSpPr>
        <p:spPr>
          <a:xfrm>
            <a:off x="640080" y="1783080"/>
            <a:ext cx="502920" cy="502920"/>
          </a:xfrm>
          <a:prstGeom prst="ellipse">
            <a:avLst/>
          </a:prstGeom>
          <a:solidFill>
            <a:schemeClr val="accent1"/>
          </a:solidFill>
          <a:ln w="12700">
            <a:solidFill>
              <a:schemeClr val="accent1"/>
            </a:solidFill>
            <a:prstDash val="solid"/>
          </a:ln>
        </p:spPr>
      </p:sp>
      <p:pic>
        <p:nvPicPr>
          <p:cNvPr id="6" name="Image 0" descr="icon">    </p:cNvPr>
          <p:cNvPicPr>
            <a:picLocks noChangeAspect="1"/>
          </p:cNvPicPr>
          <p:nvPr/>
        </p:nvPicPr>
        <p:blipFill>
          <a:blip r:embed="rId1"/>
          <a:stretch>
            <a:fillRect/>
          </a:stretch>
        </p:blipFill>
        <p:spPr>
          <a:xfrm>
            <a:off x="765810" y="1908810"/>
            <a:ext cx="251460" cy="251460"/>
          </a:xfrm>
          <a:prstGeom prst="rect">
            <a:avLst/>
          </a:prstGeom>
        </p:spPr>
      </p:pic>
      <p:sp>
        <p:nvSpPr>
          <p:cNvPr id="7" name="Text 4"/>
          <p:cNvSpPr txBox="1"/>
          <p:nvPr/>
        </p:nvSpPr>
        <p:spPr>
          <a:xfrm>
            <a:off x="640080" y="2468880"/>
            <a:ext cx="2194560" cy="365760"/>
          </a:xfrm>
          <a:prstGeom prst="rect">
            <a:avLst/>
          </a:prstGeom>
          <a:noFill/>
          <a:ln/>
        </p:spPr>
        <p:txBody>
          <a:bodyPr wrap="square" lIns="0" tIns="0" rIns="0" bIns="0" rtlCol="0" anchor="t"/>
          <a:lstStyle/>
          <a:p>
            <a:pPr indent="0" marL="0">
              <a:buNone/>
            </a:pPr>
            <a:r>
              <a:rPr lang="en-US" sz="1800" b="1" dirty="0">
                <a:solidFill>
                  <a:schemeClr val="tx1"/>
                </a:solidFill>
              </a:rPr>
              <a:t>Common thread</a:t>
            </a:r>
            <a:endParaRPr lang="en-US" sz="1800" dirty="0"/>
          </a:p>
        </p:txBody>
      </p:sp>
      <p:sp>
        <p:nvSpPr>
          <p:cNvPr id="8" name="Text 5"/>
          <p:cNvSpPr txBox="1"/>
          <p:nvPr/>
        </p:nvSpPr>
        <p:spPr>
          <a:xfrm>
            <a:off x="640080" y="2926080"/>
            <a:ext cx="2194560" cy="1554480"/>
          </a:xfrm>
          <a:prstGeom prst="rect">
            <a:avLst/>
          </a:prstGeom>
          <a:noFill/>
          <a:ln/>
        </p:spPr>
        <p:txBody>
          <a:bodyPr wrap="square" lIns="0" tIns="0" rIns="0" bIns="0" rtlCol="0" anchor="t"/>
          <a:lstStyle/>
          <a:p>
            <a:pPr indent="0" marL="0">
              <a:buNone/>
            </a:pPr>
            <a:r>
              <a:rPr lang="en-US" sz="1600" dirty="0">
                <a:solidFill>
                  <a:schemeClr val="tx1"/>
                </a:solidFill>
              </a:rPr>
              <a:t>Curiosity about places humans cannot reach pushes engineers to build tougher, smarter machines.</a:t>
            </a:r>
            <a:endParaRPr lang="en-US" sz="1600" dirty="0"/>
          </a:p>
        </p:txBody>
      </p:sp>
      <p:sp>
        <p:nvSpPr>
          <p:cNvPr id="9" name="Conclusion card"/>
          <p:cNvSpPr/>
          <p:nvPr/>
        </p:nvSpPr>
        <p:spPr>
          <a:xfrm>
            <a:off x="3291840" y="1600200"/>
            <a:ext cx="2560320" cy="3017520"/>
          </a:xfrm>
          <a:prstGeom prst="roundRect">
            <a:avLst>
              <a:gd name="adj" fmla="val 2857"/>
            </a:avLst>
          </a:prstGeom>
          <a:solidFill>
            <a:schemeClr val="bg2"/>
          </a:solidFill>
          <a:ln w="12700">
            <a:solidFill>
              <a:schemeClr val="bg2"/>
            </a:solidFill>
            <a:prstDash val="solid"/>
          </a:ln>
        </p:spPr>
      </p:sp>
      <p:sp>
        <p:nvSpPr>
          <p:cNvPr id="10" name="Icon badge"/>
          <p:cNvSpPr/>
          <p:nvPr/>
        </p:nvSpPr>
        <p:spPr>
          <a:xfrm>
            <a:off x="3474720" y="1783080"/>
            <a:ext cx="502920" cy="502920"/>
          </a:xfrm>
          <a:prstGeom prst="ellipse">
            <a:avLst/>
          </a:prstGeom>
          <a:solidFill>
            <a:schemeClr val="accent1"/>
          </a:solidFill>
          <a:ln w="12700">
            <a:solidFill>
              <a:schemeClr val="accent1"/>
            </a:solidFill>
            <a:prstDash val="solid"/>
          </a:ln>
        </p:spPr>
      </p:sp>
      <p:pic>
        <p:nvPicPr>
          <p:cNvPr id="11" name="Image 1" descr="icon">    </p:cNvPr>
          <p:cNvPicPr>
            <a:picLocks noChangeAspect="1"/>
          </p:cNvPicPr>
          <p:nvPr/>
        </p:nvPicPr>
        <p:blipFill>
          <a:blip r:embed="rId2"/>
          <a:stretch>
            <a:fillRect/>
          </a:stretch>
        </p:blipFill>
        <p:spPr>
          <a:xfrm>
            <a:off x="3600450" y="1908810"/>
            <a:ext cx="251460" cy="251460"/>
          </a:xfrm>
          <a:prstGeom prst="rect">
            <a:avLst/>
          </a:prstGeom>
        </p:spPr>
      </p:pic>
      <p:sp>
        <p:nvSpPr>
          <p:cNvPr id="12" name="Text 8"/>
          <p:cNvSpPr txBox="1"/>
          <p:nvPr/>
        </p:nvSpPr>
        <p:spPr>
          <a:xfrm>
            <a:off x="3474720" y="2468880"/>
            <a:ext cx="2194560" cy="365760"/>
          </a:xfrm>
          <a:prstGeom prst="rect">
            <a:avLst/>
          </a:prstGeom>
          <a:noFill/>
          <a:ln/>
        </p:spPr>
        <p:txBody>
          <a:bodyPr wrap="square" lIns="0" tIns="0" rIns="0" bIns="0" rtlCol="0" anchor="t"/>
          <a:lstStyle/>
          <a:p>
            <a:pPr indent="0" marL="0">
              <a:buNone/>
            </a:pPr>
            <a:r>
              <a:rPr lang="en-US" sz="1800" b="1" dirty="0">
                <a:solidFill>
                  <a:schemeClr val="tx1"/>
                </a:solidFill>
              </a:rPr>
              <a:t>Major influences</a:t>
            </a:r>
            <a:endParaRPr lang="en-US" sz="1800" dirty="0"/>
          </a:p>
        </p:txBody>
      </p:sp>
      <p:sp>
        <p:nvSpPr>
          <p:cNvPr id="13" name="Text 9"/>
          <p:cNvSpPr txBox="1"/>
          <p:nvPr/>
        </p:nvSpPr>
        <p:spPr>
          <a:xfrm>
            <a:off x="3474720" y="2926080"/>
            <a:ext cx="2194560" cy="1554480"/>
          </a:xfrm>
          <a:prstGeom prst="rect">
            <a:avLst/>
          </a:prstGeom>
          <a:noFill/>
          <a:ln/>
        </p:spPr>
        <p:txBody>
          <a:bodyPr wrap="square" lIns="0" tIns="0" rIns="0" bIns="0" rtlCol="0" anchor="t"/>
          <a:lstStyle/>
          <a:p>
            <a:pPr indent="0" marL="0">
              <a:buNone/>
            </a:pPr>
            <a:r>
              <a:rPr lang="en-US" sz="1600" dirty="0">
                <a:solidFill>
                  <a:schemeClr val="tx1"/>
                </a:solidFill>
              </a:rPr>
              <a:t>Stronger rockets, nuclear power, radiation-hardened electronics, and long-range radio links.</a:t>
            </a:r>
            <a:endParaRPr lang="en-US" sz="1600" dirty="0"/>
          </a:p>
        </p:txBody>
      </p:sp>
      <p:sp>
        <p:nvSpPr>
          <p:cNvPr id="14" name="Conclusion card"/>
          <p:cNvSpPr/>
          <p:nvPr/>
        </p:nvSpPr>
        <p:spPr>
          <a:xfrm>
            <a:off x="6126480" y="1600200"/>
            <a:ext cx="2560320" cy="3017520"/>
          </a:xfrm>
          <a:prstGeom prst="roundRect">
            <a:avLst>
              <a:gd name="adj" fmla="val 2857"/>
            </a:avLst>
          </a:prstGeom>
          <a:solidFill>
            <a:schemeClr val="bg2"/>
          </a:solidFill>
          <a:ln w="12700">
            <a:solidFill>
              <a:schemeClr val="bg2"/>
            </a:solidFill>
            <a:prstDash val="solid"/>
          </a:ln>
        </p:spPr>
      </p:sp>
      <p:sp>
        <p:nvSpPr>
          <p:cNvPr id="15" name="Icon badge"/>
          <p:cNvSpPr/>
          <p:nvPr/>
        </p:nvSpPr>
        <p:spPr>
          <a:xfrm>
            <a:off x="6309360" y="1783080"/>
            <a:ext cx="502920" cy="502920"/>
          </a:xfrm>
          <a:prstGeom prst="ellipse">
            <a:avLst/>
          </a:prstGeom>
          <a:solidFill>
            <a:schemeClr val="accent1"/>
          </a:solidFill>
          <a:ln w="12700">
            <a:solidFill>
              <a:schemeClr val="accent1"/>
            </a:solidFill>
            <a:prstDash val="solid"/>
          </a:ln>
        </p:spPr>
      </p:sp>
      <p:pic>
        <p:nvPicPr>
          <p:cNvPr id="16" name="Image 2" descr="icon">    </p:cNvPr>
          <p:cNvPicPr>
            <a:picLocks noChangeAspect="1"/>
          </p:cNvPicPr>
          <p:nvPr/>
        </p:nvPicPr>
        <p:blipFill>
          <a:blip r:embed="rId3"/>
          <a:stretch>
            <a:fillRect/>
          </a:stretch>
        </p:blipFill>
        <p:spPr>
          <a:xfrm>
            <a:off x="6435090" y="1908810"/>
            <a:ext cx="251460" cy="251460"/>
          </a:xfrm>
          <a:prstGeom prst="rect">
            <a:avLst/>
          </a:prstGeom>
        </p:spPr>
      </p:pic>
      <p:sp>
        <p:nvSpPr>
          <p:cNvPr id="17" name="Text 12"/>
          <p:cNvSpPr txBox="1"/>
          <p:nvPr/>
        </p:nvSpPr>
        <p:spPr>
          <a:xfrm>
            <a:off x="6309360" y="2468880"/>
            <a:ext cx="2194560" cy="365760"/>
          </a:xfrm>
          <a:prstGeom prst="rect">
            <a:avLst/>
          </a:prstGeom>
          <a:noFill/>
          <a:ln/>
        </p:spPr>
        <p:txBody>
          <a:bodyPr wrap="square" lIns="0" tIns="0" rIns="0" bIns="0" rtlCol="0" anchor="t"/>
          <a:lstStyle/>
          <a:p>
            <a:pPr indent="0" marL="0">
              <a:buNone/>
            </a:pPr>
            <a:r>
              <a:rPr lang="en-US" sz="1800" b="1" dirty="0">
                <a:solidFill>
                  <a:schemeClr val="tx1"/>
                </a:solidFill>
              </a:rPr>
              <a:t>Cause and effect</a:t>
            </a:r>
            <a:endParaRPr lang="en-US" sz="1800" dirty="0"/>
          </a:p>
        </p:txBody>
      </p:sp>
      <p:sp>
        <p:nvSpPr>
          <p:cNvPr id="18" name="Text 13"/>
          <p:cNvSpPr txBox="1"/>
          <p:nvPr/>
        </p:nvSpPr>
        <p:spPr>
          <a:xfrm>
            <a:off x="6309360" y="2926080"/>
            <a:ext cx="2194560" cy="1554480"/>
          </a:xfrm>
          <a:prstGeom prst="rect">
            <a:avLst/>
          </a:prstGeom>
          <a:noFill/>
          <a:ln/>
        </p:spPr>
        <p:txBody>
          <a:bodyPr wrap="square" lIns="0" tIns="0" rIns="0" bIns="0" rtlCol="0" anchor="t"/>
          <a:lstStyle/>
          <a:p>
            <a:pPr indent="0" marL="0">
              <a:buNone/>
            </a:pPr>
            <a:r>
              <a:rPr lang="en-US" sz="1600" dirty="0">
                <a:solidFill>
                  <a:schemeClr val="tx1"/>
                </a:solidFill>
              </a:rPr>
              <a:t>New questions drive new missions. Missions return new data and technology, which raise the next questions.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9B8D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ection label"/>
          <p:cNvSpPr txBox="1"/>
          <p:nvPr/>
        </p:nvSpPr>
        <p:spPr>
          <a:xfrm>
            <a:off x="457200" y="256032"/>
            <a:ext cx="5486400" cy="246888"/>
          </a:xfrm>
          <a:prstGeom prst="rect">
            <a:avLst/>
          </a:prstGeom>
          <a:noFill/>
          <a:ln/>
        </p:spPr>
        <p:txBody>
          <a:bodyPr wrap="square" lIns="0" tIns="0" rIns="0" bIns="0" rtlCol="0" anchor="ctr"/>
          <a:lstStyle/>
          <a:p>
            <a:pPr indent="0" marL="0">
              <a:buNone/>
            </a:pPr>
            <a:r>
              <a:rPr lang="en-US" sz="1200" b="1" spc="300" kern="0" dirty="0">
                <a:solidFill>
                  <a:schemeClr val="accent1"/>
                </a:solidFill>
              </a:rPr>
              <a:t>CONCLUSION</a:t>
            </a:r>
            <a:endParaRPr lang="en-US" sz="1200" dirty="0"/>
          </a:p>
        </p:txBody>
      </p:sp>
      <p:sp>
        <p:nvSpPr>
          <p:cNvPr id="3" name="Text 0"/>
          <p:cNvSpPr/>
          <p:nvPr>
            <p:ph idx="100" type="title" hasCustomPrompt="1"/>
          </p:nvPr>
        </p:nvSpPr>
        <p:spPr>
          <a:xfrm>
            <a:off x="457200" y="502920"/>
            <a:ext cx="8229600" cy="1005840"/>
          </a:xfrm>
          <a:prstGeom prst="rect">
            <a:avLst/>
          </a:prstGeom>
          <a:noFill/>
          <a:ln/>
        </p:spPr>
        <p:txBody>
          <a:bodyPr wrap="square" lIns="0" tIns="0" rIns="0" bIns="0" rtlCol="0" anchor="t"/>
          <a:lstStyle/>
          <a:p>
            <a:pPr algn="l" indent="0" marL="0">
              <a:buNone/>
            </a:pPr>
            <a:r>
              <a:rPr lang="en-US" sz="3200" b="1" dirty="0">
                <a:solidFill>
                  <a:schemeClr val="tx1"/>
                </a:solidFill>
              </a:rPr>
              <a:t>Sources</a:t>
            </a:r>
            <a:endParaRPr lang="en-US" sz="3200" dirty="0"/>
          </a:p>
        </p:txBody>
      </p:sp>
      <p:sp>
        <p:nvSpPr>
          <p:cNvPr id="4" name="Text 2"/>
          <p:cNvSpPr txBox="1"/>
          <p:nvPr/>
        </p:nvSpPr>
        <p:spPr>
          <a:xfrm>
            <a:off x="457200" y="1645920"/>
            <a:ext cx="8229600" cy="201168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chemeClr val="tx1"/>
                </a:solidFill>
              </a:rPr>
              <a:t>NASA, New Horizons mission pages: science.nasa.gov/mission/new-horizons</a:t>
            </a:r>
            <a:endParaRPr lang="en-US" sz="1800" dirty="0"/>
          </a:p>
          <a:p>
            <a:pPr marL="342900" indent="-342900">
              <a:spcAft>
                <a:spcPts val="1400"/>
              </a:spcAft>
              <a:buSzPct val="100000"/>
              <a:buChar char="•"/>
            </a:pPr>
            <a:r>
              <a:rPr lang="en-US" sz="1800" dirty="0">
                <a:solidFill>
                  <a:schemeClr val="tx1"/>
                </a:solidFill>
              </a:rPr>
              <a:t>Johns Hopkins Applied Physics Laboratory, New Horizons mission site: pluto.jhuapl.edu</a:t>
            </a:r>
            <a:endParaRPr lang="en-US" sz="1800" dirty="0"/>
          </a:p>
          <a:p>
            <a:pPr marL="342900" indent="-342900">
              <a:spcAft>
                <a:spcPts val="1400"/>
              </a:spcAft>
              <a:buSzPct val="100000"/>
              <a:buChar char="•"/>
            </a:pPr>
            <a:r>
              <a:rPr lang="en-US" sz="1800" dirty="0">
                <a:solidFill>
                  <a:schemeClr val="tx1"/>
                </a:solidFill>
              </a:rPr>
              <a:t>Project 4.2.1 Unmanned Systems Investigation, PLTW Aerospace Engineering</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9B8D6"/>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New Horizons">
  <a:themeElements>
    <a:clrScheme name="New Horizons">
      <a:dk1>
        <a:srgbClr val="F5F7FA"/>
      </a:dk1>
      <a:lt1>
        <a:srgbClr val="0B1026"/>
      </a:lt1>
      <a:dk2>
        <a:srgbClr val="A9B8D6"/>
      </a:dk2>
      <a:lt2>
        <a:srgbClr val="18234F"/>
      </a:lt2>
      <a:accent1>
        <a:srgbClr val="F2A65A"/>
      </a:accent1>
      <a:accent2>
        <a:srgbClr val="7FD4F5"/>
      </a:accent2>
      <a:accent3>
        <a:srgbClr val="E4572E"/>
      </a:accent3>
      <a:accent4>
        <a:srgbClr val="9B8CFF"/>
      </a:accent4>
      <a:accent5>
        <a:srgbClr val="6FCF97"/>
      </a:accent5>
      <a:accent6>
        <a:srgbClr val="F7D488"/>
      </a:accent6>
      <a:hlink>
        <a:srgbClr val="7FD4F5"/>
      </a:hlink>
      <a:folHlink>
        <a:srgbClr val="A9B8D6"/>
      </a:folHlink>
    </a:clrScheme>
    <a:fontScheme name="New Horizon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Horizons: First Mission to Pluto and the Kuiper Belt</dc:title>
  <dc:subject>PptxGenJS Presentation</dc:subject>
  <dc:creator>PptxGenJS</dc:creator>
  <cp:lastModifiedBy>PptxGenJS</cp:lastModifiedBy>
  <cp:revision>1</cp:revision>
  <dcterms:created xsi:type="dcterms:W3CDTF">2026-10-06T12:48:23Z</dcterms:created>
  <dcterms:modified xsi:type="dcterms:W3CDTF">2026-10-06T12:48:23Z</dcterms:modified>
</cp:coreProperties>
</file>