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3aa91da-1d4d-2133-62a0-261b64320139}">
          <p14:sldIdLst>
            <p14:sldId id="256"/>
            <p14:sldId id="257"/>
          </p14:sldIdLst>
        </p14:section>
        <p14:section name="Background" id="{1525f9c4-ba55-cc15-e542-827462085d82}">
          <p14:sldIdLst>
            <p14:sldId id="258"/>
          </p14:sldIdLst>
        </p14:section>
        <p14:section name="The spacecraft" id="{d917ea9b-963b-429d-bc29-9fdf9edb3521}">
          <p14:sldIdLst>
            <p14:sldId id="259"/>
          </p14:sldIdLst>
        </p14:section>
        <p14:section name="The journey" id="{6bca9bf3-96b1-e6bb-9f9f-311a824ac865}">
          <p14:sldIdLst>
            <p14:sldId id="260"/>
          </p14:sldIdLst>
        </p14:section>
        <p14:section name="Conclusion" id="{b619d905-4535-dfac-91ce-5c92dc16b2b3}">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5F7FA"/>
                </a:solidFill>
                <a:latin typeface="+mn-lt"/>
              </a:defRPr>
            </a:pPr>
            <a:r>
              <a:rPr sz="1400" b="0" i="0" u="none" strike="noStrike">
                <a:solidFill>
                  <a:srgbClr val="F5F7FA"/>
                </a:solidFill>
                <a:latin typeface="+mn-lt"/>
              </a:rPr>
              <a:t>Distance from the Sun (AU)</a:t>
            </a:r>
          </a:p>
        </c:rich>
      </c:tx>
      <c:layout/>
      <c:overlay val="0"/>
    </c:title>
    <c:autoTitleDeleted val="0"/>
    <c:plotArea>
      <c:layout/>
      <c:barChart>
        <c:barDir val="col"/>
        <c:grouping val="clustered"/>
        <c:varyColors val="0"/>
        <c:ser>
          <c:idx val="0"/>
          <c:order val="0"/>
          <c:tx>
            <c:strRef>
              <c:f>Sheet1!$B$1</c:f>
              <c:strCache>
                <c:ptCount val="1"/>
                <c:pt idx="0">
                  <c:v>Distance from the Sun (AU)</c:v>
                </c:pt>
              </c:strCache>
            </c:strRef>
          </c:tx>
          <c:spPr>
            <a:solidFill>
              <a:srgbClr val="F2A65A"/>
            </a:solidFill>
            <a:effectLst/>
          </c:spPr>
          <c:invertIfNegative val="0"/>
          <c:dLbls>
            <c:numFmt formatCode="0.#" sourceLinked="0"/>
            <c:txPr>
              <a:bodyPr/>
              <a:lstStyle/>
              <a:p>
                <a:pPr>
                  <a:defRPr b="0" i="0" strike="noStrike" sz="1300" u="none">
                    <a:solidFill>
                      <a:srgbClr val="F5F7FA"/>
                    </a:solidFill>
                    <a:latin typeface="+mn-lt"/>
                  </a:defRPr>
                </a:pPr>
              </a:p>
            </c:txPr>
            <c:showLegendKey val="0"/>
            <c:showVal val="1"/>
            <c:showCatName val="0"/>
            <c:showSerName val="0"/>
            <c:showPercent val="0"/>
            <c:showBubbleSize val="0"/>
            <c:showLeaderLines val="0"/>
          </c:dLbls>
          <c:cat>
            <c:multiLvlStrRef>
              <c:f>Sheet1!$A$2:$A$5</c:f>
              <c:multiLvlStrCache>
                <c:ptCount val="4"/>
                <c:lvl>
                  <c:pt idx="0">
                    <c:v>Launch
2006</c:v>
                  </c:pt>
                  <c:pt idx="1">
                    <c:v>Jupiter
2007</c:v>
                  </c:pt>
                  <c:pt idx="2">
                    <c:v>Pluto
2015</c:v>
                  </c:pt>
                  <c:pt idx="3">
                    <c:v>Arrokoth
2019</c:v>
                  </c:pt>
                </c:lvl>
              </c:multiLvlStrCache>
            </c:multiLvlStrRef>
          </c:cat>
          <c:val>
            <c:numRef>
              <c:f>Sheet1!$B$2:$B$5</c:f>
              <c:numCache>
                <c:formatCode>General</c:formatCode>
                <c:ptCount val="4"/>
                <c:pt idx="0">
                  <c:v>1</c:v>
                </c:pt>
                <c:pt idx="1">
                  <c:v>5.4</c:v>
                </c:pt>
                <c:pt idx="2">
                  <c:v>33</c:v>
                </c:pt>
                <c:pt idx="3">
                  <c:v>43</c:v>
                </c:pt>
              </c:numCache>
            </c:numRef>
          </c:val>
        </c:ser>
        <c:dLbls>
          <c:numFmt formatCode="0.#" sourceLinked="0"/>
          <c:txPr>
            <a:bodyPr/>
            <a:lstStyle/>
            <a:p>
              <a:pPr>
                <a:defRPr b="0" i="0" strike="noStrike" sz="1300" u="none">
                  <a:solidFill>
                    <a:srgbClr val="F5F7F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B8D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unmanned system is NASA's New Horizons, the first spacecraft to visit Pluto and then continue into the Kuiper Belt. In about five minutes I will cover why it was built, how it works, what it found, and how it changed space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Horizons is an unmanned spacecraft that traveled about 4.9 billion kilometers, roughly three billion miles, over nine and a half years to reach Pluto. It was built by the Johns Hopkins Applied Physics Laboratory for NASA, with the Southwest Research Institute leading the science. It launched on January 19, 2006 on an Atlas V rocket, and it works in deep space far from the Sun. My outline: why it was built, the spacecraft itself, the journey and what it found, and then my conclusion and its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build it? Pluto was the one world of the old nine planets that no spacecraft had visited, and telescopes showed it only as a blurry dot. Scientists also worried that as Pluto moved away from the Sun, its thin atmosphere would freeze, so there was a window to study it. And the Kuiper Belt, found in 1992, was unexplored. A 2003 US science survey made it a top priority, and NASA selected New Horizons in 2001. The spacecraft launched in January 2006. Seven months later, in August 2006, astronomers reclassified Pluto as a dwarf planet, but the mission went ahead unchanged. In 2007 Jupiter's gravity gave it a speed boost that saved about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Horizons weighed 478 kilograms, about the size of a grand piano. For energy it uses one radioisotope generator that turns the heat of decaying plutonium into electricity, about 245 watts at launch and 200 at Pluto, because sunlight there is a thousand times weaker than on Earth. For communication it uses a 2.1 meter dish and X-band radio through NASA's Deep Space Network. A signal takes four and a half hours one way, and the data rate at Pluto is only about one kilobit per second. For information processing it has two redundant radiation-hardened computers, and it stores images on recorders until it can send them. On July 4, 2015 it switched itself to the backup computer, ten days before the flyby. Its seven instruments include cameras, spectrometers, and a dust counter built by university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how far from the Sun it was at four milestones. One AU is the distance from Earth to the Sun. It left Earth at about 58,000 kilometers per hour, the fastest launch of any spacecraft up to that time. On July 14, 2015 it passed 12,500 kilometers above Pluto. Pluto is only about a fifth of Earth's width, yet it has water-ice mountains up to 3,500 meters tall, glaciers of nitrogen ice in a heart-shaped region named after its discoverer Clyde Tombaugh, a blue haze, and five moons. A surface that young shows Pluto is still geologically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common thread in unmanned systems is curiosity about places humans cannot go, which pushes engineers to invent better machines. The major influences were better rockets, nuclear power, radiation-hardened electronics, and long-range radio. The cause and effect is a loop: questions lead to missions, missions bring data and technology, and the data raises the next questions. On impact: NASA streamed the flyby live, the last of the data arrived in October 2016, the spacecraft flew past the icy object Arrokoth on January 1, 2019, and it is still working today.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B10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28016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548640" y="2697480"/>
            <a:ext cx="4572000" cy="91440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0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10058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D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luto in enhanced color, from New Horizons data">    </p:cNvPr>
          <p:cNvPicPr>
            <a:picLocks noChangeAspect="1"/>
          </p:cNvPicPr>
          <p:nvPr/>
        </p:nvPicPr>
        <p:blipFill>
          <a:blip r:embed="rId1"/>
          <a:stretch>
            <a:fillRect/>
          </a:stretch>
        </p:blipFill>
        <p:spPr>
          <a:xfrm>
            <a:off x="5212080" y="548640"/>
            <a:ext cx="3474720" cy="3566160"/>
          </a:xfrm>
          <a:prstGeom prst="rect">
            <a:avLst/>
          </a:prstGeom>
        </p:spPr>
      </p:pic>
      <p:sp>
        <p:nvSpPr>
          <p:cNvPr id="3" name="Text 0"/>
          <p:cNvSpPr txBox="1"/>
          <p:nvPr/>
        </p:nvSpPr>
        <p:spPr>
          <a:xfrm>
            <a:off x="5212080" y="4206240"/>
            <a:ext cx="3474720" cy="274320"/>
          </a:xfrm>
          <a:prstGeom prst="rect">
            <a:avLst/>
          </a:prstGeom>
          <a:noFill/>
          <a:ln/>
        </p:spPr>
        <p:txBody>
          <a:bodyPr wrap="square" lIns="0" tIns="0" rIns="0" bIns="0" rtlCol="0" anchor="t"/>
          <a:lstStyle/>
          <a:p>
            <a:pPr indent="0" marL="0">
              <a:buNone/>
            </a:pPr>
            <a:r>
              <a:rPr lang="en-US" sz="1200" dirty="0">
                <a:solidFill>
                  <a:schemeClr val="tx2"/>
                </a:solidFill>
              </a:rPr>
              <a:t>Pluto in enhanced color (New Horizons data)</a:t>
            </a:r>
            <a:endParaRPr lang="en-US" sz="1200" dirty="0"/>
          </a:p>
        </p:txBody>
      </p:sp>
      <p:sp>
        <p:nvSpPr>
          <p:cNvPr id="4" name="Text 0"/>
          <p:cNvSpPr/>
          <p:nvPr>
            <p:ph idx="100" type="title" hasCustomPrompt="1"/>
          </p:nvPr>
        </p:nvSpPr>
        <p:spPr>
          <a:xfrm>
            <a:off x="548640" y="1234440"/>
            <a:ext cx="5120640" cy="1280160"/>
          </a:xfrm>
          <a:prstGeom prst="rect">
            <a:avLst/>
          </a:prstGeom>
          <a:noFill/>
          <a:ln/>
        </p:spPr>
        <p:txBody>
          <a:bodyPr wrap="square" lIns="0" tIns="0" rIns="0" bIns="0" rtlCol="0" anchor="b"/>
          <a:lstStyle/>
          <a:p>
            <a:pPr algn="l" indent="0" marL="0">
              <a:buNone/>
            </a:pPr>
            <a:r>
              <a:rPr lang="en-US" sz="4800" b="1" dirty="0">
                <a:solidFill>
                  <a:schemeClr val="tx1"/>
                </a:solidFill>
              </a:rPr>
              <a:t>New Horizons</a:t>
            </a:r>
            <a:endParaRPr lang="en-US" sz="4800" dirty="0"/>
          </a:p>
        </p:txBody>
      </p:sp>
      <p:sp>
        <p:nvSpPr>
          <p:cNvPr id="5" name="Text 0"/>
          <p:cNvSpPr/>
          <p:nvPr>
            <p:ph idx="101" type="body" hasCustomPrompt="1"/>
          </p:nvPr>
        </p:nvSpPr>
        <p:spPr>
          <a:xfrm>
            <a:off x="548640" y="2697480"/>
            <a:ext cx="4572000" cy="914400"/>
          </a:xfrm>
          <a:prstGeom prst="rect">
            <a:avLst/>
          </a:prstGeom>
          <a:noFill/>
          <a:ln/>
        </p:spPr>
        <p:txBody>
          <a:bodyPr wrap="square" lIns="0" tIns="0" rIns="0" bIns="0" rtlCol="0" anchor="t"/>
          <a:lstStyle/>
          <a:p>
            <a:pPr algn="l" indent="0" marL="0">
              <a:buNone/>
            </a:pPr>
            <a:r>
              <a:rPr lang="en-US" sz="2000" dirty="0">
                <a:solidFill>
                  <a:schemeClr val="accent2"/>
                </a:solidFill>
              </a:rPr>
              <a:t>The first mission to Pluto and the Kuiper Belt</a:t>
            </a:r>
            <a:endParaRPr lang="en-US" sz="2000" dirty="0"/>
          </a:p>
        </p:txBody>
      </p:sp>
      <p:sp>
        <p:nvSpPr>
          <p:cNvPr id="6" name="Text 3"/>
          <p:cNvSpPr txBox="1"/>
          <p:nvPr/>
        </p:nvSpPr>
        <p:spPr>
          <a:xfrm>
            <a:off x="548640" y="4526280"/>
            <a:ext cx="4206240" cy="274320"/>
          </a:xfrm>
          <a:prstGeom prst="rect">
            <a:avLst/>
          </a:prstGeom>
          <a:noFill/>
          <a:ln/>
        </p:spPr>
        <p:txBody>
          <a:bodyPr wrap="square" lIns="0" tIns="0" rIns="0" bIns="0" rtlCol="0" anchor="t"/>
          <a:lstStyle/>
          <a:p>
            <a:pPr indent="0" marL="0">
              <a:buNone/>
            </a:pPr>
            <a:r>
              <a:rPr lang="en-US" sz="1200" dirty="0">
                <a:solidFill>
                  <a:schemeClr val="tx2"/>
                </a:solidFill>
              </a:rPr>
              <a:t>Project 4.2.1 Unmanned Systems Investigation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457200" y="256032"/>
            <a:ext cx="5486400" cy="246888"/>
          </a:xfrm>
          <a:prstGeom prst="rect">
            <a:avLst/>
          </a:prstGeom>
          <a:noFill/>
          <a:ln/>
        </p:spPr>
        <p:txBody>
          <a:bodyPr wrap="square" lIns="0" tIns="0" rIns="0" bIns="0" rtlCol="0" anchor="ctr"/>
          <a:lstStyle/>
          <a:p>
            <a:pPr indent="0" marL="0">
              <a:buNone/>
            </a:pPr>
            <a:r>
              <a:rPr lang="en-US" sz="1200" b="1" spc="300" kern="0" dirty="0">
                <a:solidFill>
                  <a:schemeClr val="accent1"/>
                </a:solidFill>
              </a:rPr>
              <a:t>INTRODUCTION</a:t>
            </a:r>
            <a:endParaRPr lang="en-US" sz="1200" dirty="0"/>
          </a:p>
        </p:txBody>
      </p:sp>
      <p:sp>
        <p:nvSpPr>
          <p:cNvPr id="3" name="Text 0"/>
          <p:cNvSpPr/>
          <p:nvPr>
            <p:ph idx="100" type="title" hasCustomPrompt="1"/>
          </p:nvPr>
        </p:nvSpPr>
        <p:spPr>
          <a:xfrm>
            <a:off x="457200" y="502920"/>
            <a:ext cx="8229600" cy="1005840"/>
          </a:xfrm>
          <a:prstGeom prst="rect">
            <a:avLst/>
          </a:prstGeom>
          <a:noFill/>
          <a:ln/>
        </p:spPr>
        <p:txBody>
          <a:bodyPr wrap="square" lIns="0" tIns="0" rIns="0" bIns="0" rtlCol="0" anchor="t"/>
          <a:lstStyle/>
          <a:p>
            <a:pPr algn="l" indent="0" marL="0">
              <a:buNone/>
            </a:pPr>
            <a:r>
              <a:rPr lang="en-US" sz="3200" b="1" dirty="0">
                <a:solidFill>
                  <a:schemeClr val="tx1"/>
                </a:solidFill>
              </a:rPr>
              <a:t>New Horizons reached Pluto, a world no spacecraft had visited</a:t>
            </a:r>
            <a:endParaRPr lang="en-US" sz="3200" dirty="0"/>
          </a:p>
        </p:txBody>
      </p:sp>
      <p:sp>
        <p:nvSpPr>
          <p:cNvPr id="4" name="Text 2"/>
          <p:cNvSpPr txBox="1"/>
          <p:nvPr/>
        </p:nvSpPr>
        <p:spPr>
          <a:xfrm>
            <a:off x="457200" y="1572768"/>
            <a:ext cx="8229600" cy="320040"/>
          </a:xfrm>
          <a:prstGeom prst="rect">
            <a:avLst/>
          </a:prstGeom>
          <a:noFill/>
          <a:ln/>
        </p:spPr>
        <p:txBody>
          <a:bodyPr wrap="square" lIns="0" tIns="0" rIns="0" bIns="0" rtlCol="0" anchor="t"/>
          <a:lstStyle/>
          <a:p>
            <a:pPr indent="0" marL="0">
              <a:buNone/>
            </a:pPr>
            <a:r>
              <a:rPr lang="en-US" sz="1600" dirty="0">
                <a:solidFill>
                  <a:schemeClr val="tx2"/>
                </a:solidFill>
              </a:rPr>
              <a:t>Goal: map Pluto and its moons, then explore the Kuiper Belt.</a:t>
            </a:r>
            <a:endParaRPr lang="en-US" sz="1600" dirty="0"/>
          </a:p>
        </p:txBody>
      </p:sp>
      <p:sp>
        <p:nvSpPr>
          <p:cNvPr id="5" name="Stat card"/>
          <p:cNvSpPr/>
          <p:nvPr/>
        </p:nvSpPr>
        <p:spPr>
          <a:xfrm>
            <a:off x="457200" y="2011680"/>
            <a:ext cx="2560320" cy="1325880"/>
          </a:xfrm>
          <a:prstGeom prst="roundRect">
            <a:avLst>
              <a:gd name="adj" fmla="val 5517"/>
            </a:avLst>
          </a:prstGeom>
          <a:solidFill>
            <a:schemeClr val="bg2"/>
          </a:solidFill>
          <a:ln w="12700">
            <a:solidFill>
              <a:schemeClr val="bg2"/>
            </a:solidFill>
            <a:prstDash val="solid"/>
          </a:ln>
        </p:spPr>
      </p:sp>
      <p:sp>
        <p:nvSpPr>
          <p:cNvPr id="6" name="Text 4"/>
          <p:cNvSpPr txBox="1"/>
          <p:nvPr/>
        </p:nvSpPr>
        <p:spPr>
          <a:xfrm>
            <a:off x="640080" y="2103120"/>
            <a:ext cx="219456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9.5 years</a:t>
            </a:r>
            <a:endParaRPr lang="en-US" sz="3000" dirty="0"/>
          </a:p>
        </p:txBody>
      </p:sp>
      <p:sp>
        <p:nvSpPr>
          <p:cNvPr id="7" name="Text 5"/>
          <p:cNvSpPr txBox="1"/>
          <p:nvPr/>
        </p:nvSpPr>
        <p:spPr>
          <a:xfrm>
            <a:off x="640080" y="2788920"/>
            <a:ext cx="2194560" cy="457200"/>
          </a:xfrm>
          <a:prstGeom prst="rect">
            <a:avLst/>
          </a:prstGeom>
          <a:noFill/>
          <a:ln/>
        </p:spPr>
        <p:txBody>
          <a:bodyPr wrap="square" lIns="0" tIns="0" rIns="0" bIns="0" rtlCol="0" anchor="t"/>
          <a:lstStyle/>
          <a:p>
            <a:pPr indent="0" marL="0">
              <a:buNone/>
            </a:pPr>
            <a:r>
              <a:rPr lang="en-US" sz="1500" dirty="0">
                <a:solidFill>
                  <a:schemeClr val="tx1"/>
                </a:solidFill>
              </a:rPr>
              <a:t>from launch to Pluto</a:t>
            </a:r>
            <a:endParaRPr lang="en-US" sz="1500" dirty="0"/>
          </a:p>
        </p:txBody>
      </p:sp>
      <p:sp>
        <p:nvSpPr>
          <p:cNvPr id="8" name="Stat card"/>
          <p:cNvSpPr/>
          <p:nvPr/>
        </p:nvSpPr>
        <p:spPr>
          <a:xfrm>
            <a:off x="3291840" y="2011680"/>
            <a:ext cx="2560320" cy="1325880"/>
          </a:xfrm>
          <a:prstGeom prst="roundRect">
            <a:avLst>
              <a:gd name="adj" fmla="val 5517"/>
            </a:avLst>
          </a:prstGeom>
          <a:solidFill>
            <a:schemeClr val="bg2"/>
          </a:solidFill>
          <a:ln w="12700">
            <a:solidFill>
              <a:schemeClr val="bg2"/>
            </a:solidFill>
            <a:prstDash val="solid"/>
          </a:ln>
        </p:spPr>
      </p:sp>
      <p:sp>
        <p:nvSpPr>
          <p:cNvPr id="9" name="Text 7"/>
          <p:cNvSpPr txBox="1"/>
          <p:nvPr/>
        </p:nvSpPr>
        <p:spPr>
          <a:xfrm>
            <a:off x="3474720" y="2103120"/>
            <a:ext cx="219456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4.9 billion</a:t>
            </a:r>
            <a:endParaRPr lang="en-US" sz="3000" dirty="0"/>
          </a:p>
        </p:txBody>
      </p:sp>
      <p:sp>
        <p:nvSpPr>
          <p:cNvPr id="10" name="Text 8"/>
          <p:cNvSpPr txBox="1"/>
          <p:nvPr/>
        </p:nvSpPr>
        <p:spPr>
          <a:xfrm>
            <a:off x="3474720" y="2788920"/>
            <a:ext cx="2194560" cy="457200"/>
          </a:xfrm>
          <a:prstGeom prst="rect">
            <a:avLst/>
          </a:prstGeom>
          <a:noFill/>
          <a:ln/>
        </p:spPr>
        <p:txBody>
          <a:bodyPr wrap="square" lIns="0" tIns="0" rIns="0" bIns="0" rtlCol="0" anchor="t"/>
          <a:lstStyle/>
          <a:p>
            <a:pPr indent="0" marL="0">
              <a:buNone/>
            </a:pPr>
            <a:r>
              <a:rPr lang="en-US" sz="1500" dirty="0">
                <a:solidFill>
                  <a:schemeClr val="tx1"/>
                </a:solidFill>
              </a:rPr>
              <a:t>km traveled (3 billion miles)</a:t>
            </a:r>
            <a:endParaRPr lang="en-US" sz="1500" dirty="0"/>
          </a:p>
        </p:txBody>
      </p:sp>
      <p:sp>
        <p:nvSpPr>
          <p:cNvPr id="11" name="Stat card"/>
          <p:cNvSpPr/>
          <p:nvPr/>
        </p:nvSpPr>
        <p:spPr>
          <a:xfrm>
            <a:off x="6126480" y="2011680"/>
            <a:ext cx="2560320" cy="1325880"/>
          </a:xfrm>
          <a:prstGeom prst="roundRect">
            <a:avLst>
              <a:gd name="adj" fmla="val 5517"/>
            </a:avLst>
          </a:prstGeom>
          <a:solidFill>
            <a:schemeClr val="bg2"/>
          </a:solidFill>
          <a:ln w="12700">
            <a:solidFill>
              <a:schemeClr val="bg2"/>
            </a:solidFill>
            <a:prstDash val="solid"/>
          </a:ln>
        </p:spPr>
      </p:sp>
      <p:sp>
        <p:nvSpPr>
          <p:cNvPr id="12" name="Text 10"/>
          <p:cNvSpPr txBox="1"/>
          <p:nvPr/>
        </p:nvSpPr>
        <p:spPr>
          <a:xfrm>
            <a:off x="6309360" y="2103120"/>
            <a:ext cx="219456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1st</a:t>
            </a:r>
            <a:endParaRPr lang="en-US" sz="3000" dirty="0"/>
          </a:p>
        </p:txBody>
      </p:sp>
      <p:sp>
        <p:nvSpPr>
          <p:cNvPr id="13" name="Text 11"/>
          <p:cNvSpPr txBox="1"/>
          <p:nvPr/>
        </p:nvSpPr>
        <p:spPr>
          <a:xfrm>
            <a:off x="6309360" y="2788920"/>
            <a:ext cx="2194560" cy="457200"/>
          </a:xfrm>
          <a:prstGeom prst="rect">
            <a:avLst/>
          </a:prstGeom>
          <a:noFill/>
          <a:ln/>
        </p:spPr>
        <p:txBody>
          <a:bodyPr wrap="square" lIns="0" tIns="0" rIns="0" bIns="0" rtlCol="0" anchor="t"/>
          <a:lstStyle/>
          <a:p>
            <a:pPr indent="0" marL="0">
              <a:buNone/>
            </a:pPr>
            <a:r>
              <a:rPr lang="en-US" sz="1500" dirty="0">
                <a:solidFill>
                  <a:schemeClr val="tx1"/>
                </a:solidFill>
              </a:rPr>
              <a:t>spacecraft to visit Pluto</a:t>
            </a:r>
            <a:endParaRPr lang="en-US" sz="1500" dirty="0"/>
          </a:p>
        </p:txBody>
      </p:sp>
      <p:sp>
        <p:nvSpPr>
          <p:cNvPr id="14" name="Text 12"/>
          <p:cNvSpPr txBox="1"/>
          <p:nvPr/>
        </p:nvSpPr>
        <p:spPr>
          <a:xfrm>
            <a:off x="457200" y="3520440"/>
            <a:ext cx="1828800" cy="274320"/>
          </a:xfrm>
          <a:prstGeom prst="rect">
            <a:avLst/>
          </a:prstGeom>
          <a:noFill/>
          <a:ln/>
        </p:spPr>
        <p:txBody>
          <a:bodyPr wrap="square" lIns="0" tIns="0" rIns="0" bIns="0" rtlCol="0" anchor="t"/>
          <a:lstStyle/>
          <a:p>
            <a:pPr indent="0" marL="0">
              <a:buNone/>
            </a:pPr>
            <a:r>
              <a:rPr lang="en-US" sz="1600" b="1" dirty="0">
                <a:solidFill>
                  <a:schemeClr val="accent1"/>
                </a:solidFill>
              </a:rPr>
              <a:t>Outline</a:t>
            </a:r>
            <a:endParaRPr lang="en-US" sz="1600" dirty="0"/>
          </a:p>
        </p:txBody>
      </p:sp>
      <p:sp>
        <p:nvSpPr>
          <p:cNvPr id="15" name="Outline card"/>
          <p:cNvSpPr/>
          <p:nvPr/>
        </p:nvSpPr>
        <p:spPr>
          <a:xfrm>
            <a:off x="457200" y="3886200"/>
            <a:ext cx="1920240" cy="658368"/>
          </a:xfrm>
          <a:prstGeom prst="roundRect">
            <a:avLst>
              <a:gd name="adj" fmla="val 11111"/>
            </a:avLst>
          </a:prstGeom>
          <a:solidFill>
            <a:schemeClr val="bg2"/>
          </a:solidFill>
          <a:ln w="12700">
            <a:solidFill>
              <a:schemeClr val="bg2"/>
            </a:solidFill>
            <a:prstDash val="solid"/>
          </a:ln>
        </p:spPr>
      </p:sp>
      <p:sp>
        <p:nvSpPr>
          <p:cNvPr id="16" name="Number badge"/>
          <p:cNvSpPr/>
          <p:nvPr/>
        </p:nvSpPr>
        <p:spPr>
          <a:xfrm>
            <a:off x="566928" y="4023360"/>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566928" y="4023360"/>
            <a:ext cx="384048" cy="384048"/>
          </a:xfrm>
          <a:prstGeom prst="rect">
            <a:avLst/>
          </a:prstGeom>
          <a:noFill/>
          <a:ln/>
        </p:spPr>
        <p:txBody>
          <a:bodyPr wrap="square" lIns="0" tIns="0" rIns="0" bIns="0" rtlCol="0" anchor="ctr"/>
          <a:lstStyle/>
          <a:p>
            <a:pPr algn="ctr" indent="0" marL="0">
              <a:buNone/>
            </a:pPr>
            <a:r>
              <a:rPr lang="en-US" sz="1400" b="1" dirty="0">
                <a:solidFill>
                  <a:srgbClr val="0B1026"/>
                </a:solidFill>
              </a:rPr>
              <a:t>1</a:t>
            </a:r>
            <a:endParaRPr lang="en-US" sz="1400" dirty="0"/>
          </a:p>
        </p:txBody>
      </p:sp>
      <p:sp>
        <p:nvSpPr>
          <p:cNvPr id="18" name="Text 16"/>
          <p:cNvSpPr txBox="1"/>
          <p:nvPr/>
        </p:nvSpPr>
        <p:spPr>
          <a:xfrm>
            <a:off x="1051560" y="3886200"/>
            <a:ext cx="1280160" cy="658368"/>
          </a:xfrm>
          <a:prstGeom prst="rect">
            <a:avLst/>
          </a:prstGeom>
          <a:noFill/>
          <a:ln/>
        </p:spPr>
        <p:txBody>
          <a:bodyPr wrap="square" lIns="0" tIns="0" rIns="0" bIns="0" rtlCol="0" anchor="ctr"/>
          <a:lstStyle/>
          <a:p>
            <a:pPr indent="0" marL="0">
              <a:buNone/>
            </a:pPr>
            <a:r>
              <a:rPr lang="en-US" sz="1300" b="1" dirty="0">
                <a:solidFill>
                  <a:schemeClr val="tx1"/>
                </a:solidFill>
              </a:rPr>
              <a:t>Why it was built</a:t>
            </a:r>
            <a:endParaRPr lang="en-US" sz="1300" dirty="0"/>
          </a:p>
        </p:txBody>
      </p:sp>
      <p:sp>
        <p:nvSpPr>
          <p:cNvPr id="19" name="Outline card"/>
          <p:cNvSpPr/>
          <p:nvPr/>
        </p:nvSpPr>
        <p:spPr>
          <a:xfrm>
            <a:off x="2542032" y="3886200"/>
            <a:ext cx="1920240" cy="658368"/>
          </a:xfrm>
          <a:prstGeom prst="roundRect">
            <a:avLst>
              <a:gd name="adj" fmla="val 11111"/>
            </a:avLst>
          </a:prstGeom>
          <a:solidFill>
            <a:schemeClr val="bg2"/>
          </a:solidFill>
          <a:ln w="12700">
            <a:solidFill>
              <a:schemeClr val="bg2"/>
            </a:solidFill>
            <a:prstDash val="solid"/>
          </a:ln>
        </p:spPr>
      </p:sp>
      <p:sp>
        <p:nvSpPr>
          <p:cNvPr id="20" name="Number badge"/>
          <p:cNvSpPr/>
          <p:nvPr/>
        </p:nvSpPr>
        <p:spPr>
          <a:xfrm>
            <a:off x="2651760" y="402336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2651760" y="4023360"/>
            <a:ext cx="384048" cy="384048"/>
          </a:xfrm>
          <a:prstGeom prst="rect">
            <a:avLst/>
          </a:prstGeom>
          <a:noFill/>
          <a:ln/>
        </p:spPr>
        <p:txBody>
          <a:bodyPr wrap="square" lIns="0" tIns="0" rIns="0" bIns="0" rtlCol="0" anchor="ctr"/>
          <a:lstStyle/>
          <a:p>
            <a:pPr algn="ctr" indent="0" marL="0">
              <a:buNone/>
            </a:pPr>
            <a:r>
              <a:rPr lang="en-US" sz="1400" b="1" dirty="0">
                <a:solidFill>
                  <a:srgbClr val="0B1026"/>
                </a:solidFill>
              </a:rPr>
              <a:t>2</a:t>
            </a:r>
            <a:endParaRPr lang="en-US" sz="1400" dirty="0"/>
          </a:p>
        </p:txBody>
      </p:sp>
      <p:sp>
        <p:nvSpPr>
          <p:cNvPr id="22" name="Text 20"/>
          <p:cNvSpPr txBox="1"/>
          <p:nvPr/>
        </p:nvSpPr>
        <p:spPr>
          <a:xfrm>
            <a:off x="3136392" y="3886200"/>
            <a:ext cx="1280160" cy="658368"/>
          </a:xfrm>
          <a:prstGeom prst="rect">
            <a:avLst/>
          </a:prstGeom>
          <a:noFill/>
          <a:ln/>
        </p:spPr>
        <p:txBody>
          <a:bodyPr wrap="square" lIns="0" tIns="0" rIns="0" bIns="0" rtlCol="0" anchor="ctr"/>
          <a:lstStyle/>
          <a:p>
            <a:pPr indent="0" marL="0">
              <a:buNone/>
            </a:pPr>
            <a:r>
              <a:rPr lang="en-US" sz="1300" b="1" dirty="0">
                <a:solidFill>
                  <a:schemeClr val="tx1"/>
                </a:solidFill>
              </a:rPr>
              <a:t>The spacecraft</a:t>
            </a:r>
            <a:endParaRPr lang="en-US" sz="1300" dirty="0"/>
          </a:p>
        </p:txBody>
      </p:sp>
      <p:sp>
        <p:nvSpPr>
          <p:cNvPr id="23" name="Outline card"/>
          <p:cNvSpPr/>
          <p:nvPr/>
        </p:nvSpPr>
        <p:spPr>
          <a:xfrm>
            <a:off x="4626864" y="3886200"/>
            <a:ext cx="1920240" cy="658368"/>
          </a:xfrm>
          <a:prstGeom prst="roundRect">
            <a:avLst>
              <a:gd name="adj" fmla="val 11111"/>
            </a:avLst>
          </a:prstGeom>
          <a:solidFill>
            <a:schemeClr val="bg2"/>
          </a:solidFill>
          <a:ln w="12700">
            <a:solidFill>
              <a:schemeClr val="bg2"/>
            </a:solidFill>
            <a:prstDash val="solid"/>
          </a:ln>
        </p:spPr>
      </p:sp>
      <p:sp>
        <p:nvSpPr>
          <p:cNvPr id="24" name="Number badge"/>
          <p:cNvSpPr/>
          <p:nvPr/>
        </p:nvSpPr>
        <p:spPr>
          <a:xfrm>
            <a:off x="4736592" y="4023360"/>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4736592" y="4023360"/>
            <a:ext cx="384048" cy="384048"/>
          </a:xfrm>
          <a:prstGeom prst="rect">
            <a:avLst/>
          </a:prstGeom>
          <a:noFill/>
          <a:ln/>
        </p:spPr>
        <p:txBody>
          <a:bodyPr wrap="square" lIns="0" tIns="0" rIns="0" bIns="0" rtlCol="0" anchor="ctr"/>
          <a:lstStyle/>
          <a:p>
            <a:pPr algn="ctr" indent="0" marL="0">
              <a:buNone/>
            </a:pPr>
            <a:r>
              <a:rPr lang="en-US" sz="1400" b="1" dirty="0">
                <a:solidFill>
                  <a:srgbClr val="0B1026"/>
                </a:solidFill>
              </a:rPr>
              <a:t>3</a:t>
            </a:r>
            <a:endParaRPr lang="en-US" sz="1400" dirty="0"/>
          </a:p>
        </p:txBody>
      </p:sp>
      <p:sp>
        <p:nvSpPr>
          <p:cNvPr id="26" name="Text 24"/>
          <p:cNvSpPr txBox="1"/>
          <p:nvPr/>
        </p:nvSpPr>
        <p:spPr>
          <a:xfrm>
            <a:off x="5221224" y="3886200"/>
            <a:ext cx="1280160" cy="658368"/>
          </a:xfrm>
          <a:prstGeom prst="rect">
            <a:avLst/>
          </a:prstGeom>
          <a:noFill/>
          <a:ln/>
        </p:spPr>
        <p:txBody>
          <a:bodyPr wrap="square" lIns="0" tIns="0" rIns="0" bIns="0" rtlCol="0" anchor="ctr"/>
          <a:lstStyle/>
          <a:p>
            <a:pPr indent="0" marL="0">
              <a:buNone/>
            </a:pPr>
            <a:r>
              <a:rPr lang="en-US" sz="1300" b="1" dirty="0">
                <a:solidFill>
                  <a:schemeClr val="tx1"/>
                </a:solidFill>
              </a:rPr>
              <a:t>The journey and findings</a:t>
            </a:r>
            <a:endParaRPr lang="en-US" sz="1300" dirty="0"/>
          </a:p>
        </p:txBody>
      </p:sp>
      <p:sp>
        <p:nvSpPr>
          <p:cNvPr id="27" name="Outline card"/>
          <p:cNvSpPr/>
          <p:nvPr/>
        </p:nvSpPr>
        <p:spPr>
          <a:xfrm>
            <a:off x="6711696" y="3886200"/>
            <a:ext cx="1920240" cy="658368"/>
          </a:xfrm>
          <a:prstGeom prst="roundRect">
            <a:avLst>
              <a:gd name="adj" fmla="val 11111"/>
            </a:avLst>
          </a:prstGeom>
          <a:solidFill>
            <a:schemeClr val="bg2"/>
          </a:solidFill>
          <a:ln w="12700">
            <a:solidFill>
              <a:schemeClr val="bg2"/>
            </a:solidFill>
            <a:prstDash val="solid"/>
          </a:ln>
        </p:spPr>
      </p:sp>
      <p:sp>
        <p:nvSpPr>
          <p:cNvPr id="28" name="Number badge"/>
          <p:cNvSpPr/>
          <p:nvPr/>
        </p:nvSpPr>
        <p:spPr>
          <a:xfrm>
            <a:off x="6821424" y="4023360"/>
            <a:ext cx="384048" cy="384048"/>
          </a:xfrm>
          <a:prstGeom prst="ellipse">
            <a:avLst/>
          </a:prstGeom>
          <a:solidFill>
            <a:schemeClr val="accent1"/>
          </a:solidFill>
          <a:ln w="12700">
            <a:solidFill>
              <a:schemeClr val="accent1"/>
            </a:solidFill>
            <a:prstDash val="solid"/>
          </a:ln>
        </p:spPr>
      </p:sp>
      <p:sp>
        <p:nvSpPr>
          <p:cNvPr id="29" name="Text 27"/>
          <p:cNvSpPr txBox="1"/>
          <p:nvPr/>
        </p:nvSpPr>
        <p:spPr>
          <a:xfrm>
            <a:off x="6821424" y="4023360"/>
            <a:ext cx="384048" cy="384048"/>
          </a:xfrm>
          <a:prstGeom prst="rect">
            <a:avLst/>
          </a:prstGeom>
          <a:noFill/>
          <a:ln/>
        </p:spPr>
        <p:txBody>
          <a:bodyPr wrap="square" lIns="0" tIns="0" rIns="0" bIns="0" rtlCol="0" anchor="ctr"/>
          <a:lstStyle/>
          <a:p>
            <a:pPr algn="ctr" indent="0" marL="0">
              <a:buNone/>
            </a:pPr>
            <a:r>
              <a:rPr lang="en-US" sz="1400" b="1" dirty="0">
                <a:solidFill>
                  <a:srgbClr val="0B1026"/>
                </a:solidFill>
              </a:rPr>
              <a:t>4</a:t>
            </a:r>
            <a:endParaRPr lang="en-US" sz="1400" dirty="0"/>
          </a:p>
        </p:txBody>
      </p:sp>
      <p:sp>
        <p:nvSpPr>
          <p:cNvPr id="30" name="Text 28"/>
          <p:cNvSpPr txBox="1"/>
          <p:nvPr/>
        </p:nvSpPr>
        <p:spPr>
          <a:xfrm>
            <a:off x="7306056" y="3886200"/>
            <a:ext cx="1280160" cy="658368"/>
          </a:xfrm>
          <a:prstGeom prst="rect">
            <a:avLst/>
          </a:prstGeom>
          <a:noFill/>
          <a:ln/>
        </p:spPr>
        <p:txBody>
          <a:bodyPr wrap="square" lIns="0" tIns="0" rIns="0" bIns="0" rtlCol="0" anchor="ctr"/>
          <a:lstStyle/>
          <a:p>
            <a:pPr indent="0" marL="0">
              <a:buNone/>
            </a:pPr>
            <a:r>
              <a:rPr lang="en-US" sz="1300" b="1" dirty="0">
                <a:solidFill>
                  <a:schemeClr val="tx1"/>
                </a:solidFill>
              </a:rPr>
              <a:t>Conclusion and impact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D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457200" y="256032"/>
            <a:ext cx="5486400" cy="246888"/>
          </a:xfrm>
          <a:prstGeom prst="rect">
            <a:avLst/>
          </a:prstGeom>
          <a:noFill/>
          <a:ln/>
        </p:spPr>
        <p:txBody>
          <a:bodyPr wrap="square" lIns="0" tIns="0" rIns="0" bIns="0" rtlCol="0" anchor="ctr"/>
          <a:lstStyle/>
          <a:p>
            <a:pPr indent="0" marL="0">
              <a:buNone/>
            </a:pPr>
            <a:r>
              <a:rPr lang="en-US" sz="1200" b="1" spc="300" kern="0" dirty="0">
                <a:solidFill>
                  <a:schemeClr val="accent1"/>
                </a:solidFill>
              </a:rPr>
              <a:t>WHY IT WAS BUILT</a:t>
            </a:r>
            <a:endParaRPr lang="en-US" sz="1200" dirty="0"/>
          </a:p>
        </p:txBody>
      </p:sp>
      <p:sp>
        <p:nvSpPr>
          <p:cNvPr id="3" name="Text 0"/>
          <p:cNvSpPr/>
          <p:nvPr>
            <p:ph idx="100" type="title" hasCustomPrompt="1"/>
          </p:nvPr>
        </p:nvSpPr>
        <p:spPr>
          <a:xfrm>
            <a:off x="457200" y="502920"/>
            <a:ext cx="8229600" cy="1005840"/>
          </a:xfrm>
          <a:prstGeom prst="rect">
            <a:avLst/>
          </a:prstGeom>
          <a:noFill/>
          <a:ln/>
        </p:spPr>
        <p:txBody>
          <a:bodyPr wrap="square" lIns="0" tIns="0" rIns="0" bIns="0" rtlCol="0" anchor="t"/>
          <a:lstStyle/>
          <a:p>
            <a:pPr algn="l" indent="0" marL="0">
              <a:buNone/>
            </a:pPr>
            <a:r>
              <a:rPr lang="en-US" sz="3200" b="1" dirty="0">
                <a:solidFill>
                  <a:schemeClr val="tx1"/>
                </a:solidFill>
              </a:rPr>
              <a:t>Pluto was the last unexplored world of the old nine planets</a:t>
            </a:r>
            <a:endParaRPr lang="en-US" sz="3200" dirty="0"/>
          </a:p>
        </p:txBody>
      </p:sp>
      <p:sp>
        <p:nvSpPr>
          <p:cNvPr id="4" name="Timeline axis"/>
          <p:cNvSpPr/>
          <p:nvPr/>
        </p:nvSpPr>
        <p:spPr>
          <a:xfrm>
            <a:off x="1097280" y="2057400"/>
            <a:ext cx="6949440" cy="0"/>
          </a:xfrm>
          <a:prstGeom prst="line">
            <a:avLst/>
          </a:prstGeom>
          <a:noFill/>
          <a:ln w="25400">
            <a:solidFill>
              <a:srgbClr val="A9B8D6"/>
            </a:solidFill>
            <a:prstDash val="solid"/>
          </a:ln>
        </p:spPr>
      </p:sp>
      <p:sp>
        <p:nvSpPr>
          <p:cNvPr id="5" name="Timeline node"/>
          <p:cNvSpPr/>
          <p:nvPr/>
        </p:nvSpPr>
        <p:spPr>
          <a:xfrm>
            <a:off x="978408" y="1938528"/>
            <a:ext cx="237744" cy="237744"/>
          </a:xfrm>
          <a:prstGeom prst="ellipse">
            <a:avLst/>
          </a:prstGeom>
          <a:solidFill>
            <a:schemeClr val="accent1"/>
          </a:solidFill>
          <a:ln w="25400">
            <a:solidFill>
              <a:srgbClr val="0B1026"/>
            </a:solidFill>
            <a:prstDash val="solid"/>
          </a:ln>
        </p:spPr>
      </p:sp>
      <p:sp>
        <p:nvSpPr>
          <p:cNvPr id="6" name="Text 4"/>
          <p:cNvSpPr txBox="1"/>
          <p:nvPr/>
        </p:nvSpPr>
        <p:spPr>
          <a:xfrm>
            <a:off x="320040" y="1600200"/>
            <a:ext cx="1554480" cy="274320"/>
          </a:xfrm>
          <a:prstGeom prst="rect">
            <a:avLst/>
          </a:prstGeom>
          <a:noFill/>
          <a:ln/>
        </p:spPr>
        <p:txBody>
          <a:bodyPr wrap="square" lIns="0" tIns="0" rIns="0" bIns="0" rtlCol="0" anchor="t"/>
          <a:lstStyle/>
          <a:p>
            <a:pPr algn="ctr" indent="0" marL="0">
              <a:buNone/>
            </a:pPr>
            <a:r>
              <a:rPr lang="en-US" sz="1400" b="1" dirty="0">
                <a:solidFill>
                  <a:schemeClr val="accent1"/>
                </a:solidFill>
              </a:rPr>
              <a:t>Nov 2001</a:t>
            </a:r>
            <a:endParaRPr lang="en-US" sz="1400" dirty="0"/>
          </a:p>
        </p:txBody>
      </p:sp>
      <p:sp>
        <p:nvSpPr>
          <p:cNvPr id="7" name="Text 5"/>
          <p:cNvSpPr txBox="1"/>
          <p:nvPr/>
        </p:nvSpPr>
        <p:spPr>
          <a:xfrm>
            <a:off x="320040" y="228600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NASA selects the mission</a:t>
            </a:r>
            <a:endParaRPr lang="en-US" sz="1300" dirty="0"/>
          </a:p>
        </p:txBody>
      </p:sp>
      <p:sp>
        <p:nvSpPr>
          <p:cNvPr id="8" name="Timeline node"/>
          <p:cNvSpPr/>
          <p:nvPr/>
        </p:nvSpPr>
        <p:spPr>
          <a:xfrm>
            <a:off x="2715768" y="1938528"/>
            <a:ext cx="237744" cy="237744"/>
          </a:xfrm>
          <a:prstGeom prst="ellipse">
            <a:avLst/>
          </a:prstGeom>
          <a:solidFill>
            <a:schemeClr val="accent1"/>
          </a:solidFill>
          <a:ln w="25400">
            <a:solidFill>
              <a:srgbClr val="0B1026"/>
            </a:solidFill>
            <a:prstDash val="solid"/>
          </a:ln>
        </p:spPr>
      </p:sp>
      <p:sp>
        <p:nvSpPr>
          <p:cNvPr id="9" name="Text 7"/>
          <p:cNvSpPr txBox="1"/>
          <p:nvPr/>
        </p:nvSpPr>
        <p:spPr>
          <a:xfrm>
            <a:off x="2057400" y="1600200"/>
            <a:ext cx="1554480" cy="274320"/>
          </a:xfrm>
          <a:prstGeom prst="rect">
            <a:avLst/>
          </a:prstGeom>
          <a:noFill/>
          <a:ln/>
        </p:spPr>
        <p:txBody>
          <a:bodyPr wrap="square" lIns="0" tIns="0" rIns="0" bIns="0" rtlCol="0" anchor="t"/>
          <a:lstStyle/>
          <a:p>
            <a:pPr algn="ctr" indent="0" marL="0">
              <a:buNone/>
            </a:pPr>
            <a:r>
              <a:rPr lang="en-US" sz="1400" b="1" dirty="0">
                <a:solidFill>
                  <a:schemeClr val="accent1"/>
                </a:solidFill>
              </a:rPr>
              <a:t>Jan 2006</a:t>
            </a:r>
            <a:endParaRPr lang="en-US" sz="1400" dirty="0"/>
          </a:p>
        </p:txBody>
      </p:sp>
      <p:sp>
        <p:nvSpPr>
          <p:cNvPr id="10" name="Text 8"/>
          <p:cNvSpPr txBox="1"/>
          <p:nvPr/>
        </p:nvSpPr>
        <p:spPr>
          <a:xfrm>
            <a:off x="2057400" y="228600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Launch</a:t>
            </a:r>
            <a:endParaRPr lang="en-US" sz="1300" dirty="0"/>
          </a:p>
        </p:txBody>
      </p:sp>
      <p:sp>
        <p:nvSpPr>
          <p:cNvPr id="11" name="Timeline node"/>
          <p:cNvSpPr/>
          <p:nvPr/>
        </p:nvSpPr>
        <p:spPr>
          <a:xfrm>
            <a:off x="4453128" y="1938528"/>
            <a:ext cx="237744" cy="237744"/>
          </a:xfrm>
          <a:prstGeom prst="ellipse">
            <a:avLst/>
          </a:prstGeom>
          <a:solidFill>
            <a:schemeClr val="accent3"/>
          </a:solidFill>
          <a:ln w="25400">
            <a:solidFill>
              <a:srgbClr val="0B1026"/>
            </a:solidFill>
            <a:prstDash val="solid"/>
          </a:ln>
        </p:spPr>
      </p:sp>
      <p:sp>
        <p:nvSpPr>
          <p:cNvPr id="12" name="Text 10"/>
          <p:cNvSpPr txBox="1"/>
          <p:nvPr/>
        </p:nvSpPr>
        <p:spPr>
          <a:xfrm>
            <a:off x="3794760" y="1600200"/>
            <a:ext cx="1554480" cy="274320"/>
          </a:xfrm>
          <a:prstGeom prst="rect">
            <a:avLst/>
          </a:prstGeom>
          <a:noFill/>
          <a:ln/>
        </p:spPr>
        <p:txBody>
          <a:bodyPr wrap="square" lIns="0" tIns="0" rIns="0" bIns="0" rtlCol="0" anchor="t"/>
          <a:lstStyle/>
          <a:p>
            <a:pPr algn="ctr" indent="0" marL="0">
              <a:buNone/>
            </a:pPr>
            <a:r>
              <a:rPr lang="en-US" sz="1400" b="1" dirty="0">
                <a:solidFill>
                  <a:schemeClr val="accent3"/>
                </a:solidFill>
              </a:rPr>
              <a:t>Aug 2006</a:t>
            </a:r>
            <a:endParaRPr lang="en-US" sz="1400" dirty="0"/>
          </a:p>
        </p:txBody>
      </p:sp>
      <p:sp>
        <p:nvSpPr>
          <p:cNvPr id="13" name="Text 11"/>
          <p:cNvSpPr txBox="1"/>
          <p:nvPr/>
        </p:nvSpPr>
        <p:spPr>
          <a:xfrm>
            <a:off x="3794760" y="228600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Pluto becomes a dwarf planet</a:t>
            </a:r>
            <a:endParaRPr lang="en-US" sz="1300" dirty="0"/>
          </a:p>
        </p:txBody>
      </p:sp>
      <p:sp>
        <p:nvSpPr>
          <p:cNvPr id="14" name="Timeline node"/>
          <p:cNvSpPr/>
          <p:nvPr/>
        </p:nvSpPr>
        <p:spPr>
          <a:xfrm>
            <a:off x="6190488" y="1938528"/>
            <a:ext cx="237744" cy="237744"/>
          </a:xfrm>
          <a:prstGeom prst="ellipse">
            <a:avLst/>
          </a:prstGeom>
          <a:solidFill>
            <a:schemeClr val="accent1"/>
          </a:solidFill>
          <a:ln w="25400">
            <a:solidFill>
              <a:srgbClr val="0B1026"/>
            </a:solidFill>
            <a:prstDash val="solid"/>
          </a:ln>
        </p:spPr>
      </p:sp>
      <p:sp>
        <p:nvSpPr>
          <p:cNvPr id="15" name="Text 13"/>
          <p:cNvSpPr txBox="1"/>
          <p:nvPr/>
        </p:nvSpPr>
        <p:spPr>
          <a:xfrm>
            <a:off x="5532120" y="1600200"/>
            <a:ext cx="1554480" cy="274320"/>
          </a:xfrm>
          <a:prstGeom prst="rect">
            <a:avLst/>
          </a:prstGeom>
          <a:noFill/>
          <a:ln/>
        </p:spPr>
        <p:txBody>
          <a:bodyPr wrap="square" lIns="0" tIns="0" rIns="0" bIns="0" rtlCol="0" anchor="t"/>
          <a:lstStyle/>
          <a:p>
            <a:pPr algn="ctr" indent="0" marL="0">
              <a:buNone/>
            </a:pPr>
            <a:r>
              <a:rPr lang="en-US" sz="1400" b="1" dirty="0">
                <a:solidFill>
                  <a:schemeClr val="accent1"/>
                </a:solidFill>
              </a:rPr>
              <a:t>Feb 2007</a:t>
            </a:r>
            <a:endParaRPr lang="en-US" sz="1400" dirty="0"/>
          </a:p>
        </p:txBody>
      </p:sp>
      <p:sp>
        <p:nvSpPr>
          <p:cNvPr id="16" name="Text 14"/>
          <p:cNvSpPr txBox="1"/>
          <p:nvPr/>
        </p:nvSpPr>
        <p:spPr>
          <a:xfrm>
            <a:off x="5532120" y="228600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Jupiter gravity assist</a:t>
            </a:r>
            <a:endParaRPr lang="en-US" sz="1300" dirty="0"/>
          </a:p>
        </p:txBody>
      </p:sp>
      <p:sp>
        <p:nvSpPr>
          <p:cNvPr id="17" name="Timeline node"/>
          <p:cNvSpPr/>
          <p:nvPr/>
        </p:nvSpPr>
        <p:spPr>
          <a:xfrm>
            <a:off x="7927848" y="1938528"/>
            <a:ext cx="237744" cy="237744"/>
          </a:xfrm>
          <a:prstGeom prst="ellipse">
            <a:avLst/>
          </a:prstGeom>
          <a:solidFill>
            <a:schemeClr val="accent1"/>
          </a:solidFill>
          <a:ln w="25400">
            <a:solidFill>
              <a:srgbClr val="0B1026"/>
            </a:solidFill>
            <a:prstDash val="solid"/>
          </a:ln>
        </p:spPr>
      </p:sp>
      <p:sp>
        <p:nvSpPr>
          <p:cNvPr id="18" name="Text 16"/>
          <p:cNvSpPr txBox="1"/>
          <p:nvPr/>
        </p:nvSpPr>
        <p:spPr>
          <a:xfrm>
            <a:off x="7269480" y="1600200"/>
            <a:ext cx="1554480" cy="274320"/>
          </a:xfrm>
          <a:prstGeom prst="rect">
            <a:avLst/>
          </a:prstGeom>
          <a:noFill/>
          <a:ln/>
        </p:spPr>
        <p:txBody>
          <a:bodyPr wrap="square" lIns="0" tIns="0" rIns="0" bIns="0" rtlCol="0" anchor="t"/>
          <a:lstStyle/>
          <a:p>
            <a:pPr algn="ctr" indent="0" marL="0">
              <a:buNone/>
            </a:pPr>
            <a:r>
              <a:rPr lang="en-US" sz="1400" b="1" dirty="0">
                <a:solidFill>
                  <a:schemeClr val="accent1"/>
                </a:solidFill>
              </a:rPr>
              <a:t>Jul 2015</a:t>
            </a:r>
            <a:endParaRPr lang="en-US" sz="1400" dirty="0"/>
          </a:p>
        </p:txBody>
      </p:sp>
      <p:sp>
        <p:nvSpPr>
          <p:cNvPr id="19" name="Text 17"/>
          <p:cNvSpPr txBox="1"/>
          <p:nvPr/>
        </p:nvSpPr>
        <p:spPr>
          <a:xfrm>
            <a:off x="7269480" y="228600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Pluto flyby</a:t>
            </a:r>
            <a:endParaRPr lang="en-US" sz="1300" dirty="0"/>
          </a:p>
        </p:txBody>
      </p:sp>
      <p:sp>
        <p:nvSpPr>
          <p:cNvPr id="20" name="Reason card"/>
          <p:cNvSpPr/>
          <p:nvPr/>
        </p:nvSpPr>
        <p:spPr>
          <a:xfrm>
            <a:off x="457200" y="3063240"/>
            <a:ext cx="2560320" cy="1508760"/>
          </a:xfrm>
          <a:prstGeom prst="roundRect">
            <a:avLst>
              <a:gd name="adj" fmla="val 4848"/>
            </a:avLst>
          </a:prstGeom>
          <a:solidFill>
            <a:schemeClr val="bg2"/>
          </a:solidFill>
          <a:ln w="12700">
            <a:solidFill>
              <a:schemeClr val="bg2"/>
            </a:solidFill>
            <a:prstDash val="solid"/>
          </a:ln>
        </p:spPr>
      </p:sp>
      <p:sp>
        <p:nvSpPr>
          <p:cNvPr id="21" name="Icon badge"/>
          <p:cNvSpPr/>
          <p:nvPr/>
        </p:nvSpPr>
        <p:spPr>
          <a:xfrm>
            <a:off x="640080" y="3200400"/>
            <a:ext cx="457200" cy="457200"/>
          </a:xfrm>
          <a:prstGeom prst="ellipse">
            <a:avLst/>
          </a:prstGeom>
          <a:solidFill>
            <a:schemeClr val="accent1"/>
          </a:solidFill>
          <a:ln w="12700">
            <a:solidFill>
              <a:schemeClr val="accent1"/>
            </a:solidFill>
            <a:prstDash val="solid"/>
          </a:ln>
        </p:spPr>
      </p:sp>
      <p:pic>
        <p:nvPicPr>
          <p:cNvPr id="22" name="Image 0" descr="icon">    </p:cNvPr>
          <p:cNvPicPr>
            <a:picLocks noChangeAspect="1"/>
          </p:cNvPicPr>
          <p:nvPr/>
        </p:nvPicPr>
        <p:blipFill>
          <a:blip r:embed="rId1"/>
          <a:stretch>
            <a:fillRect/>
          </a:stretch>
        </p:blipFill>
        <p:spPr>
          <a:xfrm>
            <a:off x="754380" y="3314700"/>
            <a:ext cx="228600" cy="228600"/>
          </a:xfrm>
          <a:prstGeom prst="rect">
            <a:avLst/>
          </a:prstGeom>
        </p:spPr>
      </p:pic>
      <p:sp>
        <p:nvSpPr>
          <p:cNvPr id="23" name="Text 20"/>
          <p:cNvSpPr txBox="1"/>
          <p:nvPr/>
        </p:nvSpPr>
        <p:spPr>
          <a:xfrm>
            <a:off x="1234440" y="320040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Total unknown</a:t>
            </a:r>
            <a:endParaRPr lang="en-US" sz="1600" dirty="0"/>
          </a:p>
        </p:txBody>
      </p:sp>
      <p:sp>
        <p:nvSpPr>
          <p:cNvPr id="24" name="Text 21"/>
          <p:cNvSpPr txBox="1"/>
          <p:nvPr/>
        </p:nvSpPr>
        <p:spPr>
          <a:xfrm>
            <a:off x="640080" y="3749040"/>
            <a:ext cx="2240280" cy="777240"/>
          </a:xfrm>
          <a:prstGeom prst="rect">
            <a:avLst/>
          </a:prstGeom>
          <a:noFill/>
          <a:ln/>
        </p:spPr>
        <p:txBody>
          <a:bodyPr wrap="square" lIns="0" tIns="0" rIns="0" bIns="0" rtlCol="0" anchor="t"/>
          <a:lstStyle/>
          <a:p>
            <a:pPr indent="0" marL="0">
              <a:buNone/>
            </a:pPr>
            <a:r>
              <a:rPr lang="en-US" sz="1400" dirty="0">
                <a:solidFill>
                  <a:schemeClr val="tx2"/>
                </a:solidFill>
              </a:rPr>
              <a:t>Telescopes showed only a blurry dot.</a:t>
            </a:r>
            <a:endParaRPr lang="en-US" sz="1400" dirty="0"/>
          </a:p>
        </p:txBody>
      </p:sp>
      <p:sp>
        <p:nvSpPr>
          <p:cNvPr id="25" name="Reason card"/>
          <p:cNvSpPr/>
          <p:nvPr/>
        </p:nvSpPr>
        <p:spPr>
          <a:xfrm>
            <a:off x="3291840" y="3063240"/>
            <a:ext cx="2560320" cy="1508760"/>
          </a:xfrm>
          <a:prstGeom prst="roundRect">
            <a:avLst>
              <a:gd name="adj" fmla="val 4848"/>
            </a:avLst>
          </a:prstGeom>
          <a:solidFill>
            <a:schemeClr val="bg2"/>
          </a:solidFill>
          <a:ln w="12700">
            <a:solidFill>
              <a:schemeClr val="bg2"/>
            </a:solidFill>
            <a:prstDash val="solid"/>
          </a:ln>
        </p:spPr>
      </p:sp>
      <p:sp>
        <p:nvSpPr>
          <p:cNvPr id="26" name="Icon badge"/>
          <p:cNvSpPr/>
          <p:nvPr/>
        </p:nvSpPr>
        <p:spPr>
          <a:xfrm>
            <a:off x="3474720" y="3200400"/>
            <a:ext cx="457200" cy="457200"/>
          </a:xfrm>
          <a:prstGeom prst="ellipse">
            <a:avLst/>
          </a:prstGeom>
          <a:solidFill>
            <a:schemeClr val="accent1"/>
          </a:solidFill>
          <a:ln w="12700">
            <a:solidFill>
              <a:schemeClr val="accent1"/>
            </a:solidFill>
            <a:prstDash val="solid"/>
          </a:ln>
        </p:spPr>
      </p:sp>
      <p:pic>
        <p:nvPicPr>
          <p:cNvPr id="27" name="Image 1" descr="icon">    </p:cNvPr>
          <p:cNvPicPr>
            <a:picLocks noChangeAspect="1"/>
          </p:cNvPicPr>
          <p:nvPr/>
        </p:nvPicPr>
        <p:blipFill>
          <a:blip r:embed="rId2"/>
          <a:stretch>
            <a:fillRect/>
          </a:stretch>
        </p:blipFill>
        <p:spPr>
          <a:xfrm>
            <a:off x="3589020" y="3314700"/>
            <a:ext cx="228600" cy="228600"/>
          </a:xfrm>
          <a:prstGeom prst="rect">
            <a:avLst/>
          </a:prstGeom>
        </p:spPr>
      </p:pic>
      <p:sp>
        <p:nvSpPr>
          <p:cNvPr id="28" name="Text 24"/>
          <p:cNvSpPr txBox="1"/>
          <p:nvPr/>
        </p:nvSpPr>
        <p:spPr>
          <a:xfrm>
            <a:off x="4069080" y="320040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Closing window</a:t>
            </a:r>
            <a:endParaRPr lang="en-US" sz="1600" dirty="0"/>
          </a:p>
        </p:txBody>
      </p:sp>
      <p:sp>
        <p:nvSpPr>
          <p:cNvPr id="29" name="Text 25"/>
          <p:cNvSpPr txBox="1"/>
          <p:nvPr/>
        </p:nvSpPr>
        <p:spPr>
          <a:xfrm>
            <a:off x="3474720" y="3749040"/>
            <a:ext cx="2240280" cy="777240"/>
          </a:xfrm>
          <a:prstGeom prst="rect">
            <a:avLst/>
          </a:prstGeom>
          <a:noFill/>
          <a:ln/>
        </p:spPr>
        <p:txBody>
          <a:bodyPr wrap="square" lIns="0" tIns="0" rIns="0" bIns="0" rtlCol="0" anchor="t"/>
          <a:lstStyle/>
          <a:p>
            <a:pPr indent="0" marL="0">
              <a:buNone/>
            </a:pPr>
            <a:r>
              <a:rPr lang="en-US" sz="1400" dirty="0">
                <a:solidFill>
                  <a:schemeClr val="tx2"/>
                </a:solidFill>
              </a:rPr>
              <a:t>Pluto's thin atmosphere may freeze as it moves away from the Sun.</a:t>
            </a:r>
            <a:endParaRPr lang="en-US" sz="1400" dirty="0"/>
          </a:p>
        </p:txBody>
      </p:sp>
      <p:sp>
        <p:nvSpPr>
          <p:cNvPr id="30" name="Reason card"/>
          <p:cNvSpPr/>
          <p:nvPr/>
        </p:nvSpPr>
        <p:spPr>
          <a:xfrm>
            <a:off x="6126480" y="3063240"/>
            <a:ext cx="2560320" cy="1508760"/>
          </a:xfrm>
          <a:prstGeom prst="roundRect">
            <a:avLst>
              <a:gd name="adj" fmla="val 4848"/>
            </a:avLst>
          </a:prstGeom>
          <a:solidFill>
            <a:schemeClr val="bg2"/>
          </a:solidFill>
          <a:ln w="12700">
            <a:solidFill>
              <a:schemeClr val="bg2"/>
            </a:solidFill>
            <a:prstDash val="solid"/>
          </a:ln>
        </p:spPr>
      </p:sp>
      <p:sp>
        <p:nvSpPr>
          <p:cNvPr id="31" name="Icon badge"/>
          <p:cNvSpPr/>
          <p:nvPr/>
        </p:nvSpPr>
        <p:spPr>
          <a:xfrm>
            <a:off x="6309360" y="3200400"/>
            <a:ext cx="457200" cy="457200"/>
          </a:xfrm>
          <a:prstGeom prst="ellipse">
            <a:avLst/>
          </a:prstGeom>
          <a:solidFill>
            <a:schemeClr val="accent1"/>
          </a:solidFill>
          <a:ln w="12700">
            <a:solidFill>
              <a:schemeClr val="accent1"/>
            </a:solidFill>
            <a:prstDash val="solid"/>
          </a:ln>
        </p:spPr>
      </p:sp>
      <p:pic>
        <p:nvPicPr>
          <p:cNvPr id="32" name="Image 2" descr="icon">    </p:cNvPr>
          <p:cNvPicPr>
            <a:picLocks noChangeAspect="1"/>
          </p:cNvPicPr>
          <p:nvPr/>
        </p:nvPicPr>
        <p:blipFill>
          <a:blip r:embed="rId3"/>
          <a:stretch>
            <a:fillRect/>
          </a:stretch>
        </p:blipFill>
        <p:spPr>
          <a:xfrm>
            <a:off x="6423660" y="3314700"/>
            <a:ext cx="228600" cy="228600"/>
          </a:xfrm>
          <a:prstGeom prst="rect">
            <a:avLst/>
          </a:prstGeom>
        </p:spPr>
      </p:pic>
      <p:sp>
        <p:nvSpPr>
          <p:cNvPr id="33" name="Text 28"/>
          <p:cNvSpPr txBox="1"/>
          <p:nvPr/>
        </p:nvSpPr>
        <p:spPr>
          <a:xfrm>
            <a:off x="6903720" y="320040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Kuiper Belt</a:t>
            </a:r>
            <a:endParaRPr lang="en-US" sz="1600" dirty="0"/>
          </a:p>
        </p:txBody>
      </p:sp>
      <p:sp>
        <p:nvSpPr>
          <p:cNvPr id="34" name="Text 29"/>
          <p:cNvSpPr txBox="1"/>
          <p:nvPr/>
        </p:nvSpPr>
        <p:spPr>
          <a:xfrm>
            <a:off x="6309360" y="3749040"/>
            <a:ext cx="2240280" cy="777240"/>
          </a:xfrm>
          <a:prstGeom prst="rect">
            <a:avLst/>
          </a:prstGeom>
          <a:noFill/>
          <a:ln/>
        </p:spPr>
        <p:txBody>
          <a:bodyPr wrap="square" lIns="0" tIns="0" rIns="0" bIns="0" rtlCol="0" anchor="t"/>
          <a:lstStyle/>
          <a:p>
            <a:pPr indent="0" marL="0">
              <a:buNone/>
            </a:pPr>
            <a:r>
              <a:rPr lang="en-US" sz="1400" dirty="0">
                <a:solidFill>
                  <a:schemeClr val="tx2"/>
                </a:solidFill>
              </a:rPr>
              <a:t>An icy belt found in 1992 that no spacecraft had visited.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D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457200" y="256032"/>
            <a:ext cx="5486400" cy="246888"/>
          </a:xfrm>
          <a:prstGeom prst="rect">
            <a:avLst/>
          </a:prstGeom>
          <a:noFill/>
          <a:ln/>
        </p:spPr>
        <p:txBody>
          <a:bodyPr wrap="square" lIns="0" tIns="0" rIns="0" bIns="0" rtlCol="0" anchor="ctr"/>
          <a:lstStyle/>
          <a:p>
            <a:pPr indent="0" marL="0">
              <a:buNone/>
            </a:pPr>
            <a:r>
              <a:rPr lang="en-US" sz="1200" b="1" spc="300" kern="0" dirty="0">
                <a:solidFill>
                  <a:schemeClr val="accent1"/>
                </a:solidFill>
              </a:rPr>
              <a:t>THE SPACECRAFT</a:t>
            </a:r>
            <a:endParaRPr lang="en-US" sz="1200" dirty="0"/>
          </a:p>
        </p:txBody>
      </p:sp>
      <p:sp>
        <p:nvSpPr>
          <p:cNvPr id="3" name="Text 0"/>
          <p:cNvSpPr/>
          <p:nvPr>
            <p:ph idx="100" type="title" hasCustomPrompt="1"/>
          </p:nvPr>
        </p:nvSpPr>
        <p:spPr>
          <a:xfrm>
            <a:off x="457200" y="502920"/>
            <a:ext cx="8229600" cy="1005840"/>
          </a:xfrm>
          <a:prstGeom prst="rect">
            <a:avLst/>
          </a:prstGeom>
          <a:noFill/>
          <a:ln/>
        </p:spPr>
        <p:txBody>
          <a:bodyPr wrap="square" lIns="0" tIns="0" rIns="0" bIns="0" rtlCol="0" anchor="t"/>
          <a:lstStyle/>
          <a:p>
            <a:pPr algn="l" indent="0" marL="0">
              <a:buNone/>
            </a:pPr>
            <a:r>
              <a:rPr lang="en-US" sz="3200" b="1" dirty="0">
                <a:solidFill>
                  <a:schemeClr val="tx1"/>
                </a:solidFill>
              </a:rPr>
              <a:t>A piano-sized spacecraft that runs on plutonium power</a:t>
            </a:r>
            <a:endParaRPr lang="en-US" sz="3200" dirty="0"/>
          </a:p>
        </p:txBody>
      </p:sp>
      <p:pic>
        <p:nvPicPr>
          <p:cNvPr id="4" name="Image 0" descr="Artist concept of the New Horizons spacecraft near Pluto and its moon Charon">    </p:cNvPr>
          <p:cNvPicPr>
            <a:picLocks noChangeAspect="1"/>
          </p:cNvPicPr>
          <p:nvPr/>
        </p:nvPicPr>
        <p:blipFill>
          <a:blip r:embed="rId1"/>
          <a:stretch>
            <a:fillRect/>
          </a:stretch>
        </p:blipFill>
        <p:spPr>
          <a:xfrm>
            <a:off x="914400" y="1600200"/>
            <a:ext cx="2176272" cy="2697480"/>
          </a:xfrm>
          <a:prstGeom prst="rect">
            <a:avLst/>
          </a:prstGeom>
        </p:spPr>
      </p:pic>
      <p:sp>
        <p:nvSpPr>
          <p:cNvPr id="5" name="Text 2"/>
          <p:cNvSpPr txBox="1"/>
          <p:nvPr/>
        </p:nvSpPr>
        <p:spPr>
          <a:xfrm>
            <a:off x="457200" y="4343400"/>
            <a:ext cx="3566160" cy="274320"/>
          </a:xfrm>
          <a:prstGeom prst="rect">
            <a:avLst/>
          </a:prstGeom>
          <a:noFill/>
          <a:ln/>
        </p:spPr>
        <p:txBody>
          <a:bodyPr wrap="square" lIns="0" tIns="0" rIns="0" bIns="0" rtlCol="0" anchor="t"/>
          <a:lstStyle/>
          <a:p>
            <a:pPr indent="0" marL="0">
              <a:buNone/>
            </a:pPr>
            <a:r>
              <a:rPr lang="en-US" sz="1200" dirty="0">
                <a:solidFill>
                  <a:schemeClr val="tx2"/>
                </a:solidFill>
              </a:rPr>
              <a:t>Artist's concept: New Horizons at Pluto and Charon</a:t>
            </a:r>
            <a:endParaRPr lang="en-US" sz="1200" dirty="0"/>
          </a:p>
        </p:txBody>
      </p:sp>
      <p:sp>
        <p:nvSpPr>
          <p:cNvPr id="6" name="Spacecraft card"/>
          <p:cNvSpPr/>
          <p:nvPr/>
        </p:nvSpPr>
        <p:spPr>
          <a:xfrm>
            <a:off x="4297680" y="1600200"/>
            <a:ext cx="4389120" cy="914400"/>
          </a:xfrm>
          <a:prstGeom prst="roundRect">
            <a:avLst>
              <a:gd name="adj" fmla="val 8000"/>
            </a:avLst>
          </a:prstGeom>
          <a:solidFill>
            <a:schemeClr val="bg2"/>
          </a:solidFill>
          <a:ln w="12700">
            <a:solidFill>
              <a:schemeClr val="bg2"/>
            </a:solidFill>
            <a:prstDash val="solid"/>
          </a:ln>
        </p:spPr>
      </p:sp>
      <p:sp>
        <p:nvSpPr>
          <p:cNvPr id="7" name="Icon badge"/>
          <p:cNvSpPr/>
          <p:nvPr/>
        </p:nvSpPr>
        <p:spPr>
          <a:xfrm>
            <a:off x="4434840" y="1828800"/>
            <a:ext cx="457200" cy="457200"/>
          </a:xfrm>
          <a:prstGeom prst="ellipse">
            <a:avLst/>
          </a:prstGeom>
          <a:solidFill>
            <a:schemeClr val="accent1"/>
          </a:solidFill>
          <a:ln w="12700">
            <a:solidFill>
              <a:schemeClr val="accent1"/>
            </a:solidFill>
            <a:prstDash val="solid"/>
          </a:ln>
        </p:spPr>
      </p:sp>
      <p:pic>
        <p:nvPicPr>
          <p:cNvPr id="8" name="Image 1" descr="icon">    </p:cNvPr>
          <p:cNvPicPr>
            <a:picLocks noChangeAspect="1"/>
          </p:cNvPicPr>
          <p:nvPr/>
        </p:nvPicPr>
        <p:blipFill>
          <a:blip r:embed="rId2"/>
          <a:stretch>
            <a:fillRect/>
          </a:stretch>
        </p:blipFill>
        <p:spPr>
          <a:xfrm>
            <a:off x="4549140" y="1943100"/>
            <a:ext cx="228600" cy="228600"/>
          </a:xfrm>
          <a:prstGeom prst="rect">
            <a:avLst/>
          </a:prstGeom>
        </p:spPr>
      </p:pic>
      <p:sp>
        <p:nvSpPr>
          <p:cNvPr id="9" name="Text 5"/>
          <p:cNvSpPr txBox="1"/>
          <p:nvPr/>
        </p:nvSpPr>
        <p:spPr>
          <a:xfrm>
            <a:off x="5029200" y="1664208"/>
            <a:ext cx="3566160" cy="274320"/>
          </a:xfrm>
          <a:prstGeom prst="rect">
            <a:avLst/>
          </a:prstGeom>
          <a:noFill/>
          <a:ln/>
        </p:spPr>
        <p:txBody>
          <a:bodyPr wrap="square" lIns="0" tIns="0" rIns="0" bIns="0" rtlCol="0" anchor="t"/>
          <a:lstStyle/>
          <a:p>
            <a:pPr indent="0" marL="0">
              <a:buNone/>
            </a:pPr>
            <a:r>
              <a:rPr lang="en-US" sz="1500" b="1" dirty="0">
                <a:solidFill>
                  <a:schemeClr val="tx1"/>
                </a:solidFill>
              </a:rPr>
              <a:t>Energy</a:t>
            </a:r>
            <a:endParaRPr lang="en-US" sz="1500" dirty="0"/>
          </a:p>
        </p:txBody>
      </p:sp>
      <p:sp>
        <p:nvSpPr>
          <p:cNvPr id="10" name="Text 6"/>
          <p:cNvSpPr txBox="1"/>
          <p:nvPr/>
        </p:nvSpPr>
        <p:spPr>
          <a:xfrm>
            <a:off x="5029200" y="1938528"/>
            <a:ext cx="3566160" cy="548640"/>
          </a:xfrm>
          <a:prstGeom prst="rect">
            <a:avLst/>
          </a:prstGeom>
          <a:noFill/>
          <a:ln/>
        </p:spPr>
        <p:txBody>
          <a:bodyPr wrap="square" lIns="0" tIns="0" rIns="0" bIns="0" rtlCol="0" anchor="t"/>
          <a:lstStyle/>
          <a:p>
            <a:pPr indent="0" marL="0">
              <a:buNone/>
            </a:pPr>
            <a:r>
              <a:rPr lang="en-US" sz="1200" dirty="0">
                <a:solidFill>
                  <a:schemeClr val="tx2"/>
                </a:solidFill>
              </a:rPr>
              <a:t>One plutonium RTG gives about 200 W at Pluto, where sunlight is 1/1000 of Earth's.</a:t>
            </a:r>
            <a:endParaRPr lang="en-US" sz="1200" dirty="0"/>
          </a:p>
        </p:txBody>
      </p:sp>
      <p:sp>
        <p:nvSpPr>
          <p:cNvPr id="11" name="Spacecraft card"/>
          <p:cNvSpPr/>
          <p:nvPr/>
        </p:nvSpPr>
        <p:spPr>
          <a:xfrm>
            <a:off x="4297680" y="2606040"/>
            <a:ext cx="4389120" cy="914400"/>
          </a:xfrm>
          <a:prstGeom prst="roundRect">
            <a:avLst>
              <a:gd name="adj" fmla="val 8000"/>
            </a:avLst>
          </a:prstGeom>
          <a:solidFill>
            <a:schemeClr val="bg2"/>
          </a:solidFill>
          <a:ln w="12700">
            <a:solidFill>
              <a:schemeClr val="bg2"/>
            </a:solidFill>
            <a:prstDash val="solid"/>
          </a:ln>
        </p:spPr>
      </p:sp>
      <p:sp>
        <p:nvSpPr>
          <p:cNvPr id="12" name="Icon badge"/>
          <p:cNvSpPr/>
          <p:nvPr/>
        </p:nvSpPr>
        <p:spPr>
          <a:xfrm>
            <a:off x="4434840" y="2834640"/>
            <a:ext cx="457200" cy="457200"/>
          </a:xfrm>
          <a:prstGeom prst="ellipse">
            <a:avLst/>
          </a:prstGeom>
          <a:solidFill>
            <a:schemeClr val="accent1"/>
          </a:solidFill>
          <a:ln w="12700">
            <a:solidFill>
              <a:schemeClr val="accent1"/>
            </a:solidFill>
            <a:prstDash val="solid"/>
          </a:ln>
        </p:spPr>
      </p:sp>
      <p:pic>
        <p:nvPicPr>
          <p:cNvPr id="13" name="Image 2" descr="icon">    </p:cNvPr>
          <p:cNvPicPr>
            <a:picLocks noChangeAspect="1"/>
          </p:cNvPicPr>
          <p:nvPr/>
        </p:nvPicPr>
        <p:blipFill>
          <a:blip r:embed="rId3"/>
          <a:stretch>
            <a:fillRect/>
          </a:stretch>
        </p:blipFill>
        <p:spPr>
          <a:xfrm>
            <a:off x="4549140" y="2948940"/>
            <a:ext cx="228600" cy="228600"/>
          </a:xfrm>
          <a:prstGeom prst="rect">
            <a:avLst/>
          </a:prstGeom>
        </p:spPr>
      </p:pic>
      <p:sp>
        <p:nvSpPr>
          <p:cNvPr id="14" name="Text 9"/>
          <p:cNvSpPr txBox="1"/>
          <p:nvPr/>
        </p:nvSpPr>
        <p:spPr>
          <a:xfrm>
            <a:off x="5029200" y="2670048"/>
            <a:ext cx="3566160" cy="274320"/>
          </a:xfrm>
          <a:prstGeom prst="rect">
            <a:avLst/>
          </a:prstGeom>
          <a:noFill/>
          <a:ln/>
        </p:spPr>
        <p:txBody>
          <a:bodyPr wrap="square" lIns="0" tIns="0" rIns="0" bIns="0" rtlCol="0" anchor="t"/>
          <a:lstStyle/>
          <a:p>
            <a:pPr indent="0" marL="0">
              <a:buNone/>
            </a:pPr>
            <a:r>
              <a:rPr lang="en-US" sz="1500" b="1" dirty="0">
                <a:solidFill>
                  <a:schemeClr val="tx1"/>
                </a:solidFill>
              </a:rPr>
              <a:t>Communication</a:t>
            </a:r>
            <a:endParaRPr lang="en-US" sz="1500" dirty="0"/>
          </a:p>
        </p:txBody>
      </p:sp>
      <p:sp>
        <p:nvSpPr>
          <p:cNvPr id="15" name="Text 10"/>
          <p:cNvSpPr txBox="1"/>
          <p:nvPr/>
        </p:nvSpPr>
        <p:spPr>
          <a:xfrm>
            <a:off x="5029200" y="2944368"/>
            <a:ext cx="3566160" cy="548640"/>
          </a:xfrm>
          <a:prstGeom prst="rect">
            <a:avLst/>
          </a:prstGeom>
          <a:noFill/>
          <a:ln/>
        </p:spPr>
        <p:txBody>
          <a:bodyPr wrap="square" lIns="0" tIns="0" rIns="0" bIns="0" rtlCol="0" anchor="t"/>
          <a:lstStyle/>
          <a:p>
            <a:pPr indent="0" marL="0">
              <a:buNone/>
            </a:pPr>
            <a:r>
              <a:rPr lang="en-US" sz="1200" dirty="0">
                <a:solidFill>
                  <a:schemeClr val="tx2"/>
                </a:solidFill>
              </a:rPr>
              <a:t>A 2.1 m dish sends data at about 1 kilobit per second. One-way signals take 4.5 hours.</a:t>
            </a:r>
            <a:endParaRPr lang="en-US" sz="1200" dirty="0"/>
          </a:p>
        </p:txBody>
      </p:sp>
      <p:sp>
        <p:nvSpPr>
          <p:cNvPr id="16" name="Spacecraft card"/>
          <p:cNvSpPr/>
          <p:nvPr/>
        </p:nvSpPr>
        <p:spPr>
          <a:xfrm>
            <a:off x="4297680" y="3611880"/>
            <a:ext cx="4389120" cy="914400"/>
          </a:xfrm>
          <a:prstGeom prst="roundRect">
            <a:avLst>
              <a:gd name="adj" fmla="val 8000"/>
            </a:avLst>
          </a:prstGeom>
          <a:solidFill>
            <a:schemeClr val="bg2"/>
          </a:solidFill>
          <a:ln w="12700">
            <a:solidFill>
              <a:schemeClr val="bg2"/>
            </a:solidFill>
            <a:prstDash val="solid"/>
          </a:ln>
        </p:spPr>
      </p:sp>
      <p:sp>
        <p:nvSpPr>
          <p:cNvPr id="17" name="Icon badge"/>
          <p:cNvSpPr/>
          <p:nvPr/>
        </p:nvSpPr>
        <p:spPr>
          <a:xfrm>
            <a:off x="4434840" y="3840480"/>
            <a:ext cx="457200" cy="457200"/>
          </a:xfrm>
          <a:prstGeom prst="ellipse">
            <a:avLst/>
          </a:prstGeom>
          <a:solidFill>
            <a:schemeClr val="accent1"/>
          </a:solidFill>
          <a:ln w="12700">
            <a:solidFill>
              <a:schemeClr val="accent1"/>
            </a:solidFill>
            <a:prstDash val="solid"/>
          </a:ln>
        </p:spPr>
      </p:sp>
      <p:pic>
        <p:nvPicPr>
          <p:cNvPr id="18" name="Image 3" descr="icon">    </p:cNvPr>
          <p:cNvPicPr>
            <a:picLocks noChangeAspect="1"/>
          </p:cNvPicPr>
          <p:nvPr/>
        </p:nvPicPr>
        <p:blipFill>
          <a:blip r:embed="rId4"/>
          <a:stretch>
            <a:fillRect/>
          </a:stretch>
        </p:blipFill>
        <p:spPr>
          <a:xfrm>
            <a:off x="4549140" y="3954780"/>
            <a:ext cx="228600" cy="228600"/>
          </a:xfrm>
          <a:prstGeom prst="rect">
            <a:avLst/>
          </a:prstGeom>
        </p:spPr>
      </p:pic>
      <p:sp>
        <p:nvSpPr>
          <p:cNvPr id="19" name="Text 13"/>
          <p:cNvSpPr txBox="1"/>
          <p:nvPr/>
        </p:nvSpPr>
        <p:spPr>
          <a:xfrm>
            <a:off x="5029200" y="3675888"/>
            <a:ext cx="3566160" cy="274320"/>
          </a:xfrm>
          <a:prstGeom prst="rect">
            <a:avLst/>
          </a:prstGeom>
          <a:noFill/>
          <a:ln/>
        </p:spPr>
        <p:txBody>
          <a:bodyPr wrap="square" lIns="0" tIns="0" rIns="0" bIns="0" rtlCol="0" anchor="t"/>
          <a:lstStyle/>
          <a:p>
            <a:pPr indent="0" marL="0">
              <a:buNone/>
            </a:pPr>
            <a:r>
              <a:rPr lang="en-US" sz="1500" b="1" dirty="0">
                <a:solidFill>
                  <a:schemeClr val="tx1"/>
                </a:solidFill>
              </a:rPr>
              <a:t>Computers and instruments</a:t>
            </a:r>
            <a:endParaRPr lang="en-US" sz="1500" dirty="0"/>
          </a:p>
        </p:txBody>
      </p:sp>
      <p:sp>
        <p:nvSpPr>
          <p:cNvPr id="20" name="Text 14"/>
          <p:cNvSpPr txBox="1"/>
          <p:nvPr/>
        </p:nvSpPr>
        <p:spPr>
          <a:xfrm>
            <a:off x="5029200" y="3950208"/>
            <a:ext cx="3566160" cy="548640"/>
          </a:xfrm>
          <a:prstGeom prst="rect">
            <a:avLst/>
          </a:prstGeom>
          <a:noFill/>
          <a:ln/>
        </p:spPr>
        <p:txBody>
          <a:bodyPr wrap="square" lIns="0" tIns="0" rIns="0" bIns="0" rtlCol="0" anchor="t"/>
          <a:lstStyle/>
          <a:p>
            <a:pPr indent="0" marL="0">
              <a:buNone/>
            </a:pPr>
            <a:r>
              <a:rPr lang="en-US" sz="1200" dirty="0">
                <a:solidFill>
                  <a:schemeClr val="tx2"/>
                </a:solidFill>
              </a:rPr>
              <a:t>Two backup 12 MHz computers run 7 instruments, including a student-built dust counter.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D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457200" y="256032"/>
            <a:ext cx="5486400" cy="246888"/>
          </a:xfrm>
          <a:prstGeom prst="rect">
            <a:avLst/>
          </a:prstGeom>
          <a:noFill/>
          <a:ln/>
        </p:spPr>
        <p:txBody>
          <a:bodyPr wrap="square" lIns="0" tIns="0" rIns="0" bIns="0" rtlCol="0" anchor="ctr"/>
          <a:lstStyle/>
          <a:p>
            <a:pPr indent="0" marL="0">
              <a:buNone/>
            </a:pPr>
            <a:r>
              <a:rPr lang="en-US" sz="1200" b="1" spc="300" kern="0" dirty="0">
                <a:solidFill>
                  <a:schemeClr val="accent1"/>
                </a:solidFill>
              </a:rPr>
              <a:t>THE JOURNEY AND FINDINGS</a:t>
            </a:r>
            <a:endParaRPr lang="en-US" sz="1200" dirty="0"/>
          </a:p>
        </p:txBody>
      </p:sp>
      <p:sp>
        <p:nvSpPr>
          <p:cNvPr id="3" name="Text 0"/>
          <p:cNvSpPr/>
          <p:nvPr>
            <p:ph idx="100" type="title" hasCustomPrompt="1"/>
          </p:nvPr>
        </p:nvSpPr>
        <p:spPr>
          <a:xfrm>
            <a:off x="457200" y="502920"/>
            <a:ext cx="8229600" cy="1005840"/>
          </a:xfrm>
          <a:prstGeom prst="rect">
            <a:avLst/>
          </a:prstGeom>
          <a:noFill/>
          <a:ln/>
        </p:spPr>
        <p:txBody>
          <a:bodyPr wrap="square" lIns="0" tIns="0" rIns="0" bIns="0" rtlCol="0" anchor="t"/>
          <a:lstStyle/>
          <a:p>
            <a:pPr algn="l" indent="0" marL="0">
              <a:buNone/>
            </a:pPr>
            <a:r>
              <a:rPr lang="en-US" sz="3200" b="1" dirty="0">
                <a:solidFill>
                  <a:schemeClr val="tx1"/>
                </a:solidFill>
              </a:rPr>
              <a:t>After 9.5 years, New Horizons found a geologically active Pluto</a:t>
            </a:r>
            <a:endParaRPr lang="en-US" sz="3200" dirty="0"/>
          </a:p>
        </p:txBody>
      </p:sp>
      <p:graphicFrame>
        <p:nvGraphicFramePr>
          <p:cNvPr id="4" name="Chart 0" descr=""/>
          <p:cNvGraphicFramePr/>
          <p:nvPr/>
        </p:nvGraphicFramePr>
        <p:xfrm>
          <a:off x="457200" y="1600200"/>
          <a:ext cx="3931920" cy="3017520"/>
        </p:xfrm>
        <a:graphic xmlns:a="http://schemas.openxmlformats.org/drawingml/2006/main">
          <a:graphicData uri="http://schemas.openxmlformats.org/drawingml/2006/chart">
            <c:chart xmlns:c="http://schemas.openxmlformats.org/drawingml/2006/chart" r:id="rId1"/>
          </a:graphicData>
        </a:graphic>
      </p:graphicFrame>
      <p:pic>
        <p:nvPicPr>
          <p:cNvPr id="5" name="Image 0" descr="Illustration of Pluto's heart-shaped icy plain">    </p:cNvPr>
          <p:cNvPicPr>
            <a:picLocks noChangeAspect="1"/>
          </p:cNvPicPr>
          <p:nvPr/>
        </p:nvPicPr>
        <p:blipFill>
          <a:blip r:embed="rId2"/>
          <a:stretch>
            <a:fillRect/>
          </a:stretch>
        </p:blipFill>
        <p:spPr>
          <a:xfrm>
            <a:off x="4572000" y="1600200"/>
            <a:ext cx="4114800" cy="1965960"/>
          </a:xfrm>
          <a:prstGeom prst="rect">
            <a:avLst/>
          </a:prstGeom>
        </p:spPr>
      </p:pic>
      <p:sp>
        <p:nvSpPr>
          <p:cNvPr id="6" name="Text 2"/>
          <p:cNvSpPr txBox="1"/>
          <p:nvPr/>
        </p:nvSpPr>
        <p:spPr>
          <a:xfrm>
            <a:off x="4572000" y="3593592"/>
            <a:ext cx="4114800" cy="274320"/>
          </a:xfrm>
          <a:prstGeom prst="rect">
            <a:avLst/>
          </a:prstGeom>
          <a:noFill/>
          <a:ln/>
        </p:spPr>
        <p:txBody>
          <a:bodyPr wrap="square" lIns="0" tIns="0" rIns="0" bIns="0" rtlCol="0" anchor="t"/>
          <a:lstStyle/>
          <a:p>
            <a:pPr indent="0" marL="0">
              <a:buNone/>
            </a:pPr>
            <a:r>
              <a:rPr lang="en-US" sz="1200" dirty="0">
                <a:solidFill>
                  <a:schemeClr val="tx2"/>
                </a:solidFill>
              </a:rPr>
              <a:t>Illustration of Pluto's heart-shaped icy plain</a:t>
            </a:r>
            <a:endParaRPr lang="en-US" sz="1200" dirty="0"/>
          </a:p>
        </p:txBody>
      </p:sp>
      <p:sp>
        <p:nvSpPr>
          <p:cNvPr id="7" name="Stat chip"/>
          <p:cNvSpPr/>
          <p:nvPr/>
        </p:nvSpPr>
        <p:spPr>
          <a:xfrm>
            <a:off x="4572000" y="3931920"/>
            <a:ext cx="1280160" cy="685800"/>
          </a:xfrm>
          <a:prstGeom prst="roundRect">
            <a:avLst>
              <a:gd name="adj" fmla="val 10667"/>
            </a:avLst>
          </a:prstGeom>
          <a:solidFill>
            <a:schemeClr val="bg2"/>
          </a:solidFill>
          <a:ln w="12700">
            <a:solidFill>
              <a:schemeClr val="bg2"/>
            </a:solidFill>
            <a:prstDash val="solid"/>
          </a:ln>
        </p:spPr>
      </p:sp>
      <p:sp>
        <p:nvSpPr>
          <p:cNvPr id="8" name="Text 4"/>
          <p:cNvSpPr txBox="1"/>
          <p:nvPr/>
        </p:nvSpPr>
        <p:spPr>
          <a:xfrm>
            <a:off x="4663440" y="3959352"/>
            <a:ext cx="1097280" cy="320040"/>
          </a:xfrm>
          <a:prstGeom prst="rect">
            <a:avLst/>
          </a:prstGeom>
          <a:noFill/>
          <a:ln/>
        </p:spPr>
        <p:txBody>
          <a:bodyPr wrap="square" lIns="0" tIns="0" rIns="0" bIns="0" rtlCol="0" anchor="ctr"/>
          <a:lstStyle/>
          <a:p>
            <a:pPr indent="0" marL="0">
              <a:buNone/>
            </a:pPr>
            <a:r>
              <a:rPr lang="en-US" sz="1500" b="1" dirty="0">
                <a:solidFill>
                  <a:schemeClr val="accent1"/>
                </a:solidFill>
              </a:rPr>
              <a:t>12,500 km</a:t>
            </a:r>
            <a:endParaRPr lang="en-US" sz="1500" dirty="0"/>
          </a:p>
        </p:txBody>
      </p:sp>
      <p:sp>
        <p:nvSpPr>
          <p:cNvPr id="9" name="Text 5"/>
          <p:cNvSpPr txBox="1"/>
          <p:nvPr/>
        </p:nvSpPr>
        <p:spPr>
          <a:xfrm>
            <a:off x="4663440" y="4279392"/>
            <a:ext cx="1143000" cy="274320"/>
          </a:xfrm>
          <a:prstGeom prst="rect">
            <a:avLst/>
          </a:prstGeom>
          <a:noFill/>
          <a:ln/>
        </p:spPr>
        <p:txBody>
          <a:bodyPr wrap="square" lIns="0" tIns="0" rIns="0" bIns="0" rtlCol="0" anchor="t"/>
          <a:lstStyle/>
          <a:p>
            <a:pPr indent="0" marL="0">
              <a:buNone/>
            </a:pPr>
            <a:r>
              <a:rPr lang="en-US" sz="1100" dirty="0">
                <a:solidFill>
                  <a:schemeClr val="tx2"/>
                </a:solidFill>
              </a:rPr>
              <a:t>closest approach</a:t>
            </a:r>
            <a:endParaRPr lang="en-US" sz="1100" dirty="0"/>
          </a:p>
        </p:txBody>
      </p:sp>
      <p:sp>
        <p:nvSpPr>
          <p:cNvPr id="10" name="Stat chip"/>
          <p:cNvSpPr/>
          <p:nvPr/>
        </p:nvSpPr>
        <p:spPr>
          <a:xfrm>
            <a:off x="5989320" y="3931920"/>
            <a:ext cx="1280160" cy="685800"/>
          </a:xfrm>
          <a:prstGeom prst="roundRect">
            <a:avLst>
              <a:gd name="adj" fmla="val 10667"/>
            </a:avLst>
          </a:prstGeom>
          <a:solidFill>
            <a:schemeClr val="bg2"/>
          </a:solidFill>
          <a:ln w="12700">
            <a:solidFill>
              <a:schemeClr val="bg2"/>
            </a:solidFill>
            <a:prstDash val="solid"/>
          </a:ln>
        </p:spPr>
      </p:sp>
      <p:sp>
        <p:nvSpPr>
          <p:cNvPr id="11" name="Text 7"/>
          <p:cNvSpPr txBox="1"/>
          <p:nvPr/>
        </p:nvSpPr>
        <p:spPr>
          <a:xfrm>
            <a:off x="6080760" y="3959352"/>
            <a:ext cx="1097280" cy="320040"/>
          </a:xfrm>
          <a:prstGeom prst="rect">
            <a:avLst/>
          </a:prstGeom>
          <a:noFill/>
          <a:ln/>
        </p:spPr>
        <p:txBody>
          <a:bodyPr wrap="square" lIns="0" tIns="0" rIns="0" bIns="0" rtlCol="0" anchor="ctr"/>
          <a:lstStyle/>
          <a:p>
            <a:pPr indent="0" marL="0">
              <a:buNone/>
            </a:pPr>
            <a:r>
              <a:rPr lang="en-US" sz="1500" b="1" dirty="0">
                <a:solidFill>
                  <a:schemeClr val="accent1"/>
                </a:solidFill>
              </a:rPr>
              <a:t>3,500 m</a:t>
            </a:r>
            <a:endParaRPr lang="en-US" sz="1500" dirty="0"/>
          </a:p>
        </p:txBody>
      </p:sp>
      <p:sp>
        <p:nvSpPr>
          <p:cNvPr id="12" name="Text 8"/>
          <p:cNvSpPr txBox="1"/>
          <p:nvPr/>
        </p:nvSpPr>
        <p:spPr>
          <a:xfrm>
            <a:off x="6080760" y="4279392"/>
            <a:ext cx="1143000" cy="274320"/>
          </a:xfrm>
          <a:prstGeom prst="rect">
            <a:avLst/>
          </a:prstGeom>
          <a:noFill/>
          <a:ln/>
        </p:spPr>
        <p:txBody>
          <a:bodyPr wrap="square" lIns="0" tIns="0" rIns="0" bIns="0" rtlCol="0" anchor="t"/>
          <a:lstStyle/>
          <a:p>
            <a:pPr indent="0" marL="0">
              <a:buNone/>
            </a:pPr>
            <a:r>
              <a:rPr lang="en-US" sz="1100" dirty="0">
                <a:solidFill>
                  <a:schemeClr val="tx2"/>
                </a:solidFill>
              </a:rPr>
              <a:t>ice mountains</a:t>
            </a:r>
            <a:endParaRPr lang="en-US" sz="1100" dirty="0"/>
          </a:p>
        </p:txBody>
      </p:sp>
      <p:sp>
        <p:nvSpPr>
          <p:cNvPr id="13" name="Stat chip"/>
          <p:cNvSpPr/>
          <p:nvPr/>
        </p:nvSpPr>
        <p:spPr>
          <a:xfrm>
            <a:off x="7406640" y="3931920"/>
            <a:ext cx="1280160" cy="685800"/>
          </a:xfrm>
          <a:prstGeom prst="roundRect">
            <a:avLst>
              <a:gd name="adj" fmla="val 10667"/>
            </a:avLst>
          </a:prstGeom>
          <a:solidFill>
            <a:schemeClr val="bg2"/>
          </a:solidFill>
          <a:ln w="12700">
            <a:solidFill>
              <a:schemeClr val="bg2"/>
            </a:solidFill>
            <a:prstDash val="solid"/>
          </a:ln>
        </p:spPr>
      </p:sp>
      <p:sp>
        <p:nvSpPr>
          <p:cNvPr id="14" name="Text 10"/>
          <p:cNvSpPr txBox="1"/>
          <p:nvPr/>
        </p:nvSpPr>
        <p:spPr>
          <a:xfrm>
            <a:off x="7498080" y="3959352"/>
            <a:ext cx="1097280" cy="320040"/>
          </a:xfrm>
          <a:prstGeom prst="rect">
            <a:avLst/>
          </a:prstGeom>
          <a:noFill/>
          <a:ln/>
        </p:spPr>
        <p:txBody>
          <a:bodyPr wrap="square" lIns="0" tIns="0" rIns="0" bIns="0" rtlCol="0" anchor="ctr"/>
          <a:lstStyle/>
          <a:p>
            <a:pPr indent="0" marL="0">
              <a:buNone/>
            </a:pPr>
            <a:r>
              <a:rPr lang="en-US" sz="1500" b="1" dirty="0">
                <a:solidFill>
                  <a:schemeClr val="accent1"/>
                </a:solidFill>
              </a:rPr>
              <a:t>5 moons</a:t>
            </a:r>
            <a:endParaRPr lang="en-US" sz="1500" dirty="0"/>
          </a:p>
        </p:txBody>
      </p:sp>
      <p:sp>
        <p:nvSpPr>
          <p:cNvPr id="15" name="Text 11"/>
          <p:cNvSpPr txBox="1"/>
          <p:nvPr/>
        </p:nvSpPr>
        <p:spPr>
          <a:xfrm>
            <a:off x="7498080" y="4279392"/>
            <a:ext cx="1143000" cy="274320"/>
          </a:xfrm>
          <a:prstGeom prst="rect">
            <a:avLst/>
          </a:prstGeom>
          <a:noFill/>
          <a:ln/>
        </p:spPr>
        <p:txBody>
          <a:bodyPr wrap="square" lIns="0" tIns="0" rIns="0" bIns="0" rtlCol="0" anchor="t"/>
          <a:lstStyle/>
          <a:p>
            <a:pPr indent="0" marL="0">
              <a:buNone/>
            </a:pPr>
            <a:r>
              <a:rPr lang="en-US" sz="1100" dirty="0">
                <a:solidFill>
                  <a:schemeClr val="tx2"/>
                </a:solidFill>
              </a:rPr>
              <a:t>found around Pluto</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D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457200" y="256032"/>
            <a:ext cx="5486400" cy="246888"/>
          </a:xfrm>
          <a:prstGeom prst="rect">
            <a:avLst/>
          </a:prstGeom>
          <a:noFill/>
          <a:ln/>
        </p:spPr>
        <p:txBody>
          <a:bodyPr wrap="square" lIns="0" tIns="0" rIns="0" bIns="0" rtlCol="0" anchor="ctr"/>
          <a:lstStyle/>
          <a:p>
            <a:pPr indent="0" marL="0">
              <a:buNone/>
            </a:pPr>
            <a:r>
              <a:rPr lang="en-US" sz="1200" b="1" spc="300" kern="0" dirty="0">
                <a:solidFill>
                  <a:schemeClr val="accent1"/>
                </a:solidFill>
              </a:rPr>
              <a:t>CONCLUSION AND IMPACT</a:t>
            </a:r>
            <a:endParaRPr lang="en-US" sz="1200" dirty="0"/>
          </a:p>
        </p:txBody>
      </p:sp>
      <p:sp>
        <p:nvSpPr>
          <p:cNvPr id="3" name="Text 0"/>
          <p:cNvSpPr/>
          <p:nvPr>
            <p:ph idx="100" type="title" hasCustomPrompt="1"/>
          </p:nvPr>
        </p:nvSpPr>
        <p:spPr>
          <a:xfrm>
            <a:off x="457200" y="502920"/>
            <a:ext cx="8229600" cy="1005840"/>
          </a:xfrm>
          <a:prstGeom prst="rect">
            <a:avLst/>
          </a:prstGeom>
          <a:noFill/>
          <a:ln/>
        </p:spPr>
        <p:txBody>
          <a:bodyPr wrap="square" lIns="0" tIns="0" rIns="0" bIns="0" rtlCol="0" anchor="t"/>
          <a:lstStyle/>
          <a:p>
            <a:pPr algn="l" indent="0" marL="0">
              <a:buNone/>
            </a:pPr>
            <a:r>
              <a:rPr lang="en-US" sz="3200" b="1" dirty="0">
                <a:solidFill>
                  <a:schemeClr val="tx1"/>
                </a:solidFill>
              </a:rPr>
              <a:t>Conclusion</a:t>
            </a:r>
            <a:endParaRPr lang="en-US" sz="3200" dirty="0"/>
          </a:p>
        </p:txBody>
      </p:sp>
      <p:sp>
        <p:nvSpPr>
          <p:cNvPr id="4" name="Conclusion card"/>
          <p:cNvSpPr/>
          <p:nvPr/>
        </p:nvSpPr>
        <p:spPr>
          <a:xfrm>
            <a:off x="457200" y="1417320"/>
            <a:ext cx="2560320" cy="1783080"/>
          </a:xfrm>
          <a:prstGeom prst="roundRect">
            <a:avLst>
              <a:gd name="adj" fmla="val 4103"/>
            </a:avLst>
          </a:prstGeom>
          <a:solidFill>
            <a:schemeClr val="bg2"/>
          </a:solidFill>
          <a:ln w="12700">
            <a:solidFill>
              <a:schemeClr val="bg2"/>
            </a:solidFill>
            <a:prstDash val="solid"/>
          </a:ln>
        </p:spPr>
      </p:sp>
      <p:sp>
        <p:nvSpPr>
          <p:cNvPr id="5" name="Icon badge"/>
          <p:cNvSpPr/>
          <p:nvPr/>
        </p:nvSpPr>
        <p:spPr>
          <a:xfrm>
            <a:off x="640080" y="1554480"/>
            <a:ext cx="457200" cy="45720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754380" y="1668780"/>
            <a:ext cx="228600" cy="228600"/>
          </a:xfrm>
          <a:prstGeom prst="rect">
            <a:avLst/>
          </a:prstGeom>
        </p:spPr>
      </p:pic>
      <p:sp>
        <p:nvSpPr>
          <p:cNvPr id="7" name="Text 4"/>
          <p:cNvSpPr txBox="1"/>
          <p:nvPr/>
        </p:nvSpPr>
        <p:spPr>
          <a:xfrm>
            <a:off x="1234440" y="155448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Common thread</a:t>
            </a:r>
            <a:endParaRPr lang="en-US" sz="1600" dirty="0"/>
          </a:p>
        </p:txBody>
      </p:sp>
      <p:sp>
        <p:nvSpPr>
          <p:cNvPr id="8" name="Text 5"/>
          <p:cNvSpPr txBox="1"/>
          <p:nvPr/>
        </p:nvSpPr>
        <p:spPr>
          <a:xfrm>
            <a:off x="640080" y="2148840"/>
            <a:ext cx="2240280" cy="1005840"/>
          </a:xfrm>
          <a:prstGeom prst="rect">
            <a:avLst/>
          </a:prstGeom>
          <a:noFill/>
          <a:ln/>
        </p:spPr>
        <p:txBody>
          <a:bodyPr wrap="square" lIns="0" tIns="0" rIns="0" bIns="0" rtlCol="0" anchor="t"/>
          <a:lstStyle/>
          <a:p>
            <a:pPr indent="0" marL="0">
              <a:buNone/>
            </a:pPr>
            <a:r>
              <a:rPr lang="en-US" sz="1400" dirty="0">
                <a:solidFill>
                  <a:schemeClr val="tx1"/>
                </a:solidFill>
              </a:rPr>
              <a:t>Curiosity about places humans cannot reach drives better machines.</a:t>
            </a:r>
            <a:endParaRPr lang="en-US" sz="1400" dirty="0"/>
          </a:p>
        </p:txBody>
      </p:sp>
      <p:sp>
        <p:nvSpPr>
          <p:cNvPr id="9" name="Conclusion card"/>
          <p:cNvSpPr/>
          <p:nvPr/>
        </p:nvSpPr>
        <p:spPr>
          <a:xfrm>
            <a:off x="3291840" y="1417320"/>
            <a:ext cx="2560320" cy="1783080"/>
          </a:xfrm>
          <a:prstGeom prst="roundRect">
            <a:avLst>
              <a:gd name="adj" fmla="val 4103"/>
            </a:avLst>
          </a:prstGeom>
          <a:solidFill>
            <a:schemeClr val="bg2"/>
          </a:solidFill>
          <a:ln w="12700">
            <a:solidFill>
              <a:schemeClr val="bg2"/>
            </a:solidFill>
            <a:prstDash val="solid"/>
          </a:ln>
        </p:spPr>
      </p:sp>
      <p:sp>
        <p:nvSpPr>
          <p:cNvPr id="10" name="Icon badge"/>
          <p:cNvSpPr/>
          <p:nvPr/>
        </p:nvSpPr>
        <p:spPr>
          <a:xfrm>
            <a:off x="3474720" y="1554480"/>
            <a:ext cx="457200" cy="457200"/>
          </a:xfrm>
          <a:prstGeom prst="ellipse">
            <a:avLst/>
          </a:prstGeom>
          <a:solidFill>
            <a:schemeClr val="accent1"/>
          </a:solidFill>
          <a:ln w="12700">
            <a:solidFill>
              <a:schemeClr val="accent1"/>
            </a:solidFill>
            <a:prstDash val="solid"/>
          </a:ln>
        </p:spPr>
      </p:sp>
      <p:pic>
        <p:nvPicPr>
          <p:cNvPr id="11" name="Image 1" descr="icon">    </p:cNvPr>
          <p:cNvPicPr>
            <a:picLocks noChangeAspect="1"/>
          </p:cNvPicPr>
          <p:nvPr/>
        </p:nvPicPr>
        <p:blipFill>
          <a:blip r:embed="rId2"/>
          <a:stretch>
            <a:fillRect/>
          </a:stretch>
        </p:blipFill>
        <p:spPr>
          <a:xfrm>
            <a:off x="3589020" y="1668780"/>
            <a:ext cx="228600" cy="228600"/>
          </a:xfrm>
          <a:prstGeom prst="rect">
            <a:avLst/>
          </a:prstGeom>
        </p:spPr>
      </p:pic>
      <p:sp>
        <p:nvSpPr>
          <p:cNvPr id="12" name="Text 8"/>
          <p:cNvSpPr txBox="1"/>
          <p:nvPr/>
        </p:nvSpPr>
        <p:spPr>
          <a:xfrm>
            <a:off x="4069080" y="155448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Major influences</a:t>
            </a:r>
            <a:endParaRPr lang="en-US" sz="1600" dirty="0"/>
          </a:p>
        </p:txBody>
      </p:sp>
      <p:sp>
        <p:nvSpPr>
          <p:cNvPr id="13" name="Text 9"/>
          <p:cNvSpPr txBox="1"/>
          <p:nvPr/>
        </p:nvSpPr>
        <p:spPr>
          <a:xfrm>
            <a:off x="3474720" y="2148840"/>
            <a:ext cx="2240280" cy="1005840"/>
          </a:xfrm>
          <a:prstGeom prst="rect">
            <a:avLst/>
          </a:prstGeom>
          <a:noFill/>
          <a:ln/>
        </p:spPr>
        <p:txBody>
          <a:bodyPr wrap="square" lIns="0" tIns="0" rIns="0" bIns="0" rtlCol="0" anchor="t"/>
          <a:lstStyle/>
          <a:p>
            <a:pPr indent="0" marL="0">
              <a:buNone/>
            </a:pPr>
            <a:r>
              <a:rPr lang="en-US" sz="1400" dirty="0">
                <a:solidFill>
                  <a:schemeClr val="tx1"/>
                </a:solidFill>
              </a:rPr>
              <a:t>Stronger rockets, nuclear power, tough electronics, and long-range radio.</a:t>
            </a:r>
            <a:endParaRPr lang="en-US" sz="1400" dirty="0"/>
          </a:p>
        </p:txBody>
      </p:sp>
      <p:sp>
        <p:nvSpPr>
          <p:cNvPr id="14" name="Conclusion card"/>
          <p:cNvSpPr/>
          <p:nvPr/>
        </p:nvSpPr>
        <p:spPr>
          <a:xfrm>
            <a:off x="6126480" y="1417320"/>
            <a:ext cx="2560320" cy="1783080"/>
          </a:xfrm>
          <a:prstGeom prst="roundRect">
            <a:avLst>
              <a:gd name="adj" fmla="val 4103"/>
            </a:avLst>
          </a:prstGeom>
          <a:solidFill>
            <a:schemeClr val="bg2"/>
          </a:solidFill>
          <a:ln w="12700">
            <a:solidFill>
              <a:schemeClr val="bg2"/>
            </a:solidFill>
            <a:prstDash val="solid"/>
          </a:ln>
        </p:spPr>
      </p:sp>
      <p:sp>
        <p:nvSpPr>
          <p:cNvPr id="15" name="Icon badge"/>
          <p:cNvSpPr/>
          <p:nvPr/>
        </p:nvSpPr>
        <p:spPr>
          <a:xfrm>
            <a:off x="6309360" y="1554480"/>
            <a:ext cx="457200" cy="457200"/>
          </a:xfrm>
          <a:prstGeom prst="ellipse">
            <a:avLst/>
          </a:prstGeom>
          <a:solidFill>
            <a:schemeClr val="accent1"/>
          </a:solidFill>
          <a:ln w="12700">
            <a:solidFill>
              <a:schemeClr val="accent1"/>
            </a:solidFill>
            <a:prstDash val="solid"/>
          </a:ln>
        </p:spPr>
      </p:sp>
      <p:pic>
        <p:nvPicPr>
          <p:cNvPr id="16" name="Image 2" descr="icon">    </p:cNvPr>
          <p:cNvPicPr>
            <a:picLocks noChangeAspect="1"/>
          </p:cNvPicPr>
          <p:nvPr/>
        </p:nvPicPr>
        <p:blipFill>
          <a:blip r:embed="rId3"/>
          <a:stretch>
            <a:fillRect/>
          </a:stretch>
        </p:blipFill>
        <p:spPr>
          <a:xfrm>
            <a:off x="6423660" y="1668780"/>
            <a:ext cx="228600" cy="228600"/>
          </a:xfrm>
          <a:prstGeom prst="rect">
            <a:avLst/>
          </a:prstGeom>
        </p:spPr>
      </p:pic>
      <p:sp>
        <p:nvSpPr>
          <p:cNvPr id="17" name="Text 12"/>
          <p:cNvSpPr txBox="1"/>
          <p:nvPr/>
        </p:nvSpPr>
        <p:spPr>
          <a:xfrm>
            <a:off x="6903720" y="155448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Cause and effect</a:t>
            </a:r>
            <a:endParaRPr lang="en-US" sz="1600" dirty="0"/>
          </a:p>
        </p:txBody>
      </p:sp>
      <p:sp>
        <p:nvSpPr>
          <p:cNvPr id="18" name="Text 13"/>
          <p:cNvSpPr txBox="1"/>
          <p:nvPr/>
        </p:nvSpPr>
        <p:spPr>
          <a:xfrm>
            <a:off x="6309360" y="2148840"/>
            <a:ext cx="2240280" cy="1005840"/>
          </a:xfrm>
          <a:prstGeom prst="rect">
            <a:avLst/>
          </a:prstGeom>
          <a:noFill/>
          <a:ln/>
        </p:spPr>
        <p:txBody>
          <a:bodyPr wrap="square" lIns="0" tIns="0" rIns="0" bIns="0" rtlCol="0" anchor="t"/>
          <a:lstStyle/>
          <a:p>
            <a:pPr indent="0" marL="0">
              <a:buNone/>
            </a:pPr>
            <a:r>
              <a:rPr lang="en-US" sz="1400" dirty="0">
                <a:solidFill>
                  <a:schemeClr val="tx1"/>
                </a:solidFill>
              </a:rPr>
              <a:t>Questions drive missions. Missions bring data that raise new questions.</a:t>
            </a:r>
            <a:endParaRPr lang="en-US" sz="1400" dirty="0"/>
          </a:p>
        </p:txBody>
      </p:sp>
      <p:sp>
        <p:nvSpPr>
          <p:cNvPr id="19" name="Impact card"/>
          <p:cNvSpPr/>
          <p:nvPr/>
        </p:nvSpPr>
        <p:spPr>
          <a:xfrm>
            <a:off x="457200" y="3383280"/>
            <a:ext cx="8229600" cy="960120"/>
          </a:xfrm>
          <a:prstGeom prst="roundRect">
            <a:avLst>
              <a:gd name="adj" fmla="val 7619"/>
            </a:avLst>
          </a:prstGeom>
          <a:solidFill>
            <a:schemeClr val="bg2"/>
          </a:solidFill>
          <a:ln w="12700">
            <a:solidFill>
              <a:schemeClr val="bg2"/>
            </a:solidFill>
            <a:prstDash val="solid"/>
          </a:ln>
        </p:spPr>
      </p:sp>
      <p:sp>
        <p:nvSpPr>
          <p:cNvPr id="20" name="Text 15"/>
          <p:cNvSpPr txBox="1"/>
          <p:nvPr/>
        </p:nvSpPr>
        <p:spPr>
          <a:xfrm>
            <a:off x="640080" y="3456432"/>
            <a:ext cx="1828800" cy="274320"/>
          </a:xfrm>
          <a:prstGeom prst="rect">
            <a:avLst/>
          </a:prstGeom>
          <a:noFill/>
          <a:ln/>
        </p:spPr>
        <p:txBody>
          <a:bodyPr wrap="square" lIns="0" tIns="0" rIns="0" bIns="0" rtlCol="0" anchor="t"/>
          <a:lstStyle/>
          <a:p>
            <a:pPr indent="0" marL="0">
              <a:buNone/>
            </a:pPr>
            <a:r>
              <a:rPr lang="en-US" sz="1600" b="1" dirty="0">
                <a:solidFill>
                  <a:schemeClr val="accent1"/>
                </a:solidFill>
              </a:rPr>
              <a:t>Impact</a:t>
            </a:r>
            <a:endParaRPr lang="en-US" sz="1600" dirty="0"/>
          </a:p>
        </p:txBody>
      </p:sp>
      <p:sp>
        <p:nvSpPr>
          <p:cNvPr id="21" name="Text 16"/>
          <p:cNvSpPr txBox="1"/>
          <p:nvPr/>
        </p:nvSpPr>
        <p:spPr>
          <a:xfrm>
            <a:off x="640080" y="3730752"/>
            <a:ext cx="7863840" cy="566928"/>
          </a:xfrm>
          <a:prstGeom prst="rect">
            <a:avLst/>
          </a:prstGeom>
          <a:noFill/>
          <a:ln/>
        </p:spPr>
        <p:txBody>
          <a:bodyPr wrap="square" lIns="0" tIns="0" rIns="0" bIns="0" rtlCol="0" anchor="t"/>
          <a:lstStyle/>
          <a:p>
            <a:pPr indent="0" marL="0">
              <a:buNone/>
            </a:pPr>
            <a:r>
              <a:rPr lang="en-US" sz="1400" dirty="0">
                <a:solidFill>
                  <a:schemeClr val="tx1"/>
                </a:solidFill>
              </a:rPr>
              <a:t>The flyby was broadcast live, and its data took 16 months to arrive. New Horizons passed Arrokoth in 2019 and still works more than 60 AU from the Sun, in the same NASA program as Juno and Dragonfly.</a:t>
            </a:r>
            <a:endParaRPr lang="en-US" sz="1400" dirty="0"/>
          </a:p>
        </p:txBody>
      </p:sp>
      <p:sp>
        <p:nvSpPr>
          <p:cNvPr id="22" name="Text 17"/>
          <p:cNvSpPr txBox="1"/>
          <p:nvPr/>
        </p:nvSpPr>
        <p:spPr>
          <a:xfrm>
            <a:off x="457200" y="4480560"/>
            <a:ext cx="7680960" cy="256032"/>
          </a:xfrm>
          <a:prstGeom prst="rect">
            <a:avLst/>
          </a:prstGeom>
          <a:noFill/>
          <a:ln/>
        </p:spPr>
        <p:txBody>
          <a:bodyPr wrap="square" lIns="0" tIns="0" rIns="0" bIns="0" rtlCol="0" anchor="t"/>
          <a:lstStyle/>
          <a:p>
            <a:pPr indent="0" marL="0">
              <a:buNone/>
            </a:pPr>
            <a:r>
              <a:rPr lang="en-US" sz="1100" dirty="0">
                <a:solidFill>
                  <a:schemeClr val="tx2"/>
                </a:solidFill>
              </a:rPr>
              <a:t>Sources: NASA New Horizons mission pages; Johns Hopkins APL (pluto.jhuapl.edu); PLTW Project 4.2.1.</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D6"/>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New Horizons">
  <a:themeElements>
    <a:clrScheme name="New Horizons">
      <a:dk1>
        <a:srgbClr val="F5F7FA"/>
      </a:dk1>
      <a:lt1>
        <a:srgbClr val="0B1026"/>
      </a:lt1>
      <a:dk2>
        <a:srgbClr val="A9B8D6"/>
      </a:dk2>
      <a:lt2>
        <a:srgbClr val="18234F"/>
      </a:lt2>
      <a:accent1>
        <a:srgbClr val="F2A65A"/>
      </a:accent1>
      <a:accent2>
        <a:srgbClr val="7FD4F5"/>
      </a:accent2>
      <a:accent3>
        <a:srgbClr val="E4572E"/>
      </a:accent3>
      <a:accent4>
        <a:srgbClr val="9B8CFF"/>
      </a:accent4>
      <a:accent5>
        <a:srgbClr val="6FCF97"/>
      </a:accent5>
      <a:accent6>
        <a:srgbClr val="F7D488"/>
      </a:accent6>
      <a:hlink>
        <a:srgbClr val="7FD4F5"/>
      </a:hlink>
      <a:folHlink>
        <a:srgbClr val="A9B8D6"/>
      </a:folHlink>
    </a:clrScheme>
    <a:fontScheme name="New Horizo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Horizons: First Mission to Pluto and the Kuiper Belt</dc:title>
  <dc:subject>PptxGenJS Presentation</dc:subject>
  <dc:creator>PptxGenJS</dc:creator>
  <cp:lastModifiedBy>PptxGenJS</cp:lastModifiedBy>
  <cp:revision>1</cp:revision>
  <dcterms:created xsi:type="dcterms:W3CDTF">2026-10-06T14:34:23Z</dcterms:created>
  <dcterms:modified xsi:type="dcterms:W3CDTF">2026-10-06T14:34:23Z</dcterms:modified>
</cp:coreProperties>
</file>